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61" r:id="rId3"/>
    <p:sldId id="257" r:id="rId4"/>
    <p:sldId id="258" r:id="rId5"/>
    <p:sldId id="259" r:id="rId6"/>
    <p:sldId id="262" r:id="rId7"/>
    <p:sldId id="269" r:id="rId8"/>
    <p:sldId id="264" r:id="rId9"/>
    <p:sldId id="265" r:id="rId10"/>
    <p:sldId id="266" r:id="rId11"/>
    <p:sldId id="267" r:id="rId12"/>
    <p:sldId id="268"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464C965-4DB0-34D4-9242-4E14FBC25A53}">
          <p14:sldIdLst>
            <p14:sldId id="256"/>
            <p14:sldId id="261"/>
            <p14:sldId id="257"/>
            <p14:sldId id="258"/>
            <p14:sldId id="259"/>
          </p14:sldIdLst>
        </p14:section>
        <p14:section name="Descriptive results" id="{7B967780-94A7-DC7F-6EFD-2404547D278E}">
          <p14:sldIdLst>
            <p14:sldId id="262"/>
            <p14:sldId id="269"/>
            <p14:sldId id="264"/>
          </p14:sldIdLst>
        </p14:section>
        <p14:section name="Model" id="{F9C23DFC-2959-A404-4703-B2DCCE79D230}">
          <p14:sldIdLst>
            <p14:sldId id="265"/>
            <p14:sldId id="266"/>
          </p14:sldIdLst>
        </p14:section>
        <p14:section name="Wrap-up" id="{5D229B48-D2C3-70E1-91AD-FFBDA1B5BF88}">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22"/>
    <p:restoredTop sz="97013"/>
  </p:normalViewPr>
  <p:slideViewPr>
    <p:cSldViewPr snapToGrid="0" snapToObjects="1">
      <p:cViewPr varScale="1">
        <p:scale>
          <a:sx n="167" d="100"/>
          <a:sy n="167" d="100"/>
        </p:scale>
        <p:origin x="176"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5506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Slide 1: Insurance Coverage and Fertility-Related Medical Help</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Today, I’m examining the relationship between insurance coverage and receiving medical help to become pregnant.</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 use data from the 2022–2023 National Survey of Family Growth.</a:t>
            </a:r>
          </a:p>
          <a:p>
            <a:r>
              <a:rPr lang="en-US" sz="1200" kern="1200" dirty="0">
                <a:solidFill>
                  <a:schemeClr val="tx1"/>
                </a:solidFill>
                <a:effectLst/>
                <a:latin typeface="+mn-lt"/>
                <a:ea typeface="+mn-ea"/>
                <a:cs typeface="+mn-cs"/>
              </a:rPr>
              <a:t>I’ll begin with the difference that motivated this analysis. Then I’ll explore possible explanations and show what happens when I account for those characteristics together.</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Slide 2: Help Receipt Differs Across Insurance Groups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starting point is this chart. It shows the weighted percentage of respondents who reported ever receiving medical help to become pregnant.</a:t>
            </a:r>
          </a:p>
          <a:p>
            <a:r>
              <a:rPr lang="en-US" sz="1200" kern="1200" dirty="0">
                <a:solidFill>
                  <a:schemeClr val="tx1"/>
                </a:solidFill>
                <a:effectLst/>
                <a:latin typeface="+mn-lt"/>
                <a:ea typeface="+mn-ea"/>
                <a:cs typeface="+mn-cs"/>
              </a:rPr>
              <a:t>Approximately </a:t>
            </a:r>
            <a:r>
              <a:rPr lang="en-US" sz="1200" b="1" kern="1200" dirty="0">
                <a:solidFill>
                  <a:schemeClr val="tx1"/>
                </a:solidFill>
                <a:effectLst/>
                <a:latin typeface="+mn-lt"/>
                <a:ea typeface="+mn-ea"/>
                <a:cs typeface="+mn-cs"/>
              </a:rPr>
              <a:t>12.9% of respondents with private coverage</a:t>
            </a:r>
            <a:r>
              <a:rPr lang="en-US" sz="1200" kern="1200" dirty="0">
                <a:solidFill>
                  <a:schemeClr val="tx1"/>
                </a:solidFill>
                <a:effectLst/>
                <a:latin typeface="+mn-lt"/>
                <a:ea typeface="+mn-ea"/>
                <a:cs typeface="+mn-cs"/>
              </a:rPr>
              <a:t> reported receiving help, compared with </a:t>
            </a:r>
            <a:r>
              <a:rPr lang="en-US" sz="1200" b="1" kern="1200" dirty="0">
                <a:solidFill>
                  <a:schemeClr val="tx1"/>
                </a:solidFill>
                <a:effectLst/>
                <a:latin typeface="+mn-lt"/>
                <a:ea typeface="+mn-ea"/>
                <a:cs typeface="+mn-cs"/>
              </a:rPr>
              <a:t>4.3% with Medicaid, CHIP, or state coverage</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That is a difference of approximately </a:t>
            </a:r>
            <a:r>
              <a:rPr lang="en-US" sz="1200" b="1" kern="1200" dirty="0">
                <a:solidFill>
                  <a:schemeClr val="tx1"/>
                </a:solidFill>
                <a:effectLst/>
                <a:latin typeface="+mn-lt"/>
                <a:ea typeface="+mn-ea"/>
                <a:cs typeface="+mn-cs"/>
              </a:rPr>
              <a:t>8.5 percentage points</a:t>
            </a:r>
            <a:r>
              <a:rPr lang="en-US" sz="1200" kern="1200" dirty="0">
                <a:solidFill>
                  <a:schemeClr val="tx1"/>
                </a:solidFill>
                <a:effectLst/>
                <a:latin typeface="+mn-lt"/>
                <a:ea typeface="+mn-ea"/>
                <a:cs typeface="+mn-cs"/>
              </a:rPr>
              <a:t>. Put more simply, about 13 out of every 100 privately insured respondents reported receiving help, compared with about 4 out of every 100 Medicaid respondents.</a:t>
            </a:r>
          </a:p>
          <a:p>
            <a:r>
              <a:rPr lang="en-US" sz="1200" kern="1200" dirty="0">
                <a:solidFill>
                  <a:schemeClr val="tx1"/>
                </a:solidFill>
                <a:effectLst/>
                <a:latin typeface="+mn-lt"/>
                <a:ea typeface="+mn-ea"/>
                <a:cs typeface="+mn-cs"/>
              </a:rPr>
              <a:t>The other two insurance groups also have lower reported rates than the private group.</a:t>
            </a:r>
          </a:p>
          <a:p>
            <a:r>
              <a:rPr lang="en-US" sz="1200" kern="1200" dirty="0">
                <a:solidFill>
                  <a:schemeClr val="tx1"/>
                </a:solidFill>
                <a:effectLst/>
                <a:latin typeface="+mn-lt"/>
                <a:ea typeface="+mn-ea"/>
                <a:cs typeface="+mn-cs"/>
              </a:rPr>
              <a:t>This is a clear descriptive pattern, but it leaves an important question: </a:t>
            </a:r>
            <a:r>
              <a:rPr lang="en-US" sz="1200" b="1" kern="1200" dirty="0">
                <a:solidFill>
                  <a:schemeClr val="tx1"/>
                </a:solidFill>
                <a:effectLst/>
                <a:latin typeface="+mn-lt"/>
                <a:ea typeface="+mn-ea"/>
                <a:cs typeface="+mn-cs"/>
              </a:rPr>
              <a:t>what could explain the difference?</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Insurance might be relevant, but the people in these groups may also differ in other ways. For example, one group may be older, have higher income, or have more education.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Slide 3: Research Question</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That brings us to my research question:</a:t>
            </a:r>
          </a:p>
          <a:p>
            <a:r>
              <a:rPr lang="en-US" sz="1200" b="1" kern="1200" dirty="0">
                <a:solidFill>
                  <a:schemeClr val="tx1"/>
                </a:solidFill>
                <a:effectLst/>
                <a:latin typeface="+mn-lt"/>
                <a:ea typeface="+mn-ea"/>
                <a:cs typeface="+mn-cs"/>
              </a:rPr>
              <a:t>Is current insurance type associated with ever receiving medical help to become pregnant, after accounting for age, income, and education?</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phrase “after accounting for” is important here.</a:t>
            </a:r>
          </a:p>
          <a:p>
            <a:r>
              <a:rPr lang="en-US" sz="1200" kern="1200" dirty="0">
                <a:solidFill>
                  <a:schemeClr val="tx1"/>
                </a:solidFill>
                <a:effectLst/>
                <a:latin typeface="+mn-lt"/>
                <a:ea typeface="+mn-ea"/>
                <a:cs typeface="+mn-cs"/>
              </a:rPr>
              <a:t>I want to know whether the insurance difference remains when the model also considers these other characteristics.</a:t>
            </a:r>
          </a:p>
          <a:p>
            <a:r>
              <a:rPr lang="en-US" sz="1200" kern="1200" dirty="0">
                <a:solidFill>
                  <a:schemeClr val="tx1"/>
                </a:solidFill>
                <a:effectLst/>
                <a:latin typeface="+mn-lt"/>
                <a:ea typeface="+mn-ea"/>
                <a:cs typeface="+mn-cs"/>
              </a:rPr>
              <a:t>Throughout the presentation, I’ll focus mainly on the private–Medicaid comparison because it gives us a clear thread to follow. However, the analysis includes all four insurance categories.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Slide 4: Why This Question Matters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This question matters because insurance coverage may be related to the affordability of medical care.</a:t>
            </a:r>
          </a:p>
          <a:p>
            <a:r>
              <a:rPr lang="en-US" sz="1200" kern="1200" dirty="0">
                <a:solidFill>
                  <a:schemeClr val="tx1"/>
                </a:solidFill>
                <a:effectLst/>
                <a:latin typeface="+mn-lt"/>
                <a:ea typeface="+mn-ea"/>
                <a:cs typeface="+mn-cs"/>
              </a:rPr>
              <a:t>However, insurance also connects with other characteristics. Income and education may be related both to the coverage someone has and to their experience of receiving care.</a:t>
            </a:r>
          </a:p>
          <a:p>
            <a:r>
              <a:rPr lang="en-US" sz="1200" kern="1200" dirty="0">
                <a:solidFill>
                  <a:schemeClr val="tx1"/>
                </a:solidFill>
                <a:effectLst/>
                <a:latin typeface="+mn-lt"/>
                <a:ea typeface="+mn-ea"/>
                <a:cs typeface="+mn-cs"/>
              </a:rPr>
              <a:t>That makes the initial difference interesting, but also difficult to interpret.</a:t>
            </a:r>
          </a:p>
          <a:p>
            <a:r>
              <a:rPr lang="en-US" sz="1200" kern="1200" dirty="0">
                <a:solidFill>
                  <a:schemeClr val="tx1"/>
                </a:solidFill>
                <a:effectLst/>
                <a:latin typeface="+mn-lt"/>
                <a:ea typeface="+mn-ea"/>
                <a:cs typeface="+mn-cs"/>
              </a:rPr>
              <a:t>The goal of this project is to investigate that difference more carefully: </a:t>
            </a:r>
            <a:r>
              <a:rPr lang="en-US" sz="1200" b="1" kern="1200" dirty="0">
                <a:solidFill>
                  <a:schemeClr val="tx1"/>
                </a:solidFill>
                <a:effectLst/>
                <a:latin typeface="+mn-lt"/>
                <a:ea typeface="+mn-ea"/>
                <a:cs typeface="+mn-cs"/>
              </a:rPr>
              <a:t>does the association remain once I account for selected characteristics?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One distinction will be important throughout. The outcome measures whether someone reported receiving help. It does not tell us whether they needed help, wanted help, or experienced difficulty obtaining it.</a:t>
            </a:r>
          </a:p>
          <a:p>
            <a:r>
              <a:rPr lang="en-US" sz="1200" kern="1200" dirty="0">
                <a:solidFill>
                  <a:schemeClr val="tx1"/>
                </a:solidFill>
                <a:effectLst/>
                <a:latin typeface="+mn-lt"/>
                <a:ea typeface="+mn-ea"/>
                <a:cs typeface="+mn-cs"/>
              </a:rPr>
              <a:t>These findings may interest reproductive-health researchers, healthcare providers, and policymakers examining differences in fertility-related care receipt. They can help identify patterns that deserve further investigation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Slide 5: Data and Measures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 use the NSFG 2022–2023 female respondent public-use file.</a:t>
            </a:r>
          </a:p>
          <a:p>
            <a:r>
              <a:rPr lang="en-US" sz="1200" kern="1200" dirty="0">
                <a:solidFill>
                  <a:schemeClr val="tx1"/>
                </a:solidFill>
                <a:effectLst/>
                <a:latin typeface="+mn-lt"/>
                <a:ea typeface="+mn-ea"/>
                <a:cs typeface="+mn-cs"/>
              </a:rPr>
              <a:t>The original file contains </a:t>
            </a:r>
            <a:r>
              <a:rPr lang="en-US" sz="1200" b="1" kern="1200" dirty="0">
                <a:solidFill>
                  <a:schemeClr val="tx1"/>
                </a:solidFill>
                <a:effectLst/>
                <a:latin typeface="+mn-lt"/>
                <a:ea typeface="+mn-ea"/>
                <a:cs typeface="+mn-cs"/>
              </a:rPr>
              <a:t>5,586 respondents</a:t>
            </a:r>
            <a:r>
              <a:rPr lang="en-US" sz="1200" kern="1200" dirty="0">
                <a:solidFill>
                  <a:schemeClr val="tx1"/>
                </a:solidFill>
                <a:effectLst/>
                <a:latin typeface="+mn-lt"/>
                <a:ea typeface="+mn-ea"/>
                <a:cs typeface="+mn-cs"/>
              </a:rPr>
              <a:t>, and the analysis includes </a:t>
            </a:r>
            <a:r>
              <a:rPr lang="en-US" sz="1200" b="1" kern="1200" dirty="0">
                <a:solidFill>
                  <a:schemeClr val="tx1"/>
                </a:solidFill>
                <a:effectLst/>
                <a:latin typeface="+mn-lt"/>
                <a:ea typeface="+mn-ea"/>
                <a:cs typeface="+mn-cs"/>
              </a:rPr>
              <a:t>5,195 respondents</a:t>
            </a:r>
            <a:r>
              <a:rPr lang="en-US" sz="1200" kern="1200" dirty="0">
                <a:solidFill>
                  <a:schemeClr val="tx1"/>
                </a:solidFill>
                <a:effectLst/>
                <a:latin typeface="+mn-lt"/>
                <a:ea typeface="+mn-ea"/>
                <a:cs typeface="+mn-cs"/>
              </a:rPr>
              <a:t> with valid responses for the variables used. Each observation represents one respondent. I excluded 391 respondents whose outcome response was inapplicable, refused, or ‘don’t know,’ because those responses cannot be treated as ‘no.’</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outcome is whether the respondent </a:t>
            </a:r>
            <a:r>
              <a:rPr lang="en-US" sz="1200" b="1" kern="1200" dirty="0">
                <a:solidFill>
                  <a:schemeClr val="tx1"/>
                </a:solidFill>
                <a:effectLst/>
                <a:latin typeface="+mn-lt"/>
                <a:ea typeface="+mn-ea"/>
                <a:cs typeface="+mn-cs"/>
              </a:rPr>
              <a:t>ever received medical help to become pregnant</a:t>
            </a:r>
            <a:r>
              <a:rPr lang="en-US" sz="1200" kern="1200" dirty="0">
                <a:solidFill>
                  <a:schemeClr val="tx1"/>
                </a:solidFill>
                <a:effectLst/>
                <a:latin typeface="+mn-lt"/>
                <a:ea typeface="+mn-ea"/>
                <a:cs typeface="+mn-cs"/>
              </a:rPr>
              <a:t>. This is a yes-or-no measure of lifetime experience.</a:t>
            </a:r>
          </a:p>
          <a:p>
            <a:r>
              <a:rPr lang="en-US" sz="1200" kern="1200" dirty="0">
                <a:solidFill>
                  <a:schemeClr val="tx1"/>
                </a:solidFill>
                <a:effectLst/>
                <a:latin typeface="+mn-lt"/>
                <a:ea typeface="+mn-ea"/>
                <a:cs typeface="+mn-cs"/>
              </a:rPr>
              <a:t>The main predictor is </a:t>
            </a:r>
            <a:r>
              <a:rPr lang="en-US" sz="1200" b="1" kern="1200" dirty="0">
                <a:solidFill>
                  <a:schemeClr val="tx1"/>
                </a:solidFill>
                <a:effectLst/>
                <a:latin typeface="+mn-lt"/>
                <a:ea typeface="+mn-ea"/>
                <a:cs typeface="+mn-cs"/>
              </a:rPr>
              <a:t>current insurance coverage</a:t>
            </a:r>
            <a:r>
              <a:rPr lang="en-US" sz="1200" kern="1200" dirty="0">
                <a:solidFill>
                  <a:schemeClr val="tx1"/>
                </a:solidFill>
                <a:effectLst/>
                <a:latin typeface="+mn-lt"/>
                <a:ea typeface="+mn-ea"/>
                <a:cs typeface="+mn-cs"/>
              </a:rPr>
              <a:t>, divided into four categories. </a:t>
            </a:r>
          </a:p>
          <a:p>
            <a:r>
              <a:rPr lang="en-US" sz="1200" kern="1200" dirty="0">
                <a:solidFill>
                  <a:schemeClr val="tx1"/>
                </a:solidFill>
                <a:effectLst/>
                <a:latin typeface="+mn-lt"/>
                <a:ea typeface="+mn-ea"/>
                <a:cs typeface="+mn-cs"/>
              </a:rPr>
              <a:t>The model also includes age, income relative to the poverty threshold, and education.</a:t>
            </a:r>
          </a:p>
          <a:p>
            <a:r>
              <a:rPr lang="en-US" sz="1200" kern="1200" dirty="0">
                <a:solidFill>
                  <a:schemeClr val="tx1"/>
                </a:solidFill>
                <a:effectLst/>
                <a:latin typeface="+mn-lt"/>
                <a:ea typeface="+mn-ea"/>
                <a:cs typeface="+mn-cs"/>
              </a:rPr>
              <a:t>I use survey weights to account for unequal representation in the sample. For the statistical model, I also account for the survey’s strata and clusters when calculating uncertainty.</a:t>
            </a:r>
          </a:p>
          <a:p>
            <a:r>
              <a:rPr lang="en-US" sz="1200" kern="1200" dirty="0">
                <a:solidFill>
                  <a:schemeClr val="tx1"/>
                </a:solidFill>
                <a:effectLst/>
                <a:latin typeface="+mn-lt"/>
                <a:ea typeface="+mn-ea"/>
                <a:cs typeface="+mn-cs"/>
              </a:rPr>
              <a:t>There is an important timing limitation: </a:t>
            </a:r>
            <a:r>
              <a:rPr lang="en-US" sz="1200" b="1" kern="1200" dirty="0">
                <a:solidFill>
                  <a:schemeClr val="tx1"/>
                </a:solidFill>
                <a:effectLst/>
                <a:latin typeface="+mn-lt"/>
                <a:ea typeface="+mn-ea"/>
                <a:cs typeface="+mn-cs"/>
              </a:rPr>
              <a:t>current insurance may differ from the insurance someone had when they received help</a:t>
            </a:r>
            <a:r>
              <a:rPr lang="en-US" sz="1200" kern="1200" dirty="0">
                <a:solidFill>
                  <a:schemeClr val="tx1"/>
                </a:solidFill>
                <a:effectLst/>
                <a:latin typeface="+mn-lt"/>
                <a:ea typeface="+mn-ea"/>
                <a:cs typeface="+mn-cs"/>
              </a:rPr>
              <a:t>. I’ll return to that when discussing the conclusions.</a:t>
            </a:r>
          </a:p>
          <a:p>
            <a:r>
              <a:rPr lang="en-US" sz="1200" kern="1200" dirty="0">
                <a:solidFill>
                  <a:schemeClr val="tx1"/>
                </a:solidFill>
                <a:effectLst/>
                <a:latin typeface="+mn-lt"/>
                <a:ea typeface="+mn-ea"/>
                <a:cs typeface="+mn-cs"/>
              </a:rPr>
              <a:t>CHIP: Children's Health Insurance Program</a:t>
            </a:r>
          </a:p>
          <a:p>
            <a:r>
              <a:rPr lang="en-US" sz="1200" kern="1200" dirty="0">
                <a:solidFill>
                  <a:schemeClr val="tx1"/>
                </a:solidFill>
                <a:effectLst/>
                <a:latin typeface="+mn-lt"/>
                <a:ea typeface="+mn-ea"/>
                <a:cs typeface="+mn-cs"/>
              </a:rPr>
              <a:t>IHS: Indian Health Service </a:t>
            </a:r>
          </a:p>
          <a:p>
            <a:r>
              <a:rPr lang="en-US" sz="1200" kern="1200" dirty="0">
                <a:solidFill>
                  <a:schemeClr val="tx1"/>
                </a:solidFill>
                <a:effectLst/>
                <a:latin typeface="+mn-lt"/>
                <a:ea typeface="+mn-ea"/>
                <a:cs typeface="+mn-cs"/>
              </a:rPr>
              <a:t>400% of the Federal Poverty Level (FPL) means a household's annual income is four times the base poverty guideline set for their household size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Slide 6: Could Differences in Age, Income, and Education Help Explain the Gap?</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Earlier, we saw that privately insured respondents reported receiving help more often than Medicaid respondents.</a:t>
            </a:r>
          </a:p>
          <a:p>
            <a:r>
              <a:rPr lang="en-US" sz="1200" kern="1200" dirty="0">
                <a:solidFill>
                  <a:schemeClr val="tx1"/>
                </a:solidFill>
                <a:effectLst/>
                <a:latin typeface="+mn-lt"/>
                <a:ea typeface="+mn-ea"/>
                <a:cs typeface="+mn-cs"/>
              </a:rPr>
              <a:t>But insurance is not the only difference between these groups.</a:t>
            </a:r>
          </a:p>
          <a:p>
            <a:r>
              <a:rPr lang="en-US" sz="1200" kern="1200" dirty="0">
                <a:solidFill>
                  <a:schemeClr val="tx1"/>
                </a:solidFill>
                <a:effectLst/>
                <a:latin typeface="+mn-lt"/>
                <a:ea typeface="+mn-ea"/>
                <a:cs typeface="+mn-cs"/>
              </a:rPr>
              <a:t>Privately insured respondents are older on average: </a:t>
            </a:r>
            <a:r>
              <a:rPr lang="en-US" sz="1200" b="1" kern="1200" dirty="0">
                <a:solidFill>
                  <a:schemeClr val="tx1"/>
                </a:solidFill>
                <a:effectLst/>
                <a:latin typeface="+mn-lt"/>
                <a:ea typeface="+mn-ea"/>
                <a:cs typeface="+mn-cs"/>
              </a:rPr>
              <a:t>34.1 years, compared with 30.9 years</a:t>
            </a:r>
            <a:r>
              <a:rPr lang="en-US" sz="1200" kern="1200" dirty="0">
                <a:solidFill>
                  <a:schemeClr val="tx1"/>
                </a:solidFill>
                <a:effectLst/>
                <a:latin typeface="+mn-lt"/>
                <a:ea typeface="+mn-ea"/>
                <a:cs typeface="+mn-cs"/>
              </a:rPr>
              <a:t> for Medicaid respondents. They also have higher income and are more likely to have a bachelor’s degree.</a:t>
            </a:r>
          </a:p>
          <a:p>
            <a:r>
              <a:rPr lang="en-US" sz="1200" kern="1200" dirty="0">
                <a:solidFill>
                  <a:schemeClr val="tx1"/>
                </a:solidFill>
                <a:effectLst/>
                <a:latin typeface="+mn-lt"/>
                <a:ea typeface="+mn-ea"/>
                <a:cs typeface="+mn-cs"/>
              </a:rPr>
              <a:t>The income numbers need some explanation. </a:t>
            </a:r>
            <a:r>
              <a:rPr lang="en-US" sz="1200" b="1" kern="1200" dirty="0">
                <a:solidFill>
                  <a:schemeClr val="tx1"/>
                </a:solidFill>
                <a:effectLst/>
                <a:latin typeface="+mn-lt"/>
                <a:ea typeface="+mn-ea"/>
                <a:cs typeface="+mn-cs"/>
              </a:rPr>
              <a:t>100% of the poverty threshold means income at that threshold.</a:t>
            </a:r>
            <a:r>
              <a:rPr lang="en-US" sz="1200" kern="1200" dirty="0">
                <a:solidFill>
                  <a:schemeClr val="tx1"/>
                </a:solidFill>
                <a:effectLst/>
                <a:latin typeface="+mn-lt"/>
                <a:ea typeface="+mn-ea"/>
                <a:cs typeface="+mn-cs"/>
              </a:rPr>
              <a:t> The private group’s average is about </a:t>
            </a:r>
            <a:r>
              <a:rPr lang="en-US" sz="1200" b="1" kern="1200" dirty="0">
                <a:solidFill>
                  <a:schemeClr val="tx1"/>
                </a:solidFill>
                <a:effectLst/>
                <a:latin typeface="+mn-lt"/>
                <a:ea typeface="+mn-ea"/>
                <a:cs typeface="+mn-cs"/>
              </a:rPr>
              <a:t>4.1 times the threshold</a:t>
            </a:r>
            <a:r>
              <a:rPr lang="en-US" sz="1200" kern="1200" dirty="0">
                <a:solidFill>
                  <a:schemeClr val="tx1"/>
                </a:solidFill>
                <a:effectLst/>
                <a:latin typeface="+mn-lt"/>
                <a:ea typeface="+mn-ea"/>
                <a:cs typeface="+mn-cs"/>
              </a:rPr>
              <a:t>, compared with about </a:t>
            </a:r>
            <a:r>
              <a:rPr lang="en-US" sz="1200" b="1" kern="1200" dirty="0">
                <a:solidFill>
                  <a:schemeClr val="tx1"/>
                </a:solidFill>
                <a:effectLst/>
                <a:latin typeface="+mn-lt"/>
                <a:ea typeface="+mn-ea"/>
                <a:cs typeface="+mn-cs"/>
              </a:rPr>
              <a:t>1.7 times</a:t>
            </a:r>
            <a:r>
              <a:rPr lang="en-US" sz="1200" kern="1200" dirty="0">
                <a:solidFill>
                  <a:schemeClr val="tx1"/>
                </a:solidFill>
                <a:effectLst/>
                <a:latin typeface="+mn-lt"/>
                <a:ea typeface="+mn-ea"/>
                <a:cs typeface="+mn-cs"/>
              </a:rPr>
              <a:t> for the Medicaid group.</a:t>
            </a:r>
          </a:p>
          <a:p>
            <a:r>
              <a:rPr lang="en-US" sz="1200" kern="1200" dirty="0">
                <a:solidFill>
                  <a:schemeClr val="tx1"/>
                </a:solidFill>
                <a:effectLst/>
                <a:latin typeface="+mn-lt"/>
                <a:ea typeface="+mn-ea"/>
                <a:cs typeface="+mn-cs"/>
              </a:rPr>
              <a:t>For education, about </a:t>
            </a:r>
            <a:r>
              <a:rPr lang="en-US" sz="1200" b="1" kern="1200" dirty="0">
                <a:solidFill>
                  <a:schemeClr val="tx1"/>
                </a:solidFill>
                <a:effectLst/>
                <a:latin typeface="+mn-lt"/>
                <a:ea typeface="+mn-ea"/>
                <a:cs typeface="+mn-cs"/>
              </a:rPr>
              <a:t>54% of the private group has a bachelor’s degree or higher</a:t>
            </a:r>
            <a:r>
              <a:rPr lang="en-US" sz="1200" kern="1200" dirty="0">
                <a:solidFill>
                  <a:schemeClr val="tx1"/>
                </a:solidFill>
                <a:effectLst/>
                <a:latin typeface="+mn-lt"/>
                <a:ea typeface="+mn-ea"/>
                <a:cs typeface="+mn-cs"/>
              </a:rPr>
              <a:t>, compared with about </a:t>
            </a:r>
            <a:r>
              <a:rPr lang="en-US" sz="1200" b="1" kern="1200" dirty="0">
                <a:solidFill>
                  <a:schemeClr val="tx1"/>
                </a:solidFill>
                <a:effectLst/>
                <a:latin typeface="+mn-lt"/>
                <a:ea typeface="+mn-ea"/>
                <a:cs typeface="+mn-cs"/>
              </a:rPr>
              <a:t>12% of the Medicaid group</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Why does this matter? If age, income, or education also relates to receiving help, then part of the difference we first saw could be related to these characteristics.</a:t>
            </a:r>
          </a:p>
          <a:p>
            <a:r>
              <a:rPr lang="en-US" sz="1200" kern="1200" dirty="0">
                <a:solidFill>
                  <a:schemeClr val="tx1"/>
                </a:solidFill>
                <a:effectLst/>
                <a:latin typeface="+mn-lt"/>
                <a:ea typeface="+mn-ea"/>
                <a:cs typeface="+mn-cs"/>
              </a:rPr>
              <a:t>So before interpreting the insurance association, we need to consider these differences.</a:t>
            </a:r>
          </a:p>
          <a:p>
            <a:r>
              <a:rPr lang="en-US" sz="1200" kern="1200" dirty="0">
                <a:solidFill>
                  <a:schemeClr val="tx1"/>
                </a:solidFill>
                <a:effectLst/>
                <a:latin typeface="+mn-lt"/>
                <a:ea typeface="+mn-ea"/>
                <a:cs typeface="+mn-cs"/>
              </a:rPr>
              <a:t>The next slide checks whether respondents of different ages, income levels, and education levels report different rates of receiving help.</a:t>
            </a:r>
          </a:p>
          <a:p>
            <a:r>
              <a:rPr lang="en-US" sz="1200" b="1" kern="1200" dirty="0">
                <a:solidFill>
                  <a:schemeClr val="tx1"/>
                </a:solidFill>
                <a:effectLst/>
                <a:latin typeface="+mn-lt"/>
                <a:ea typeface="+mn-ea"/>
                <a:cs typeface="+mn-cs"/>
              </a:rPr>
              <a:t>The takeaway:</a:t>
            </a:r>
            <a:r>
              <a:rPr lang="en-US" sz="1200" kern="1200" dirty="0">
                <a:solidFill>
                  <a:schemeClr val="tx1"/>
                </a:solidFill>
                <a:effectLst/>
                <a:latin typeface="+mn-lt"/>
                <a:ea typeface="+mn-ea"/>
                <a:cs typeface="+mn-cs"/>
              </a:rPr>
              <a:t> The initial chart compares groups that differ in several ways. That is why we later include age, income, and education in the model.</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7D81DA-1819-EE97-45DC-AEE94E6156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5BF436-01CB-CF27-0F5A-F437B55A3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3B60E9-D1B6-9BF6-CD5D-05E3ED79E2D9}"/>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Slide 7: Help Receipt Also Varies with Age, Income, and Education</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These charts show that help receipt varies with each of the characteristics we just discussed.</a:t>
            </a:r>
          </a:p>
          <a:p>
            <a:r>
              <a:rPr lang="en-US" sz="1200" kern="1200" dirty="0">
                <a:solidFill>
                  <a:schemeClr val="tx1"/>
                </a:solidFill>
                <a:effectLst/>
                <a:latin typeface="+mn-lt"/>
                <a:ea typeface="+mn-ea"/>
                <a:cs typeface="+mn-cs"/>
              </a:rPr>
              <a:t>For age, the rate is approximately </a:t>
            </a:r>
            <a:r>
              <a:rPr lang="en-US" sz="1200" b="1" kern="1200" dirty="0">
                <a:solidFill>
                  <a:schemeClr val="tx1"/>
                </a:solidFill>
                <a:effectLst/>
                <a:latin typeface="+mn-lt"/>
                <a:ea typeface="+mn-ea"/>
                <a:cs typeface="+mn-cs"/>
              </a:rPr>
              <a:t>1.5% among respondents aged 15–24</a:t>
            </a:r>
            <a:r>
              <a:rPr lang="en-US" sz="1200" kern="1200" dirty="0">
                <a:solidFill>
                  <a:schemeClr val="tx1"/>
                </a:solidFill>
                <a:effectLst/>
                <a:latin typeface="+mn-lt"/>
                <a:ea typeface="+mn-ea"/>
                <a:cs typeface="+mn-cs"/>
              </a:rPr>
              <a:t>, compared with </a:t>
            </a:r>
            <a:r>
              <a:rPr lang="en-US" sz="1200" b="1" kern="1200" dirty="0">
                <a:solidFill>
                  <a:schemeClr val="tx1"/>
                </a:solidFill>
                <a:effectLst/>
                <a:latin typeface="+mn-lt"/>
                <a:ea typeface="+mn-ea"/>
                <a:cs typeface="+mn-cs"/>
              </a:rPr>
              <a:t>15.5% among those aged 35–44</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Age is especially relevant because the outcome asks about lifetime experience. Older respondents have had more time to receive help.</a:t>
            </a:r>
          </a:p>
          <a:p>
            <a:r>
              <a:rPr lang="en-US" sz="1200" kern="1200" dirty="0">
                <a:solidFill>
                  <a:schemeClr val="tx1"/>
                </a:solidFill>
                <a:effectLst/>
                <a:latin typeface="+mn-lt"/>
                <a:ea typeface="+mn-ea"/>
                <a:cs typeface="+mn-cs"/>
              </a:rPr>
              <a:t>For income, approximately </a:t>
            </a:r>
            <a:r>
              <a:rPr lang="en-US" sz="1200" b="1" kern="1200" dirty="0">
                <a:solidFill>
                  <a:schemeClr val="tx1"/>
                </a:solidFill>
                <a:effectLst/>
                <a:latin typeface="+mn-lt"/>
                <a:ea typeface="+mn-ea"/>
                <a:cs typeface="+mn-cs"/>
              </a:rPr>
              <a:t>4.5% of respondents at or below the poverty threshold</a:t>
            </a:r>
            <a:r>
              <a:rPr lang="en-US" sz="1200" kern="1200" dirty="0">
                <a:solidFill>
                  <a:schemeClr val="tx1"/>
                </a:solidFill>
                <a:effectLst/>
                <a:latin typeface="+mn-lt"/>
                <a:ea typeface="+mn-ea"/>
                <a:cs typeface="+mn-cs"/>
              </a:rPr>
              <a:t> report receiving help, compared with </a:t>
            </a:r>
            <a:r>
              <a:rPr lang="en-US" sz="1200" b="1" kern="1200" dirty="0">
                <a:solidFill>
                  <a:schemeClr val="tx1"/>
                </a:solidFill>
                <a:effectLst/>
                <a:latin typeface="+mn-lt"/>
                <a:ea typeface="+mn-ea"/>
                <a:cs typeface="+mn-cs"/>
              </a:rPr>
              <a:t>13.9% above 400% of the threshold</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For education, the rate is approximately </a:t>
            </a:r>
            <a:r>
              <a:rPr lang="en-US" sz="1200" b="1" kern="1200" dirty="0">
                <a:solidFill>
                  <a:schemeClr val="tx1"/>
                </a:solidFill>
                <a:effectLst/>
                <a:latin typeface="+mn-lt"/>
                <a:ea typeface="+mn-ea"/>
                <a:cs typeface="+mn-cs"/>
              </a:rPr>
              <a:t>4.3% among respondents with less than high school education</a:t>
            </a:r>
            <a:r>
              <a:rPr lang="en-US" sz="1200" kern="1200" dirty="0">
                <a:solidFill>
                  <a:schemeClr val="tx1"/>
                </a:solidFill>
                <a:effectLst/>
                <a:latin typeface="+mn-lt"/>
                <a:ea typeface="+mn-ea"/>
                <a:cs typeface="+mn-cs"/>
              </a:rPr>
              <a:t>, compared with </a:t>
            </a:r>
            <a:r>
              <a:rPr lang="en-US" sz="1200" b="1" kern="1200" dirty="0">
                <a:solidFill>
                  <a:schemeClr val="tx1"/>
                </a:solidFill>
                <a:effectLst/>
                <a:latin typeface="+mn-lt"/>
                <a:ea typeface="+mn-ea"/>
                <a:cs typeface="+mn-cs"/>
              </a:rPr>
              <a:t>15.1% among those with a bachelor’s degree or higher</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Together, these charts make the alternative explanation more plausible. Private respondents tend to have characteristics that also correspond with higher reported help receipt.</a:t>
            </a:r>
          </a:p>
          <a:p>
            <a:r>
              <a:rPr lang="en-US" sz="1200" kern="1200" dirty="0">
                <a:solidFill>
                  <a:schemeClr val="tx1"/>
                </a:solidFill>
                <a:effectLst/>
                <a:latin typeface="+mn-lt"/>
                <a:ea typeface="+mn-ea"/>
                <a:cs typeface="+mn-cs"/>
              </a:rPr>
              <a:t>These are still descriptive comparisons. To investigate further, I first look within age groups, then account for all three characteristics together.</a:t>
            </a:r>
          </a:p>
          <a:p>
            <a:endParaRPr lang="en-US" dirty="0"/>
          </a:p>
        </p:txBody>
      </p:sp>
      <p:sp>
        <p:nvSpPr>
          <p:cNvPr id="4" name="Slide Number Placeholder 3">
            <a:extLst>
              <a:ext uri="{FF2B5EF4-FFF2-40B4-BE49-F238E27FC236}">
                <a16:creationId xmlns:a16="http://schemas.microsoft.com/office/drawing/2014/main" id="{F661D4B0-583A-07E2-F8BE-11A9A658308B}"/>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721353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Slide 8: The Insurance Pattern Within Age Groups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This heatmap asks a narrower question: </a:t>
            </a:r>
            <a:r>
              <a:rPr lang="en-US" sz="1200" b="1" kern="1200" dirty="0">
                <a:solidFill>
                  <a:schemeClr val="tx1"/>
                </a:solidFill>
                <a:effectLst/>
                <a:latin typeface="+mn-lt"/>
                <a:ea typeface="+mn-ea"/>
                <a:cs typeface="+mn-cs"/>
              </a:rPr>
              <a:t>does the insurance pattern remain when we compare respondents within the same broad age group?</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Rows represent insurance categories, and columns represent age groups. Darker cells indicate higher reported help-receipt rates.</a:t>
            </a:r>
          </a:p>
          <a:p>
            <a:r>
              <a:rPr lang="en-US" sz="1200" kern="1200" dirty="0">
                <a:solidFill>
                  <a:schemeClr val="tx1"/>
                </a:solidFill>
                <a:effectLst/>
                <a:latin typeface="+mn-lt"/>
                <a:ea typeface="+mn-ea"/>
                <a:cs typeface="+mn-cs"/>
              </a:rPr>
              <a:t>Focus on the private and Medicaid rows.</a:t>
            </a:r>
          </a:p>
          <a:p>
            <a:r>
              <a:rPr lang="en-US" sz="1200" kern="1200" dirty="0">
                <a:solidFill>
                  <a:schemeClr val="tx1"/>
                </a:solidFill>
                <a:effectLst/>
                <a:latin typeface="+mn-lt"/>
                <a:ea typeface="+mn-ea"/>
                <a:cs typeface="+mn-cs"/>
              </a:rPr>
              <a:t>Among respondents aged </a:t>
            </a:r>
            <a:r>
              <a:rPr lang="en-US" sz="1200" b="1" kern="1200" dirty="0">
                <a:solidFill>
                  <a:schemeClr val="tx1"/>
                </a:solidFill>
                <a:effectLst/>
                <a:latin typeface="+mn-lt"/>
                <a:ea typeface="+mn-ea"/>
                <a:cs typeface="+mn-cs"/>
              </a:rPr>
              <a:t>25–34</a:t>
            </a:r>
            <a:r>
              <a:rPr lang="en-US" sz="1200" kern="1200" dirty="0">
                <a:solidFill>
                  <a:schemeClr val="tx1"/>
                </a:solidFill>
                <a:effectLst/>
                <a:latin typeface="+mn-lt"/>
                <a:ea typeface="+mn-ea"/>
                <a:cs typeface="+mn-cs"/>
              </a:rPr>
              <a:t>, the rates are approximately </a:t>
            </a:r>
            <a:r>
              <a:rPr lang="en-US" sz="1200" b="1" kern="1200" dirty="0">
                <a:solidFill>
                  <a:schemeClr val="tx1"/>
                </a:solidFill>
                <a:effectLst/>
                <a:latin typeface="+mn-lt"/>
                <a:ea typeface="+mn-ea"/>
                <a:cs typeface="+mn-cs"/>
              </a:rPr>
              <a:t>11.1% for private coverage and 2.8% for Medicaid</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Among those aged </a:t>
            </a:r>
            <a:r>
              <a:rPr lang="en-US" sz="1200" b="1" kern="1200" dirty="0">
                <a:solidFill>
                  <a:schemeClr val="tx1"/>
                </a:solidFill>
                <a:effectLst/>
                <a:latin typeface="+mn-lt"/>
                <a:ea typeface="+mn-ea"/>
                <a:cs typeface="+mn-cs"/>
              </a:rPr>
              <a:t>35–44</a:t>
            </a:r>
            <a:r>
              <a:rPr lang="en-US" sz="1200" kern="1200" dirty="0">
                <a:solidFill>
                  <a:schemeClr val="tx1"/>
                </a:solidFill>
                <a:effectLst/>
                <a:latin typeface="+mn-lt"/>
                <a:ea typeface="+mn-ea"/>
                <a:cs typeface="+mn-cs"/>
              </a:rPr>
              <a:t>, they are approximately </a:t>
            </a:r>
            <a:r>
              <a:rPr lang="en-US" sz="1200" b="1" kern="1200" dirty="0">
                <a:solidFill>
                  <a:schemeClr val="tx1"/>
                </a:solidFill>
                <a:effectLst/>
                <a:latin typeface="+mn-lt"/>
                <a:ea typeface="+mn-ea"/>
                <a:cs typeface="+mn-cs"/>
              </a:rPr>
              <a:t>18.4% and 6.3%</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The private group also has a higher rate among respondents aged 45–50.</a:t>
            </a:r>
          </a:p>
          <a:p>
            <a:r>
              <a:rPr lang="en-US" sz="1200" kern="1200" dirty="0">
                <a:solidFill>
                  <a:schemeClr val="tx1"/>
                </a:solidFill>
                <a:effectLst/>
                <a:latin typeface="+mn-lt"/>
                <a:ea typeface="+mn-ea"/>
                <a:cs typeface="+mn-cs"/>
              </a:rPr>
              <a:t>There is an exception in the youngest group, where Medicaid has the higher rate. Some cells also contain small samples.</a:t>
            </a:r>
          </a:p>
          <a:p>
            <a:r>
              <a:rPr lang="en-US" sz="1200" kern="1200" dirty="0">
                <a:solidFill>
                  <a:schemeClr val="tx1"/>
                </a:solidFill>
                <a:effectLst/>
                <a:latin typeface="+mn-lt"/>
                <a:ea typeface="+mn-ea"/>
                <a:cs typeface="+mn-cs"/>
              </a:rPr>
              <a:t>The takeaway is that the private–Medicaid pattern remains within the older age groups. This suggests that broad age composition alone may not account for the entire pattern.</a:t>
            </a:r>
          </a:p>
          <a:p>
            <a:r>
              <a:rPr lang="en-US" sz="1200" kern="1200" dirty="0">
                <a:solidFill>
                  <a:schemeClr val="tx1"/>
                </a:solidFill>
                <a:effectLst/>
                <a:latin typeface="+mn-lt"/>
                <a:ea typeface="+mn-ea"/>
                <a:cs typeface="+mn-cs"/>
              </a:rPr>
              <a:t>However, this comparison does not account for income or education. That is why I use a model next.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Slide 9: Statistical Approach</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model considers insurance, age, income, and education together.</a:t>
            </a:r>
          </a:p>
          <a:p>
            <a:r>
              <a:rPr lang="en-US" sz="1200" kern="1200" dirty="0">
                <a:solidFill>
                  <a:schemeClr val="tx1"/>
                </a:solidFill>
                <a:effectLst/>
                <a:latin typeface="+mn-lt"/>
                <a:ea typeface="+mn-ea"/>
                <a:cs typeface="+mn-cs"/>
              </a:rPr>
              <a:t>I use </a:t>
            </a:r>
            <a:r>
              <a:rPr lang="en-US" sz="1200" b="1" kern="1200" dirty="0">
                <a:solidFill>
                  <a:schemeClr val="tx1"/>
                </a:solidFill>
                <a:effectLst/>
                <a:latin typeface="+mn-lt"/>
                <a:ea typeface="+mn-ea"/>
                <a:cs typeface="+mn-cs"/>
              </a:rPr>
              <a:t>survey-weighted logistic regression</a:t>
            </a:r>
            <a:r>
              <a:rPr lang="en-US" sz="1200" kern="1200" dirty="0">
                <a:solidFill>
                  <a:schemeClr val="tx1"/>
                </a:solidFill>
                <a:effectLst/>
                <a:latin typeface="+mn-lt"/>
                <a:ea typeface="+mn-ea"/>
                <a:cs typeface="+mn-cs"/>
              </a:rPr>
              <a:t> because the outcome is yes or no: whether someone reported ever receiving medical help to become pregnant.</a:t>
            </a:r>
          </a:p>
          <a:p>
            <a:r>
              <a:rPr lang="en-US" sz="1200" kern="1200" dirty="0">
                <a:solidFill>
                  <a:schemeClr val="tx1"/>
                </a:solidFill>
                <a:effectLst/>
                <a:latin typeface="+mn-lt"/>
                <a:ea typeface="+mn-ea"/>
                <a:cs typeface="+mn-cs"/>
              </a:rPr>
              <a:t>Private coverage is the reference group. The model compares each other insurance category with that group while accounting for the selected characteristics.</a:t>
            </a:r>
          </a:p>
          <a:p>
            <a:r>
              <a:rPr lang="en-US" sz="1200" kern="1200" dirty="0">
                <a:solidFill>
                  <a:schemeClr val="tx1"/>
                </a:solidFill>
                <a:effectLst/>
                <a:latin typeface="+mn-lt"/>
                <a:ea typeface="+mn-ea"/>
                <a:cs typeface="+mn-cs"/>
              </a:rPr>
              <a:t>The results use a measure called an </a:t>
            </a:r>
            <a:r>
              <a:rPr lang="en-US" sz="1200" b="1" kern="1200" dirty="0">
                <a:solidFill>
                  <a:schemeClr val="tx1"/>
                </a:solidFill>
                <a:effectLst/>
                <a:latin typeface="+mn-lt"/>
                <a:ea typeface="+mn-ea"/>
                <a:cs typeface="+mn-cs"/>
              </a:rPr>
              <a:t>odds ratio</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For reading the next chart, the main number to remember is </a:t>
            </a:r>
            <a:r>
              <a:rPr lang="en-US" sz="1200" b="1" kern="1200" dirty="0">
                <a:solidFill>
                  <a:schemeClr val="tx1"/>
                </a:solidFill>
                <a:effectLst/>
                <a:latin typeface="+mn-lt"/>
                <a:ea typeface="+mn-ea"/>
                <a:cs typeface="+mn-cs"/>
              </a:rPr>
              <a:t>one</a:t>
            </a:r>
            <a:r>
              <a:rPr lang="en-US" sz="1200" kern="1200" dirty="0">
                <a:solidFill>
                  <a:schemeClr val="tx1"/>
                </a:solidFill>
                <a:effectLst/>
                <a:latin typeface="+mn-lt"/>
                <a:ea typeface="+mn-ea"/>
                <a:cs typeface="+mn-cs"/>
              </a:rPr>
              <a:t>. A value of one means equal odds compared with private coverage. A value below one indicates a lower tendency to report receiving help, and a value above one indicates a higher tendency.</a:t>
            </a:r>
          </a:p>
          <a:p>
            <a:r>
              <a:rPr lang="en-US" sz="1200" kern="1200" dirty="0">
                <a:solidFill>
                  <a:schemeClr val="tx1"/>
                </a:solidFill>
                <a:effectLst/>
                <a:latin typeface="+mn-lt"/>
                <a:ea typeface="+mn-ea"/>
                <a:cs typeface="+mn-cs"/>
              </a:rPr>
              <a:t>The confidence interval shows the uncertainty around each estimate.</a:t>
            </a:r>
          </a:p>
          <a:p>
            <a:r>
              <a:rPr lang="en-US" sz="1200" kern="1200" dirty="0">
                <a:solidFill>
                  <a:schemeClr val="tx1"/>
                </a:solidFill>
                <a:effectLst/>
                <a:latin typeface="+mn-lt"/>
                <a:ea typeface="+mn-ea"/>
                <a:cs typeface="+mn-cs"/>
              </a:rPr>
              <a:t>These numbers are not percentage-point differences. I’ll use them to explain the direction of the adjusted association and how clear the evidence is.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Slide 10: The Insurance Difference Becomes Smaller, but Remains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This slide answers our main question: </a:t>
            </a:r>
            <a:r>
              <a:rPr lang="en-US" sz="1200" b="1" kern="1200" dirty="0">
                <a:solidFill>
                  <a:schemeClr val="tx1"/>
                </a:solidFill>
                <a:effectLst/>
                <a:latin typeface="+mn-lt"/>
                <a:ea typeface="+mn-ea"/>
                <a:cs typeface="+mn-cs"/>
              </a:rPr>
              <a:t>does the insurance difference remain after accounting for age, income, and education?</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First, look at the chart and the upper table.</a:t>
            </a:r>
          </a:p>
          <a:p>
            <a:r>
              <a:rPr lang="en-US" sz="1200" kern="1200" dirty="0">
                <a:solidFill>
                  <a:schemeClr val="tx1"/>
                </a:solidFill>
                <a:effectLst/>
                <a:latin typeface="+mn-lt"/>
                <a:ea typeface="+mn-ea"/>
                <a:cs typeface="+mn-cs"/>
              </a:rPr>
              <a:t>Each dot represents an adjusted estimate. The horizontal line shows its 95% confidence interval. The vertical line at one represents equal odds compared with private coverage.</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“If the whole interval is on the left side of the dashed line, that tells us the group is significantly less likely to receive help than the private insurance group.”</a:t>
            </a:r>
            <a:endParaRPr lang="en-US" sz="1200" kern="1200" dirty="0">
              <a:solidFill>
                <a:schemeClr val="tx1"/>
              </a:solidFill>
              <a:effectLst/>
              <a:latin typeface="+mn-lt"/>
              <a:ea typeface="+mn-ea"/>
              <a:cs typeface="+mn-cs"/>
            </a:endParaRP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For Medicaid, CHIP, or state coverage, the estimate is </a:t>
            </a:r>
            <a:r>
              <a:rPr lang="en-US" sz="1200" b="1" kern="1200" dirty="0">
                <a:solidFill>
                  <a:schemeClr val="tx1"/>
                </a:solidFill>
                <a:effectLst/>
                <a:latin typeface="+mn-lt"/>
                <a:ea typeface="+mn-ea"/>
                <a:cs typeface="+mn-cs"/>
              </a:rPr>
              <a:t>0.54</a:t>
            </a:r>
            <a:r>
              <a:rPr lang="en-US" sz="1200" kern="1200" dirty="0">
                <a:solidFill>
                  <a:schemeClr val="tx1"/>
                </a:solidFill>
                <a:effectLst/>
                <a:latin typeface="+mn-lt"/>
                <a:ea typeface="+mn-ea"/>
                <a:cs typeface="+mn-cs"/>
              </a:rPr>
              <a:t>, with an interval from approximately </a:t>
            </a:r>
            <a:r>
              <a:rPr lang="en-US" sz="1200" b="1" kern="1200" dirty="0">
                <a:solidFill>
                  <a:schemeClr val="tx1"/>
                </a:solidFill>
                <a:effectLst/>
                <a:latin typeface="+mn-lt"/>
                <a:ea typeface="+mn-ea"/>
                <a:cs typeface="+mn-cs"/>
              </a:rPr>
              <a:t>0.36 to 0.81</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In everyday language, the model still shows that Medicaid respondents are less likely to report having received help after accounting for the selected characteristics. The entire interval is below one, which provides statistical evidence of that association.</a:t>
            </a:r>
          </a:p>
          <a:p>
            <a:r>
              <a:rPr lang="en-US" sz="1200" kern="1200" dirty="0">
                <a:solidFill>
                  <a:schemeClr val="tx1"/>
                </a:solidFill>
                <a:effectLst/>
                <a:latin typeface="+mn-lt"/>
                <a:ea typeface="+mn-ea"/>
                <a:cs typeface="+mn-cs"/>
              </a:rPr>
              <a:t>The single-service, IHS, or uninsured category also has an estimate below one: </a:t>
            </a:r>
            <a:r>
              <a:rPr lang="en-US" sz="1200" b="1" kern="1200" dirty="0">
                <a:solidFill>
                  <a:schemeClr val="tx1"/>
                </a:solidFill>
                <a:effectLst/>
                <a:latin typeface="+mn-lt"/>
                <a:ea typeface="+mn-ea"/>
                <a:cs typeface="+mn-cs"/>
              </a:rPr>
              <a:t>0.56</a:t>
            </a:r>
            <a:r>
              <a:rPr lang="en-US" sz="1200" kern="1200" dirty="0">
                <a:solidFill>
                  <a:schemeClr val="tx1"/>
                </a:solidFill>
                <a:effectLst/>
                <a:latin typeface="+mn-lt"/>
                <a:ea typeface="+mn-ea"/>
                <a:cs typeface="+mn-cs"/>
              </a:rPr>
              <a:t>, with an interval from </a:t>
            </a:r>
            <a:r>
              <a:rPr lang="en-US" sz="1200" b="1" kern="1200" dirty="0">
                <a:solidFill>
                  <a:schemeClr val="tx1"/>
                </a:solidFill>
                <a:effectLst/>
                <a:latin typeface="+mn-lt"/>
                <a:ea typeface="+mn-ea"/>
                <a:cs typeface="+mn-cs"/>
              </a:rPr>
              <a:t>0.32 to 0.97</a:t>
            </a:r>
            <a:r>
              <a:rPr lang="en-US" sz="1200" kern="1200" dirty="0">
                <a:solidFill>
                  <a:schemeClr val="tx1"/>
                </a:solidFill>
                <a:effectLst/>
                <a:latin typeface="+mn-lt"/>
                <a:ea typeface="+mn-ea"/>
                <a:cs typeface="+mn-cs"/>
              </a:rPr>
              <a:t>. This also provides evidence of an association, although its interval comes closer to one.</a:t>
            </a:r>
          </a:p>
          <a:p>
            <a:r>
              <a:rPr lang="en-US" sz="1200" kern="1200" dirty="0">
                <a:solidFill>
                  <a:schemeClr val="tx1"/>
                </a:solidFill>
                <a:effectLst/>
                <a:latin typeface="+mn-lt"/>
                <a:ea typeface="+mn-ea"/>
                <a:cs typeface="+mn-cs"/>
              </a:rPr>
              <a:t>For other-government coverage, the interval crosses one. The evidence does not clearly establish a difference from private coverage.</a:t>
            </a:r>
          </a:p>
          <a:p>
            <a:r>
              <a:rPr lang="en-US" sz="1200" kern="1200" dirty="0">
                <a:solidFill>
                  <a:schemeClr val="tx1"/>
                </a:solidFill>
                <a:effectLst/>
                <a:latin typeface="+mn-lt"/>
                <a:ea typeface="+mn-ea"/>
                <a:cs typeface="+mn-cs"/>
              </a:rPr>
              <a:t>Now look at the lower table.</a:t>
            </a:r>
          </a:p>
          <a:p>
            <a:r>
              <a:rPr lang="en-US" sz="1200" kern="1200" dirty="0">
                <a:solidFill>
                  <a:schemeClr val="tx1"/>
                </a:solidFill>
                <a:effectLst/>
                <a:latin typeface="+mn-lt"/>
                <a:ea typeface="+mn-ea"/>
                <a:cs typeface="+mn-cs"/>
              </a:rPr>
              <a:t>“Before” means the model includes insurance alone. “After” means it also includes age, income, and education.</a:t>
            </a:r>
          </a:p>
          <a:p>
            <a:r>
              <a:rPr lang="en-US" sz="1200" kern="1200" dirty="0">
                <a:solidFill>
                  <a:schemeClr val="tx1"/>
                </a:solidFill>
                <a:effectLst/>
                <a:latin typeface="+mn-lt"/>
                <a:ea typeface="+mn-ea"/>
                <a:cs typeface="+mn-cs"/>
              </a:rPr>
              <a:t>For Medicaid, the estimate moves from </a:t>
            </a:r>
            <a:r>
              <a:rPr lang="en-US" sz="1200" b="1" kern="1200" dirty="0">
                <a:solidFill>
                  <a:schemeClr val="tx1"/>
                </a:solidFill>
                <a:effectLst/>
                <a:latin typeface="+mn-lt"/>
                <a:ea typeface="+mn-ea"/>
                <a:cs typeface="+mn-cs"/>
              </a:rPr>
              <a:t>0.31 to 0.54</a:t>
            </a:r>
            <a:r>
              <a:rPr lang="en-US" sz="1200" kern="1200" dirty="0">
                <a:solidFill>
                  <a:schemeClr val="tx1"/>
                </a:solidFill>
                <a:effectLst/>
                <a:latin typeface="+mn-lt"/>
                <a:ea typeface="+mn-ea"/>
                <a:cs typeface="+mn-cs"/>
              </a:rPr>
              <a:t>. All three estimates move closer to one after adjustment.</a:t>
            </a:r>
          </a:p>
          <a:p>
            <a:r>
              <a:rPr lang="en-US" sz="1200" kern="1200" dirty="0">
                <a:solidFill>
                  <a:schemeClr val="tx1"/>
                </a:solidFill>
                <a:effectLst/>
                <a:latin typeface="+mn-lt"/>
                <a:ea typeface="+mn-ea"/>
                <a:cs typeface="+mn-cs"/>
              </a:rPr>
              <a:t>So the main story is: </a:t>
            </a:r>
            <a:r>
              <a:rPr lang="en-US" sz="1200" b="1" kern="1200" dirty="0">
                <a:solidFill>
                  <a:schemeClr val="tx1"/>
                </a:solidFill>
                <a:effectLst/>
                <a:latin typeface="+mn-lt"/>
                <a:ea typeface="+mn-ea"/>
                <a:cs typeface="+mn-cs"/>
              </a:rPr>
              <a:t>the estimated insurance association becomes smaller after adjustment, but it remains for Medicaid and the fourth category.</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groups’ different characteristics matter to the comparison. However, this change does not let me calculate an exact percentage of the disparity that those characteristics explain.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Slide 11: Prior Research and Study Limitations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direction of the Medicaid–private association is consistent with the earlier study by Eliason and colleagues.</a:t>
            </a:r>
          </a:p>
          <a:p>
            <a:r>
              <a:rPr lang="en-US" sz="1200" kern="1200" dirty="0">
                <a:solidFill>
                  <a:schemeClr val="tx1"/>
                </a:solidFill>
                <a:effectLst/>
                <a:latin typeface="+mn-lt"/>
                <a:ea typeface="+mn-ea"/>
                <a:cs typeface="+mn-cs"/>
              </a:rPr>
              <a:t>However, their primary analysis examined past-year fertility-service use among respondents currently trying to conceive. My analysis examines lifetime help receipt in a broader sample.</a:t>
            </a:r>
          </a:p>
          <a:p>
            <a:r>
              <a:rPr lang="en-US" sz="1200" kern="1200" dirty="0">
                <a:solidFill>
                  <a:schemeClr val="tx1"/>
                </a:solidFill>
                <a:effectLst/>
                <a:latin typeface="+mn-lt"/>
                <a:ea typeface="+mn-ea"/>
                <a:cs typeface="+mn-cs"/>
              </a:rPr>
              <a:t>Because the outcomes and populations differ, I cannot interpret the estimates as showing how the disparity changed over time.</a:t>
            </a:r>
          </a:p>
          <a:p>
            <a:r>
              <a:rPr lang="en-US" sz="1200" kern="1200" dirty="0">
                <a:solidFill>
                  <a:schemeClr val="tx1"/>
                </a:solidFill>
                <a:effectLst/>
                <a:latin typeface="+mn-lt"/>
                <a:ea typeface="+mn-ea"/>
                <a:cs typeface="+mn-cs"/>
              </a:rPr>
              <a:t>There are also important limits to my findings.</a:t>
            </a:r>
          </a:p>
          <a:p>
            <a:r>
              <a:rPr lang="en-US" sz="1200" kern="1200" dirty="0">
                <a:solidFill>
                  <a:schemeClr val="tx1"/>
                </a:solidFill>
                <a:effectLst/>
                <a:latin typeface="+mn-lt"/>
                <a:ea typeface="+mn-ea"/>
                <a:cs typeface="+mn-cs"/>
              </a:rPr>
              <a:t>First, current insurance may differ from coverage at the time someone received care.</a:t>
            </a:r>
          </a:p>
          <a:p>
            <a:r>
              <a:rPr lang="en-US" sz="1200" kern="1200" dirty="0">
                <a:solidFill>
                  <a:schemeClr val="tx1"/>
                </a:solidFill>
                <a:effectLst/>
                <a:latin typeface="+mn-lt"/>
                <a:ea typeface="+mn-ea"/>
                <a:cs typeface="+mn-cs"/>
              </a:rPr>
              <a:t>Second, respondents have different fertility needs and intentions. Someone who never received help may never have needed or wanted it.</a:t>
            </a:r>
          </a:p>
          <a:p>
            <a:r>
              <a:rPr lang="en-US" sz="1200" kern="1200" dirty="0">
                <a:solidFill>
                  <a:schemeClr val="tx1"/>
                </a:solidFill>
                <a:effectLst/>
                <a:latin typeface="+mn-lt"/>
                <a:ea typeface="+mn-ea"/>
                <a:cs typeface="+mn-cs"/>
              </a:rPr>
              <a:t>Third, the data are observational. Accounting for age, income, and education does not remove every possible alternative explanation.</a:t>
            </a:r>
          </a:p>
          <a:p>
            <a:r>
              <a:rPr lang="en-US" sz="1200" kern="1200" dirty="0">
                <a:solidFill>
                  <a:schemeClr val="tx1"/>
                </a:solidFill>
                <a:effectLst/>
                <a:latin typeface="+mn-lt"/>
                <a:ea typeface="+mn-ea"/>
                <a:cs typeface="+mn-cs"/>
              </a:rPr>
              <a:t>The results therefore establish an association in reported care receipt. They cannot establish that insurance caused the difference or directly measure unmet need.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Slide 12: Insurance Differences Remain After Selected Controls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 began with a large descriptive difference: approximately </a:t>
            </a:r>
            <a:r>
              <a:rPr lang="en-US" sz="1200" b="1" kern="1200" dirty="0">
                <a:solidFill>
                  <a:schemeClr val="tx1"/>
                </a:solidFill>
                <a:effectLst/>
                <a:latin typeface="+mn-lt"/>
                <a:ea typeface="+mn-ea"/>
                <a:cs typeface="+mn-cs"/>
              </a:rPr>
              <a:t>13% of privately insured respondents reported receiving help, compared with 4% of Medicaid respondents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Then I asked whether the groups differed in other relevant ways. They did: private respondents were generally older, had higher income, and had more education.</a:t>
            </a:r>
          </a:p>
          <a:p>
            <a:r>
              <a:rPr lang="en-US" sz="1200" kern="1200" dirty="0">
                <a:solidFill>
                  <a:schemeClr val="tx1"/>
                </a:solidFill>
                <a:effectLst/>
                <a:latin typeface="+mn-lt"/>
                <a:ea typeface="+mn-ea"/>
                <a:cs typeface="+mn-cs"/>
              </a:rPr>
              <a:t>After accounting for those characteristics, the estimated insurance association became smaller. However, the Medicaid–private difference remained, as did the association for the single-service, IHS, or uninsured category.</a:t>
            </a:r>
          </a:p>
          <a:p>
            <a:r>
              <a:rPr lang="en-US" sz="1200" kern="1200" dirty="0">
                <a:solidFill>
                  <a:schemeClr val="tx1"/>
                </a:solidFill>
                <a:effectLst/>
                <a:latin typeface="+mn-lt"/>
                <a:ea typeface="+mn-ea"/>
                <a:cs typeface="+mn-cs"/>
              </a:rPr>
              <a:t>My conclusion is that </a:t>
            </a:r>
            <a:r>
              <a:rPr lang="en-US" sz="1200" b="1" kern="1200" dirty="0">
                <a:solidFill>
                  <a:schemeClr val="tx1"/>
                </a:solidFill>
                <a:effectLst/>
                <a:latin typeface="+mn-lt"/>
                <a:ea typeface="+mn-ea"/>
                <a:cs typeface="+mn-cs"/>
              </a:rPr>
              <a:t>differences in the selected characteristics do not eliminate the insurance association in this model</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To understand the reasons behind that association, further research should examine insurance at the time of care and respondents’ fertility needs.</a:t>
            </a:r>
          </a:p>
          <a:p>
            <a:r>
              <a:rPr lang="en-US" sz="1200" kern="1200" dirty="0">
                <a:solidFill>
                  <a:schemeClr val="tx1"/>
                </a:solidFill>
                <a:effectLst/>
                <a:latin typeface="+mn-lt"/>
                <a:ea typeface="+mn-ea"/>
                <a:cs typeface="+mn-cs"/>
              </a:rPr>
              <a:t>The remaining association gives researchers a reason to investigate coverage and care receipt more closely. However, these findings alone cannot tell policymakers which coverage change would improve access.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3A1F3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8046720" cy="1097280"/>
          </a:xfrm>
          <a:prstGeom prst="rect">
            <a:avLst/>
          </a:prstGeom>
          <a:noFill/>
          <a:ln/>
        </p:spPr>
        <p:txBody>
          <a:bodyPr wrap="square" rtlCol="0"/>
          <a:lstStyle>
            <a:lvl1pPr marL="0" indent="0" algn="l">
              <a:buNone/>
              <a:defRPr lang="en-US" sz="2800" b="1" dirty="0">
                <a:solidFill>
                  <a:schemeClr val="bg1"/>
                </a:solidFill>
              </a:defRPr>
            </a:lvl1pPr>
          </a:lstStyle>
          <a:p>
            <a:pPr marL="0" indent="0" algn="l">
              <a:buNone/>
            </a:pP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3A1F3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8046720" cy="914400"/>
          </a:xfrm>
          <a:prstGeom prst="rect">
            <a:avLst/>
          </a:prstGeom>
          <a:noFill/>
          <a:ln/>
        </p:spPr>
        <p:txBody>
          <a:bodyPr wrap="square" rtlCol="0"/>
          <a:lstStyle>
            <a:lvl1pPr marL="0" indent="0" algn="l">
              <a:buNone/>
              <a:defRPr lang="en-US" sz="2800" b="1" dirty="0">
                <a:solidFill>
                  <a:schemeClr val="bg1"/>
                </a:solidFill>
              </a:defRPr>
            </a:lvl1pPr>
          </a:lstStyle>
          <a:p>
            <a:pPr marL="0" indent="0" algn="l">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868680"/>
          </a:xfrm>
          <a:prstGeom prst="rect">
            <a:avLst/>
          </a:prstGeom>
          <a:noFill/>
          <a:ln/>
        </p:spPr>
        <p:txBody>
          <a:bodyPr wrap="square" rtlCol="0"/>
          <a:lstStyle>
            <a:lvl1pPr marL="0" indent="0" algn="l">
              <a:buNone/>
              <a:defRPr lang="en-US" sz="2800" b="1" dirty="0">
                <a:solidFill>
                  <a:schemeClr val="tx2"/>
                </a:solidFill>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6B6068"/>
                </a:solidFill>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6B6068"/>
                </a:solidFil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8046720" cy="1097280"/>
          </a:xfrm>
          <a:prstGeom prst="rect">
            <a:avLst/>
          </a:prstGeom>
          <a:noFill/>
          <a:ln/>
        </p:spPr>
        <p:txBody>
          <a:bodyPr wrap="square" lIns="0" tIns="0" rIns="0" bIns="0" rtlCol="0" anchor="t"/>
          <a:lstStyle/>
          <a:p>
            <a:pPr marL="0" indent="0" algn="l">
              <a:buNone/>
            </a:pPr>
            <a:r>
              <a:rPr lang="en-US" sz="2800" b="1" dirty="0">
                <a:solidFill>
                  <a:schemeClr val="bg1"/>
                </a:solidFill>
              </a:rPr>
              <a:t>Insurance Coverage and Fertility-Related Medical Help</a:t>
            </a:r>
            <a:endParaRPr lang="en-US" sz="2800" dirty="0"/>
          </a:p>
        </p:txBody>
      </p:sp>
      <p:sp>
        <p:nvSpPr>
          <p:cNvPr id="3" name="Subtitle"/>
          <p:cNvSpPr txBox="1"/>
          <p:nvPr/>
        </p:nvSpPr>
        <p:spPr>
          <a:xfrm>
            <a:off x="548640" y="2468880"/>
            <a:ext cx="8046720" cy="365760"/>
          </a:xfrm>
          <a:prstGeom prst="rect">
            <a:avLst/>
          </a:prstGeom>
          <a:noFill/>
          <a:ln/>
        </p:spPr>
        <p:txBody>
          <a:bodyPr wrap="square" lIns="0" tIns="0" rIns="0" bIns="0" rtlCol="0" anchor="t"/>
          <a:lstStyle/>
          <a:p>
            <a:pPr marL="0" indent="0">
              <a:buNone/>
            </a:pPr>
            <a:r>
              <a:rPr lang="en-US" sz="1400" dirty="0">
                <a:solidFill>
                  <a:schemeClr val="accent3"/>
                </a:solidFill>
              </a:rPr>
              <a:t>Evidence from the 2022 - 2023 National Survey of Family Growth</a:t>
            </a:r>
            <a:endParaRPr lang="en-US" sz="1400" dirty="0"/>
          </a:p>
        </p:txBody>
      </p:sp>
      <p:sp>
        <p:nvSpPr>
          <p:cNvPr id="4" name="Author"/>
          <p:cNvSpPr txBox="1"/>
          <p:nvPr/>
        </p:nvSpPr>
        <p:spPr>
          <a:xfrm>
            <a:off x="548640" y="3154680"/>
            <a:ext cx="8046720" cy="640080"/>
          </a:xfrm>
          <a:prstGeom prst="rect">
            <a:avLst/>
          </a:prstGeom>
          <a:noFill/>
          <a:ln/>
        </p:spPr>
        <p:txBody>
          <a:bodyPr wrap="square" lIns="0" tIns="0" rIns="0" bIns="0" rtlCol="0" anchor="t"/>
          <a:lstStyle/>
          <a:p>
            <a:pPr marL="0" indent="0">
              <a:buNone/>
            </a:pPr>
            <a:r>
              <a:rPr lang="en-US" sz="1400" b="1" dirty="0">
                <a:solidFill>
                  <a:schemeClr val="bg1"/>
                </a:solidFill>
              </a:rPr>
              <a:t>Gracie Nguyen</a:t>
            </a:r>
            <a:endParaRPr lang="en-US" sz="1400" dirty="0"/>
          </a:p>
          <a:p>
            <a:pPr marL="0" indent="0">
              <a:buNone/>
            </a:pPr>
            <a:r>
              <a:rPr lang="en-US" sz="1400" dirty="0">
                <a:solidFill>
                  <a:schemeClr val="bg1"/>
                </a:solidFill>
              </a:rPr>
              <a:t>DATA 400 Individual Mini-Project · Dickinson College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Help Receipt Differs Across Insurance Groups</a:t>
            </a:r>
            <a:endParaRPr lang="en-US" sz="2800" dirty="0"/>
          </a:p>
        </p:txBody>
      </p:sp>
      <p:sp>
        <p:nvSpPr>
          <p:cNvPr id="3" name="Chart heading"/>
          <p:cNvSpPr txBox="1"/>
          <p:nvPr/>
        </p:nvSpPr>
        <p:spPr>
          <a:xfrm>
            <a:off x="457200" y="1192756"/>
            <a:ext cx="5303520" cy="320040"/>
          </a:xfrm>
          <a:prstGeom prst="rect">
            <a:avLst/>
          </a:prstGeom>
          <a:noFill/>
          <a:ln/>
        </p:spPr>
        <p:txBody>
          <a:bodyPr wrap="square" lIns="0" tIns="0" rIns="0" bIns="0" rtlCol="0" anchor="ctr"/>
          <a:lstStyle/>
          <a:p>
            <a:pPr marL="0" indent="0">
              <a:buNone/>
            </a:pPr>
            <a:r>
              <a:rPr lang="en-US" sz="1400" b="1" dirty="0">
                <a:solidFill>
                  <a:schemeClr val="tx2"/>
                </a:solidFill>
              </a:rPr>
              <a:t>Weighted percentage ever receiving medical help</a:t>
            </a:r>
            <a:endParaRPr lang="en-US" sz="1400" dirty="0"/>
          </a:p>
        </p:txBody>
      </p:sp>
      <p:sp>
        <p:nvSpPr>
          <p:cNvPr id="6" name="Callout card"/>
          <p:cNvSpPr/>
          <p:nvPr/>
        </p:nvSpPr>
        <p:spPr>
          <a:xfrm>
            <a:off x="6035040" y="1512796"/>
            <a:ext cx="2651760" cy="2926080"/>
          </a:xfrm>
          <a:prstGeom prst="roundRect">
            <a:avLst>
              <a:gd name="adj" fmla="val 4138"/>
            </a:avLst>
          </a:prstGeom>
          <a:solidFill>
            <a:schemeClr val="tx2"/>
          </a:solidFill>
          <a:ln w="12700">
            <a:solidFill>
              <a:schemeClr val="tx2"/>
            </a:solidFill>
            <a:prstDash val="solid"/>
          </a:ln>
        </p:spPr>
        <p:txBody>
          <a:bodyPr/>
          <a:lstStyle/>
          <a:p>
            <a:endParaRPr lang="en-US"/>
          </a:p>
        </p:txBody>
      </p:sp>
      <p:sp>
        <p:nvSpPr>
          <p:cNvPr id="7" name="Callout label 1"/>
          <p:cNvSpPr txBox="1"/>
          <p:nvPr/>
        </p:nvSpPr>
        <p:spPr>
          <a:xfrm>
            <a:off x="6035040" y="1649956"/>
            <a:ext cx="2651760" cy="274320"/>
          </a:xfrm>
          <a:prstGeom prst="rect">
            <a:avLst/>
          </a:prstGeom>
          <a:noFill/>
          <a:ln/>
        </p:spPr>
        <p:txBody>
          <a:bodyPr wrap="square" lIns="0" tIns="0" rIns="0" bIns="0" rtlCol="0" anchor="ctr"/>
          <a:lstStyle/>
          <a:p>
            <a:pPr marL="0" indent="0" algn="ctr">
              <a:buNone/>
            </a:pPr>
            <a:r>
              <a:rPr lang="en-US" sz="1400" dirty="0">
                <a:solidFill>
                  <a:schemeClr val="accent3"/>
                </a:solidFill>
              </a:rPr>
              <a:t>Private</a:t>
            </a:r>
            <a:endParaRPr lang="en-US" sz="1400" dirty="0"/>
          </a:p>
        </p:txBody>
      </p:sp>
      <p:sp>
        <p:nvSpPr>
          <p:cNvPr id="8" name="Callout value 1"/>
          <p:cNvSpPr txBox="1"/>
          <p:nvPr/>
        </p:nvSpPr>
        <p:spPr>
          <a:xfrm>
            <a:off x="6035040" y="1924276"/>
            <a:ext cx="2651760" cy="640080"/>
          </a:xfrm>
          <a:prstGeom prst="rect">
            <a:avLst/>
          </a:prstGeom>
          <a:noFill/>
          <a:ln/>
        </p:spPr>
        <p:txBody>
          <a:bodyPr wrap="square" lIns="0" tIns="0" rIns="0" bIns="0" rtlCol="0" anchor="ctr"/>
          <a:lstStyle/>
          <a:p>
            <a:pPr marL="0" indent="0" algn="ctr">
              <a:buNone/>
            </a:pPr>
            <a:r>
              <a:rPr lang="en-US" sz="2800" b="1" dirty="0">
                <a:solidFill>
                  <a:schemeClr val="bg1"/>
                </a:solidFill>
                <a:latin typeface="Georgia Pro" pitchFamily="34" charset="0"/>
                <a:ea typeface="Georgia Pro" pitchFamily="34" charset="-122"/>
                <a:cs typeface="Georgia Pro" pitchFamily="34" charset="-120"/>
              </a:rPr>
              <a:t>12.9%</a:t>
            </a:r>
            <a:endParaRPr lang="en-US" sz="2800" dirty="0"/>
          </a:p>
        </p:txBody>
      </p:sp>
      <p:sp>
        <p:nvSpPr>
          <p:cNvPr id="9" name="Callout label 2"/>
          <p:cNvSpPr txBox="1"/>
          <p:nvPr/>
        </p:nvSpPr>
        <p:spPr>
          <a:xfrm>
            <a:off x="6035040" y="2743200"/>
            <a:ext cx="2651760" cy="274320"/>
          </a:xfrm>
          <a:prstGeom prst="rect">
            <a:avLst/>
          </a:prstGeom>
          <a:noFill/>
          <a:ln/>
        </p:spPr>
        <p:txBody>
          <a:bodyPr wrap="square" lIns="0" tIns="0" rIns="0" bIns="0" rtlCol="0" anchor="ctr"/>
          <a:lstStyle/>
          <a:p>
            <a:pPr marL="0" indent="0" algn="ctr">
              <a:buNone/>
            </a:pPr>
            <a:r>
              <a:rPr lang="en-US" sz="1400" dirty="0">
                <a:solidFill>
                  <a:schemeClr val="accent3"/>
                </a:solidFill>
              </a:rPr>
              <a:t>Medicaid/CHIP/state</a:t>
            </a:r>
            <a:endParaRPr lang="en-US" sz="1400" dirty="0"/>
          </a:p>
        </p:txBody>
      </p:sp>
      <p:sp>
        <p:nvSpPr>
          <p:cNvPr id="10" name="Callout value 2"/>
          <p:cNvSpPr txBox="1"/>
          <p:nvPr/>
        </p:nvSpPr>
        <p:spPr>
          <a:xfrm>
            <a:off x="6035040" y="3017520"/>
            <a:ext cx="2651760" cy="640080"/>
          </a:xfrm>
          <a:prstGeom prst="rect">
            <a:avLst/>
          </a:prstGeom>
          <a:noFill/>
          <a:ln/>
        </p:spPr>
        <p:txBody>
          <a:bodyPr wrap="square" lIns="0" tIns="0" rIns="0" bIns="0" rtlCol="0" anchor="ctr"/>
          <a:lstStyle/>
          <a:p>
            <a:pPr marL="0" indent="0" algn="ctr">
              <a:buNone/>
            </a:pPr>
            <a:r>
              <a:rPr lang="en-US" sz="2800" b="1" dirty="0">
                <a:solidFill>
                  <a:srgbClr val="FFB067"/>
                </a:solidFill>
                <a:latin typeface="Georgia Pro" pitchFamily="34" charset="0"/>
                <a:ea typeface="Georgia Pro" pitchFamily="34" charset="-122"/>
                <a:cs typeface="Georgia Pro" pitchFamily="34" charset="-120"/>
              </a:rPr>
              <a:t>4.3%</a:t>
            </a:r>
            <a:endParaRPr lang="en-US" sz="2800" dirty="0"/>
          </a:p>
        </p:txBody>
      </p:sp>
      <p:sp>
        <p:nvSpPr>
          <p:cNvPr id="11" name="Difference"/>
          <p:cNvSpPr txBox="1"/>
          <p:nvPr/>
        </p:nvSpPr>
        <p:spPr>
          <a:xfrm>
            <a:off x="6217920" y="3707356"/>
            <a:ext cx="2286000" cy="594360"/>
          </a:xfrm>
          <a:prstGeom prst="rect">
            <a:avLst/>
          </a:prstGeom>
          <a:noFill/>
          <a:ln/>
        </p:spPr>
        <p:txBody>
          <a:bodyPr wrap="square" lIns="0" tIns="0" rIns="0" bIns="0" rtlCol="0" anchor="ctr"/>
          <a:lstStyle/>
          <a:p>
            <a:pPr marL="0" indent="0" algn="ctr">
              <a:buNone/>
            </a:pPr>
            <a:r>
              <a:rPr lang="en-US" sz="1400" dirty="0">
                <a:solidFill>
                  <a:srgbClr val="F5C9A6"/>
                </a:solidFill>
              </a:rPr>
              <a:t>Difference: </a:t>
            </a:r>
          </a:p>
          <a:p>
            <a:pPr marL="0" indent="0" algn="ctr">
              <a:buNone/>
            </a:pPr>
            <a:r>
              <a:rPr lang="en-US" sz="1400" b="1" dirty="0">
                <a:solidFill>
                  <a:srgbClr val="FFFFFF"/>
                </a:solidFill>
              </a:rPr>
              <a:t>~8.5 percentage points</a:t>
            </a:r>
            <a:endParaRPr lang="en-US" sz="14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6B6068"/>
                </a:solidFill>
              </a:defRPr>
            </a:lvl1pPr>
          </a:lstStyle>
          <a:p>
            <a:pPr algn="l"/>
            <a:fld id="{F7021451-1387-4CA6-816F-3879F97B5CBC}" type="slidenum">
              <a:rPr lang="en-US" b="0"/>
              <a:t>2</a:t>
            </a:fld>
            <a:endParaRPr lang="en-US"/>
          </a:p>
        </p:txBody>
      </p:sp>
      <p:pic>
        <p:nvPicPr>
          <p:cNvPr id="15" name="Picture 14" descr="A graph with blue rectangles&#10;&#10;AI-generated content may be incorrect.">
            <a:extLst>
              <a:ext uri="{FF2B5EF4-FFF2-40B4-BE49-F238E27FC236}">
                <a16:creationId xmlns:a16="http://schemas.microsoft.com/office/drawing/2014/main" id="{223A0E60-FD70-A0F4-EB07-FC3126A3AD41}"/>
              </a:ext>
            </a:extLst>
          </p:cNvPr>
          <p:cNvPicPr>
            <a:picLocks noChangeAspect="1"/>
          </p:cNvPicPr>
          <p:nvPr/>
        </p:nvPicPr>
        <p:blipFill>
          <a:blip r:embed="rId3"/>
          <a:stretch>
            <a:fillRect/>
          </a:stretch>
        </p:blipFill>
        <p:spPr>
          <a:xfrm>
            <a:off x="457200" y="1777330"/>
            <a:ext cx="5303520" cy="261809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02920"/>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Research Question</a:t>
            </a:r>
            <a:endParaRPr lang="en-US" sz="2800" dirty="0"/>
          </a:p>
        </p:txBody>
      </p:sp>
      <p:sp>
        <p:nvSpPr>
          <p:cNvPr id="3" name="Research question card"/>
          <p:cNvSpPr/>
          <p:nvPr/>
        </p:nvSpPr>
        <p:spPr>
          <a:xfrm>
            <a:off x="457200" y="1691640"/>
            <a:ext cx="8229600" cy="2276678"/>
          </a:xfrm>
          <a:prstGeom prst="roundRect">
            <a:avLst>
              <a:gd name="adj" fmla="val 3636"/>
            </a:avLst>
          </a:prstGeom>
          <a:solidFill>
            <a:schemeClr val="accent1"/>
          </a:solidFill>
          <a:ln w="12700">
            <a:solidFill>
              <a:schemeClr val="tx2"/>
            </a:solidFill>
            <a:prstDash val="solid"/>
          </a:ln>
        </p:spPr>
        <p:txBody>
          <a:bodyPr/>
          <a:lstStyle/>
          <a:p>
            <a:endParaRPr lang="en-US"/>
          </a:p>
        </p:txBody>
      </p:sp>
      <p:sp>
        <p:nvSpPr>
          <p:cNvPr id="4" name="Research question"/>
          <p:cNvSpPr txBox="1"/>
          <p:nvPr/>
        </p:nvSpPr>
        <p:spPr>
          <a:xfrm>
            <a:off x="640080" y="1810600"/>
            <a:ext cx="7863840" cy="2038758"/>
          </a:xfrm>
          <a:prstGeom prst="rect">
            <a:avLst/>
          </a:prstGeom>
          <a:noFill/>
          <a:ln/>
        </p:spPr>
        <p:txBody>
          <a:bodyPr wrap="square" lIns="0" tIns="0" rIns="0" bIns="0" rtlCol="0" anchor="ctr"/>
          <a:lstStyle/>
          <a:p>
            <a:pPr marL="0" indent="0" algn="ctr">
              <a:buNone/>
            </a:pPr>
            <a:r>
              <a:rPr lang="en-US" sz="2800" dirty="0">
                <a:solidFill>
                  <a:schemeClr val="bg1"/>
                </a:solidFill>
                <a:latin typeface="Georgia Pro" pitchFamily="34" charset="0"/>
                <a:ea typeface="Georgia Pro" pitchFamily="34" charset="-122"/>
                <a:cs typeface="Georgia Pro" pitchFamily="34" charset="-120"/>
              </a:rPr>
              <a:t>Is current insurance type associated with ever receiving medical help to become pregnant, </a:t>
            </a:r>
          </a:p>
          <a:p>
            <a:pPr marL="0" indent="0" algn="ctr">
              <a:buNone/>
            </a:pPr>
            <a:r>
              <a:rPr lang="en-US" sz="2800" dirty="0">
                <a:solidFill>
                  <a:schemeClr val="bg1"/>
                </a:solidFill>
                <a:latin typeface="Georgia Pro" pitchFamily="34" charset="0"/>
                <a:ea typeface="Georgia Pro" pitchFamily="34" charset="-122"/>
                <a:cs typeface="Georgia Pro" pitchFamily="34" charset="-120"/>
              </a:rPr>
              <a:t>after accounting for age, income, and education?</a:t>
            </a:r>
            <a:endParaRPr lang="en-US" sz="28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6B6068"/>
                </a:solidFil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21208"/>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Why This Question Matters</a:t>
            </a:r>
            <a:endParaRPr lang="en-US" sz="2800" dirty="0"/>
          </a:p>
        </p:txBody>
      </p:sp>
      <p:sp>
        <p:nvSpPr>
          <p:cNvPr id="3" name="Reason card 1"/>
          <p:cNvSpPr/>
          <p:nvPr/>
        </p:nvSpPr>
        <p:spPr>
          <a:xfrm>
            <a:off x="457200" y="1280160"/>
            <a:ext cx="8229600" cy="731520"/>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4" name="Number badge 1"/>
          <p:cNvSpPr/>
          <p:nvPr/>
        </p:nvSpPr>
        <p:spPr>
          <a:xfrm>
            <a:off x="640080" y="1389888"/>
            <a:ext cx="512064" cy="512064"/>
          </a:xfrm>
          <a:prstGeom prst="ellipse">
            <a:avLst/>
          </a:prstGeom>
          <a:solidFill>
            <a:schemeClr val="accent1"/>
          </a:solidFill>
          <a:ln w="12700">
            <a:solidFill>
              <a:schemeClr val="accent1"/>
            </a:solidFill>
            <a:prstDash val="solid"/>
          </a:ln>
        </p:spPr>
        <p:txBody>
          <a:bodyPr/>
          <a:lstStyle/>
          <a:p>
            <a:endParaRPr lang="en-US"/>
          </a:p>
        </p:txBody>
      </p:sp>
      <p:sp>
        <p:nvSpPr>
          <p:cNvPr id="5" name="Badge text 1"/>
          <p:cNvSpPr txBox="1"/>
          <p:nvPr/>
        </p:nvSpPr>
        <p:spPr>
          <a:xfrm>
            <a:off x="640080" y="1389888"/>
            <a:ext cx="512064" cy="51206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Reason text 1"/>
          <p:cNvSpPr txBox="1"/>
          <p:nvPr/>
        </p:nvSpPr>
        <p:spPr>
          <a:xfrm>
            <a:off x="1371600" y="1325880"/>
            <a:ext cx="7132320" cy="640080"/>
          </a:xfrm>
          <a:prstGeom prst="rect">
            <a:avLst/>
          </a:prstGeom>
          <a:noFill/>
          <a:ln/>
        </p:spPr>
        <p:txBody>
          <a:bodyPr wrap="square" lIns="0" tIns="0" rIns="0" bIns="0" rtlCol="0" anchor="ctr"/>
          <a:lstStyle/>
          <a:p>
            <a:pPr marL="0" indent="0">
              <a:buNone/>
            </a:pPr>
            <a:r>
              <a:rPr lang="en-US" sz="1400" dirty="0">
                <a:solidFill>
                  <a:schemeClr val="tx1"/>
                </a:solidFill>
              </a:rPr>
              <a:t>Insurance coverage may influence the affordability of medical care.</a:t>
            </a:r>
            <a:endParaRPr lang="en-US" sz="1400" dirty="0"/>
          </a:p>
        </p:txBody>
      </p:sp>
      <p:sp>
        <p:nvSpPr>
          <p:cNvPr id="7" name="Reason card 2"/>
          <p:cNvSpPr/>
          <p:nvPr/>
        </p:nvSpPr>
        <p:spPr>
          <a:xfrm>
            <a:off x="457200" y="2148840"/>
            <a:ext cx="8229600" cy="731520"/>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8" name="Number badge 2"/>
          <p:cNvSpPr/>
          <p:nvPr/>
        </p:nvSpPr>
        <p:spPr>
          <a:xfrm>
            <a:off x="640080" y="2258568"/>
            <a:ext cx="512064" cy="512064"/>
          </a:xfrm>
          <a:prstGeom prst="ellipse">
            <a:avLst/>
          </a:prstGeom>
          <a:solidFill>
            <a:schemeClr val="accent1"/>
          </a:solidFill>
          <a:ln w="12700">
            <a:solidFill>
              <a:schemeClr val="accent1"/>
            </a:solidFill>
            <a:prstDash val="solid"/>
          </a:ln>
        </p:spPr>
        <p:txBody>
          <a:bodyPr/>
          <a:lstStyle/>
          <a:p>
            <a:endParaRPr lang="en-US"/>
          </a:p>
        </p:txBody>
      </p:sp>
      <p:sp>
        <p:nvSpPr>
          <p:cNvPr id="9" name="Badge text 2"/>
          <p:cNvSpPr txBox="1"/>
          <p:nvPr/>
        </p:nvSpPr>
        <p:spPr>
          <a:xfrm>
            <a:off x="640080" y="2258568"/>
            <a:ext cx="512064" cy="51206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 name="Reason text 2"/>
          <p:cNvSpPr txBox="1"/>
          <p:nvPr/>
        </p:nvSpPr>
        <p:spPr>
          <a:xfrm>
            <a:off x="1371600" y="2194560"/>
            <a:ext cx="7132320" cy="640080"/>
          </a:xfrm>
          <a:prstGeom prst="rect">
            <a:avLst/>
          </a:prstGeom>
          <a:noFill/>
          <a:ln/>
        </p:spPr>
        <p:txBody>
          <a:bodyPr wrap="square" lIns="0" tIns="0" rIns="0" bIns="0" rtlCol="0" anchor="ctr"/>
          <a:lstStyle/>
          <a:p>
            <a:pPr marL="0" indent="0">
              <a:buNone/>
            </a:pPr>
            <a:r>
              <a:rPr lang="en-US" sz="1400" dirty="0">
                <a:solidFill>
                  <a:schemeClr val="tx1"/>
                </a:solidFill>
              </a:rPr>
              <a:t>Income and education may also shape care use.</a:t>
            </a:r>
            <a:endParaRPr lang="en-US" sz="1400" dirty="0"/>
          </a:p>
        </p:txBody>
      </p:sp>
      <p:sp>
        <p:nvSpPr>
          <p:cNvPr id="11" name="Reason card 3"/>
          <p:cNvSpPr/>
          <p:nvPr/>
        </p:nvSpPr>
        <p:spPr>
          <a:xfrm>
            <a:off x="457200" y="3017520"/>
            <a:ext cx="8229600" cy="731520"/>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12" name="Number badge 3"/>
          <p:cNvSpPr/>
          <p:nvPr/>
        </p:nvSpPr>
        <p:spPr>
          <a:xfrm>
            <a:off x="640080" y="3127248"/>
            <a:ext cx="512064" cy="512064"/>
          </a:xfrm>
          <a:prstGeom prst="ellipse">
            <a:avLst/>
          </a:prstGeom>
          <a:solidFill>
            <a:schemeClr val="accent1"/>
          </a:solidFill>
          <a:ln w="12700">
            <a:solidFill>
              <a:schemeClr val="accent1"/>
            </a:solidFill>
            <a:prstDash val="solid"/>
          </a:ln>
        </p:spPr>
        <p:txBody>
          <a:bodyPr/>
          <a:lstStyle/>
          <a:p>
            <a:endParaRPr lang="en-US"/>
          </a:p>
        </p:txBody>
      </p:sp>
      <p:sp>
        <p:nvSpPr>
          <p:cNvPr id="13" name="Badge text 3"/>
          <p:cNvSpPr txBox="1"/>
          <p:nvPr/>
        </p:nvSpPr>
        <p:spPr>
          <a:xfrm>
            <a:off x="640080" y="3127248"/>
            <a:ext cx="512064" cy="51206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Reason text 3"/>
          <p:cNvSpPr txBox="1"/>
          <p:nvPr/>
        </p:nvSpPr>
        <p:spPr>
          <a:xfrm>
            <a:off x="1371600" y="3063240"/>
            <a:ext cx="7132320" cy="640080"/>
          </a:xfrm>
          <a:prstGeom prst="rect">
            <a:avLst/>
          </a:prstGeom>
          <a:noFill/>
          <a:ln/>
        </p:spPr>
        <p:txBody>
          <a:bodyPr wrap="square" lIns="0" tIns="0" rIns="0" bIns="0" rtlCol="0" anchor="ctr"/>
          <a:lstStyle/>
          <a:p>
            <a:pPr marL="0" indent="0">
              <a:buNone/>
            </a:pPr>
            <a:r>
              <a:rPr lang="en-US" sz="1400" dirty="0">
                <a:solidFill>
                  <a:schemeClr val="tx1"/>
                </a:solidFill>
              </a:rPr>
              <a:t>Differences in fertility-related care receipt matter to reproductive-health researchers and advocates.</a:t>
            </a:r>
            <a:endParaRPr lang="en-US" sz="1400" dirty="0"/>
          </a:p>
        </p:txBody>
      </p:sp>
      <p:sp>
        <p:nvSpPr>
          <p:cNvPr id="15" name="Focus card"/>
          <p:cNvSpPr/>
          <p:nvPr/>
        </p:nvSpPr>
        <p:spPr>
          <a:xfrm>
            <a:off x="457200" y="3931920"/>
            <a:ext cx="8229600" cy="640080"/>
          </a:xfrm>
          <a:prstGeom prst="roundRect">
            <a:avLst>
              <a:gd name="adj" fmla="val 17143"/>
            </a:avLst>
          </a:prstGeom>
          <a:solidFill>
            <a:schemeClr val="tx2"/>
          </a:solidFill>
          <a:ln w="12700">
            <a:solidFill>
              <a:schemeClr val="tx2"/>
            </a:solidFill>
            <a:prstDash val="solid"/>
          </a:ln>
        </p:spPr>
        <p:txBody>
          <a:bodyPr/>
          <a:lstStyle/>
          <a:p>
            <a:endParaRPr lang="en-US"/>
          </a:p>
        </p:txBody>
      </p:sp>
      <p:sp>
        <p:nvSpPr>
          <p:cNvPr id="16" name="Focus text"/>
          <p:cNvSpPr txBox="1"/>
          <p:nvPr/>
        </p:nvSpPr>
        <p:spPr>
          <a:xfrm>
            <a:off x="685800" y="3931920"/>
            <a:ext cx="7772400" cy="640080"/>
          </a:xfrm>
          <a:prstGeom prst="rect">
            <a:avLst/>
          </a:prstGeom>
          <a:noFill/>
          <a:ln/>
        </p:spPr>
        <p:txBody>
          <a:bodyPr wrap="square" lIns="0" tIns="0" rIns="0" bIns="0" rtlCol="0" anchor="ctr"/>
          <a:lstStyle/>
          <a:p>
            <a:pPr marL="0" indent="0">
              <a:buNone/>
            </a:pPr>
            <a:r>
              <a:rPr lang="en-US" sz="1400" b="1" dirty="0">
                <a:solidFill>
                  <a:srgbClr val="F5C9A6"/>
                </a:solidFill>
              </a:rPr>
              <a:t>Focus: </a:t>
            </a:r>
            <a:r>
              <a:rPr lang="en-US" sz="1400" b="1" dirty="0">
                <a:solidFill>
                  <a:srgbClr val="FFFFFF"/>
                </a:solidFill>
              </a:rPr>
              <a:t>Whether an insurance association remains after socioeconomic adjustment.</a:t>
            </a:r>
            <a:endParaRPr lang="en-US" sz="14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6B6068"/>
                </a:solidFil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457200"/>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Data and Measures</a:t>
            </a:r>
            <a:endParaRPr lang="en-US" sz="2800" dirty="0"/>
          </a:p>
        </p:txBody>
      </p:sp>
      <p:sp>
        <p:nvSpPr>
          <p:cNvPr id="3" name="Source line"/>
          <p:cNvSpPr txBox="1"/>
          <p:nvPr/>
        </p:nvSpPr>
        <p:spPr>
          <a:xfrm>
            <a:off x="457200" y="960120"/>
            <a:ext cx="8229600" cy="320040"/>
          </a:xfrm>
          <a:prstGeom prst="rect">
            <a:avLst/>
          </a:prstGeom>
          <a:noFill/>
          <a:ln/>
        </p:spPr>
        <p:txBody>
          <a:bodyPr wrap="square" lIns="0" tIns="0" rIns="0" bIns="0" rtlCol="0" anchor="ctr"/>
          <a:lstStyle/>
          <a:p>
            <a:pPr marL="0" indent="0">
              <a:buNone/>
            </a:pPr>
            <a:r>
              <a:rPr lang="en-US" sz="1400" dirty="0">
                <a:solidFill>
                  <a:schemeClr val="accent5"/>
                </a:solidFill>
              </a:rPr>
              <a:t>Source: CDC/NCHS, NSFG 2022-2023 Female Respondent Public-Use File</a:t>
            </a:r>
            <a:endParaRPr lang="en-US" sz="1400" dirty="0"/>
          </a:p>
        </p:txBody>
      </p:sp>
      <p:sp>
        <p:nvSpPr>
          <p:cNvPr id="4" name="Stat card 1"/>
          <p:cNvSpPr/>
          <p:nvPr/>
        </p:nvSpPr>
        <p:spPr>
          <a:xfrm>
            <a:off x="457200" y="1478280"/>
            <a:ext cx="2468880" cy="1280160"/>
          </a:xfrm>
          <a:prstGeom prst="roundRect">
            <a:avLst>
              <a:gd name="adj" fmla="val 8571"/>
            </a:avLst>
          </a:prstGeom>
          <a:solidFill>
            <a:schemeClr val="tx2"/>
          </a:solidFill>
          <a:ln w="12700">
            <a:solidFill>
              <a:schemeClr val="tx2"/>
            </a:solidFill>
            <a:prstDash val="solid"/>
          </a:ln>
        </p:spPr>
        <p:txBody>
          <a:bodyPr/>
          <a:lstStyle/>
          <a:p>
            <a:endParaRPr lang="en-US"/>
          </a:p>
        </p:txBody>
      </p:sp>
      <p:sp>
        <p:nvSpPr>
          <p:cNvPr id="5" name="Stat number 1"/>
          <p:cNvSpPr txBox="1"/>
          <p:nvPr/>
        </p:nvSpPr>
        <p:spPr>
          <a:xfrm>
            <a:off x="457200" y="1569720"/>
            <a:ext cx="2468880" cy="685800"/>
          </a:xfrm>
          <a:prstGeom prst="rect">
            <a:avLst/>
          </a:prstGeom>
          <a:noFill/>
          <a:ln/>
        </p:spPr>
        <p:txBody>
          <a:bodyPr wrap="square" lIns="0" tIns="0" rIns="0" bIns="0" rtlCol="0" anchor="ctr"/>
          <a:lstStyle/>
          <a:p>
            <a:pPr marL="0" indent="0" algn="ctr">
              <a:buNone/>
            </a:pPr>
            <a:r>
              <a:rPr lang="en-US" sz="2800" b="1" dirty="0">
                <a:solidFill>
                  <a:schemeClr val="bg1"/>
                </a:solidFill>
                <a:latin typeface="Georgia Pro" pitchFamily="34" charset="0"/>
                <a:ea typeface="Georgia Pro" pitchFamily="34" charset="-122"/>
                <a:cs typeface="Georgia Pro" pitchFamily="34" charset="-120"/>
              </a:rPr>
              <a:t>5,586</a:t>
            </a:r>
            <a:endParaRPr lang="en-US" sz="2800" dirty="0"/>
          </a:p>
        </p:txBody>
      </p:sp>
      <p:sp>
        <p:nvSpPr>
          <p:cNvPr id="6" name="Stat label 1"/>
          <p:cNvSpPr txBox="1"/>
          <p:nvPr/>
        </p:nvSpPr>
        <p:spPr>
          <a:xfrm>
            <a:off x="548640" y="2255520"/>
            <a:ext cx="2286000" cy="365760"/>
          </a:xfrm>
          <a:prstGeom prst="rect">
            <a:avLst/>
          </a:prstGeom>
          <a:noFill/>
          <a:ln/>
        </p:spPr>
        <p:txBody>
          <a:bodyPr wrap="square" lIns="0" tIns="0" rIns="0" bIns="0" rtlCol="0" anchor="t"/>
          <a:lstStyle/>
          <a:p>
            <a:pPr marL="0" indent="0" algn="ctr">
              <a:buNone/>
            </a:pPr>
            <a:r>
              <a:rPr lang="en-US" sz="1400" dirty="0">
                <a:solidFill>
                  <a:schemeClr val="bg1"/>
                </a:solidFill>
              </a:rPr>
              <a:t>Original sample: respondents</a:t>
            </a:r>
            <a:endParaRPr lang="en-US" sz="1400" dirty="0"/>
          </a:p>
        </p:txBody>
      </p:sp>
      <p:sp>
        <p:nvSpPr>
          <p:cNvPr id="7" name="Stat card 2"/>
          <p:cNvSpPr/>
          <p:nvPr/>
        </p:nvSpPr>
        <p:spPr>
          <a:xfrm>
            <a:off x="457200" y="2941320"/>
            <a:ext cx="2468880" cy="1280160"/>
          </a:xfrm>
          <a:prstGeom prst="roundRect">
            <a:avLst>
              <a:gd name="adj" fmla="val 8571"/>
            </a:avLst>
          </a:prstGeom>
          <a:solidFill>
            <a:schemeClr val="accent1"/>
          </a:solidFill>
          <a:ln w="12700">
            <a:solidFill>
              <a:schemeClr val="accent1"/>
            </a:solidFill>
            <a:prstDash val="solid"/>
          </a:ln>
        </p:spPr>
        <p:txBody>
          <a:bodyPr/>
          <a:lstStyle/>
          <a:p>
            <a:endParaRPr lang="en-US"/>
          </a:p>
        </p:txBody>
      </p:sp>
      <p:sp>
        <p:nvSpPr>
          <p:cNvPr id="8" name="Stat number 2"/>
          <p:cNvSpPr txBox="1"/>
          <p:nvPr/>
        </p:nvSpPr>
        <p:spPr>
          <a:xfrm>
            <a:off x="457200" y="3032760"/>
            <a:ext cx="2468880" cy="685800"/>
          </a:xfrm>
          <a:prstGeom prst="rect">
            <a:avLst/>
          </a:prstGeom>
          <a:noFill/>
          <a:ln/>
        </p:spPr>
        <p:txBody>
          <a:bodyPr wrap="square" lIns="0" tIns="0" rIns="0" bIns="0" rtlCol="0" anchor="ctr"/>
          <a:lstStyle/>
          <a:p>
            <a:pPr marL="0" indent="0" algn="ctr">
              <a:buNone/>
            </a:pPr>
            <a:r>
              <a:rPr lang="en-US" sz="2800" b="1" dirty="0">
                <a:solidFill>
                  <a:schemeClr val="bg1"/>
                </a:solidFill>
                <a:latin typeface="Georgia Pro" pitchFamily="34" charset="0"/>
                <a:ea typeface="Georgia Pro" pitchFamily="34" charset="-122"/>
                <a:cs typeface="Georgia Pro" pitchFamily="34" charset="-120"/>
              </a:rPr>
              <a:t>5,195</a:t>
            </a:r>
            <a:endParaRPr lang="en-US" sz="2800" dirty="0"/>
          </a:p>
        </p:txBody>
      </p:sp>
      <p:sp>
        <p:nvSpPr>
          <p:cNvPr id="9" name="Stat label 2"/>
          <p:cNvSpPr txBox="1"/>
          <p:nvPr/>
        </p:nvSpPr>
        <p:spPr>
          <a:xfrm>
            <a:off x="548640" y="3718560"/>
            <a:ext cx="2286000" cy="365760"/>
          </a:xfrm>
          <a:prstGeom prst="rect">
            <a:avLst/>
          </a:prstGeom>
          <a:noFill/>
          <a:ln/>
        </p:spPr>
        <p:txBody>
          <a:bodyPr wrap="square" lIns="0" tIns="0" rIns="0" bIns="0" rtlCol="0" anchor="t"/>
          <a:lstStyle/>
          <a:p>
            <a:pPr marL="0" indent="0" algn="ctr">
              <a:buNone/>
            </a:pPr>
            <a:r>
              <a:rPr lang="en-US" sz="1400" dirty="0">
                <a:solidFill>
                  <a:schemeClr val="bg1"/>
                </a:solidFill>
              </a:rPr>
              <a:t>Analysis sample: respondents</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3697009885"/>
              </p:ext>
            </p:extLst>
          </p:nvPr>
        </p:nvGraphicFramePr>
        <p:xfrm>
          <a:off x="3200400" y="1463040"/>
          <a:ext cx="5486400" cy="2697480"/>
        </p:xfrm>
        <a:graphic>
          <a:graphicData uri="http://schemas.openxmlformats.org/drawingml/2006/table">
            <a:tbl>
              <a:tblPr/>
              <a:tblGrid>
                <a:gridCol w="1684867">
                  <a:extLst>
                    <a:ext uri="{9D8B030D-6E8A-4147-A177-3AD203B41FA5}">
                      <a16:colId xmlns:a16="http://schemas.microsoft.com/office/drawing/2014/main" val="20000"/>
                    </a:ext>
                  </a:extLst>
                </a:gridCol>
                <a:gridCol w="3801533">
                  <a:extLst>
                    <a:ext uri="{9D8B030D-6E8A-4147-A177-3AD203B41FA5}">
                      <a16:colId xmlns:a16="http://schemas.microsoft.com/office/drawing/2014/main" val="20001"/>
                    </a:ext>
                  </a:extLst>
                </a:gridCol>
              </a:tblGrid>
              <a:tr h="411480">
                <a:tc>
                  <a:txBody>
                    <a:bodyPr/>
                    <a:lstStyle/>
                    <a:p>
                      <a:pPr marL="0" indent="0">
                        <a:buNone/>
                      </a:pPr>
                      <a:r>
                        <a:rPr lang="en-US" sz="1400" b="1" dirty="0">
                          <a:solidFill>
                            <a:srgbClr val="FFFFFF"/>
                          </a:solidFill>
                        </a:rPr>
                        <a:t>Role</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buNone/>
                      </a:pPr>
                      <a:r>
                        <a:rPr lang="en-US" sz="1400" b="1" dirty="0">
                          <a:solidFill>
                            <a:srgbClr val="FFFFFF"/>
                          </a:solidFill>
                        </a:rPr>
                        <a:t>Measure</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extLst>
                  <a:ext uri="{0D108BD9-81ED-4DB2-BD59-A6C34878D82A}">
                    <a16:rowId xmlns:a16="http://schemas.microsoft.com/office/drawing/2014/main" val="10000"/>
                  </a:ext>
                </a:extLst>
              </a:tr>
              <a:tr h="594360">
                <a:tc>
                  <a:txBody>
                    <a:bodyPr/>
                    <a:lstStyle/>
                    <a:p>
                      <a:pPr marL="0" indent="0">
                        <a:buNone/>
                      </a:pPr>
                      <a:r>
                        <a:rPr lang="en-US" sz="1400" b="1" dirty="0">
                          <a:solidFill>
                            <a:srgbClr val="C8540F"/>
                          </a:solidFill>
                        </a:rPr>
                        <a:t>Outcome</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Ever received medical help to become pregnant: yes/no</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400" b="1" dirty="0">
                          <a:solidFill>
                            <a:srgbClr val="C8540F"/>
                          </a:solidFill>
                        </a:rPr>
                        <a:t>Main predictor</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Current insurance type*</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2"/>
                  </a:ext>
                </a:extLst>
              </a:tr>
              <a:tr h="594360">
                <a:tc>
                  <a:txBody>
                    <a:bodyPr/>
                    <a:lstStyle/>
                    <a:p>
                      <a:pPr marL="0" indent="0">
                        <a:buNone/>
                      </a:pPr>
                      <a:r>
                        <a:rPr lang="en-US" sz="1400" b="1" dirty="0">
                          <a:solidFill>
                            <a:srgbClr val="C8540F"/>
                          </a:solidFill>
                        </a:rPr>
                        <a:t>Controls</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Age, income relative to poverty threshold, education</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400" b="1" dirty="0">
                          <a:solidFill>
                            <a:srgbClr val="C8540F"/>
                          </a:solidFill>
                        </a:rPr>
                        <a:t>Survey information</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Analysis weights, strata, and clusters</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Coverage groups note"/>
          <p:cNvSpPr txBox="1"/>
          <p:nvPr/>
        </p:nvSpPr>
        <p:spPr>
          <a:xfrm>
            <a:off x="3200400" y="4297680"/>
            <a:ext cx="5486400" cy="457200"/>
          </a:xfrm>
          <a:prstGeom prst="rect">
            <a:avLst/>
          </a:prstGeom>
          <a:noFill/>
          <a:ln/>
        </p:spPr>
        <p:txBody>
          <a:bodyPr wrap="square" lIns="0" tIns="0" rIns="0" bIns="0" rtlCol="0" anchor="t"/>
          <a:lstStyle/>
          <a:p>
            <a:pPr marL="0" indent="0">
              <a:buNone/>
            </a:pPr>
            <a:r>
              <a:rPr lang="en-US" sz="1100" dirty="0">
                <a:solidFill>
                  <a:schemeClr val="accent5"/>
                </a:solidFill>
              </a:rPr>
              <a:t>*Coverage groups: Private/Medi-Gap, Medicaid/CHIP/state, other government, and single-service/IHS/uninsured.</a:t>
            </a:r>
            <a:endParaRPr lang="en-US" sz="11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6B6068"/>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868680"/>
          </a:xfrm>
          <a:prstGeom prst="rect">
            <a:avLst/>
          </a:prstGeom>
          <a:noFill/>
          <a:ln/>
        </p:spPr>
        <p:txBody>
          <a:bodyPr wrap="square" lIns="0" tIns="0" rIns="0" bIns="0" rtlCol="0" anchor="t"/>
          <a:lstStyle/>
          <a:p>
            <a:r>
              <a:rPr lang="en-US" dirty="0"/>
              <a:t>Could Differences in Age, Income, and Education Help Explain the Gap?</a:t>
            </a:r>
            <a:br>
              <a:rPr lang="en-US" dirty="0"/>
            </a:br>
            <a:endParaRPr lang="en-US" dirty="0"/>
          </a:p>
        </p:txBody>
      </p:sp>
      <p:graphicFrame>
        <p:nvGraphicFramePr>
          <p:cNvPr id="8" name="Table 0"/>
          <p:cNvGraphicFramePr>
            <a:graphicFrameLocks noGrp="1"/>
          </p:cNvGraphicFramePr>
          <p:nvPr>
            <p:extLst>
              <p:ext uri="{D42A27DB-BD31-4B8C-83A1-F6EECF244321}">
                <p14:modId xmlns:p14="http://schemas.microsoft.com/office/powerpoint/2010/main" val="4197732272"/>
              </p:ext>
            </p:extLst>
          </p:nvPr>
        </p:nvGraphicFramePr>
        <p:xfrm>
          <a:off x="457200" y="3479292"/>
          <a:ext cx="8229600" cy="1024128"/>
        </p:xfrm>
        <a:graphic>
          <a:graphicData uri="http://schemas.openxmlformats.org/drawingml/2006/table">
            <a:tbl>
              <a:tblPr/>
              <a:tblGrid>
                <a:gridCol w="40233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Characteristic</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Private</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Medicaid/CHIP/state</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extLst>
                  <a:ext uri="{0D108BD9-81ED-4DB2-BD59-A6C34878D82A}">
                    <a16:rowId xmlns:a16="http://schemas.microsoft.com/office/drawing/2014/main" val="10000"/>
                  </a:ext>
                </a:extLst>
              </a:tr>
              <a:tr h="256032">
                <a:tc>
                  <a:txBody>
                    <a:bodyPr/>
                    <a:lstStyle/>
                    <a:p>
                      <a:pPr marL="0" indent="0">
                        <a:buNone/>
                      </a:pPr>
                      <a:r>
                        <a:rPr lang="en-US" sz="1100" b="1" dirty="0">
                          <a:solidFill>
                            <a:srgbClr val="3A1F3D"/>
                          </a:solidFill>
                        </a:rPr>
                        <a:t>Mean age</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dirty="0">
                          <a:solidFill>
                            <a:srgbClr val="000000"/>
                          </a:solidFill>
                        </a:rPr>
                        <a:t>34.1</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dirty="0">
                          <a:solidFill>
                            <a:srgbClr val="000000"/>
                          </a:solidFill>
                        </a:rPr>
                        <a:t>30.9</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buNone/>
                      </a:pPr>
                      <a:r>
                        <a:rPr lang="en-US" sz="1100" b="1" dirty="0">
                          <a:solidFill>
                            <a:srgbClr val="3A1F3D"/>
                          </a:solidFill>
                        </a:rPr>
                        <a:t>Mean income as % of poverty threshold</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dirty="0">
                          <a:solidFill>
                            <a:srgbClr val="000000"/>
                          </a:solidFill>
                        </a:rPr>
                        <a:t>407%</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dirty="0">
                          <a:solidFill>
                            <a:srgbClr val="000000"/>
                          </a:solidFill>
                        </a:rPr>
                        <a:t>168%</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2"/>
                  </a:ext>
                </a:extLst>
              </a:tr>
              <a:tr h="256032">
                <a:tc>
                  <a:txBody>
                    <a:bodyPr/>
                    <a:lstStyle/>
                    <a:p>
                      <a:pPr marL="0" indent="0">
                        <a:buNone/>
                      </a:pPr>
                      <a:r>
                        <a:rPr lang="en-US" sz="1100" b="1" dirty="0">
                          <a:solidFill>
                            <a:srgbClr val="3A1F3D"/>
                          </a:solidFill>
                        </a:rPr>
                        <a:t>Bachelor’s degree or higher</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dirty="0">
                          <a:solidFill>
                            <a:srgbClr val="000000"/>
                          </a:solidFill>
                        </a:rPr>
                        <a:t>54.2%</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dirty="0">
                          <a:solidFill>
                            <a:srgbClr val="000000"/>
                          </a:solidFill>
                        </a:rPr>
                        <a:t>11.7%</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akeaway"/>
          <p:cNvSpPr txBox="1"/>
          <p:nvPr/>
        </p:nvSpPr>
        <p:spPr>
          <a:xfrm>
            <a:off x="457200" y="4549140"/>
            <a:ext cx="8229600" cy="320040"/>
          </a:xfrm>
          <a:prstGeom prst="rect">
            <a:avLst/>
          </a:prstGeom>
          <a:noFill/>
          <a:ln/>
        </p:spPr>
        <p:txBody>
          <a:bodyPr wrap="square" lIns="0" tIns="0" rIns="0" bIns="0" rtlCol="0" anchor="ctr"/>
          <a:lstStyle/>
          <a:p>
            <a:pPr marL="0" indent="0">
              <a:buNone/>
            </a:pPr>
            <a:r>
              <a:rPr lang="en-US" sz="1400" b="1" i="1" dirty="0">
                <a:solidFill>
                  <a:schemeClr val="tx2"/>
                </a:solidFill>
              </a:rPr>
              <a:t>These differences motivate statistical adjustment.</a:t>
            </a:r>
            <a:endParaRPr lang="en-US" sz="14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6B6068"/>
                </a:solidFill>
              </a:defRPr>
            </a:lvl1pPr>
          </a:lstStyle>
          <a:p>
            <a:pPr algn="l"/>
            <a:fld id="{F7021451-1387-4CA6-816F-3879F97B5CBC}" type="slidenum">
              <a:rPr lang="en-US" b="0"/>
              <a:t>6</a:t>
            </a:fld>
            <a:endParaRPr lang="en-US"/>
          </a:p>
        </p:txBody>
      </p:sp>
      <p:pic>
        <p:nvPicPr>
          <p:cNvPr id="11" name="Picture 10" descr="A comparison of a bar chart&#10;&#10;AI-generated content may be incorrect.">
            <a:extLst>
              <a:ext uri="{FF2B5EF4-FFF2-40B4-BE49-F238E27FC236}">
                <a16:creationId xmlns:a16="http://schemas.microsoft.com/office/drawing/2014/main" id="{8309AC1A-33C4-5A90-045F-E9A55954AF4F}"/>
              </a:ext>
            </a:extLst>
          </p:cNvPr>
          <p:cNvPicPr>
            <a:picLocks noChangeAspect="1"/>
          </p:cNvPicPr>
          <p:nvPr/>
        </p:nvPicPr>
        <p:blipFill>
          <a:blip r:embed="rId3"/>
          <a:stretch>
            <a:fillRect/>
          </a:stretch>
        </p:blipFill>
        <p:spPr>
          <a:xfrm>
            <a:off x="513348" y="1243584"/>
            <a:ext cx="4781815" cy="2075688"/>
          </a:xfrm>
          <a:prstGeom prst="rect">
            <a:avLst/>
          </a:prstGeom>
        </p:spPr>
      </p:pic>
      <p:pic>
        <p:nvPicPr>
          <p:cNvPr id="13" name="Picture 12" descr="A graph of blue squares&#10;&#10;AI-generated content may be incorrect.">
            <a:extLst>
              <a:ext uri="{FF2B5EF4-FFF2-40B4-BE49-F238E27FC236}">
                <a16:creationId xmlns:a16="http://schemas.microsoft.com/office/drawing/2014/main" id="{7D4B351D-23DF-DD06-FE1C-9B2694B2B2B3}"/>
              </a:ext>
            </a:extLst>
          </p:cNvPr>
          <p:cNvPicPr>
            <a:picLocks noChangeAspect="1"/>
          </p:cNvPicPr>
          <p:nvPr/>
        </p:nvPicPr>
        <p:blipFill>
          <a:blip r:embed="rId4"/>
          <a:stretch>
            <a:fillRect/>
          </a:stretch>
        </p:blipFill>
        <p:spPr>
          <a:xfrm>
            <a:off x="5498228" y="1348740"/>
            <a:ext cx="3445245" cy="170794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6FA19-818E-FDE1-9B18-895E2E0B5B9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EC63845-2B4E-798A-A928-F52B22B6DCC7}"/>
              </a:ext>
            </a:extLst>
          </p:cNvPr>
          <p:cNvSpPr>
            <a:spLocks noGrp="1"/>
          </p:cNvSpPr>
          <p:nvPr>
            <p:ph type="title" idx="100" hasCustomPrompt="1"/>
          </p:nvPr>
        </p:nvSpPr>
        <p:spPr>
          <a:xfrm>
            <a:off x="457200" y="410008"/>
            <a:ext cx="8229600" cy="868680"/>
          </a:xfrm>
          <a:prstGeom prst="rect">
            <a:avLst/>
          </a:prstGeom>
          <a:noFill/>
          <a:ln/>
        </p:spPr>
        <p:txBody>
          <a:bodyPr wrap="square" lIns="0" tIns="0" rIns="0" bIns="0" rtlCol="0" anchor="t"/>
          <a:lstStyle/>
          <a:p>
            <a:pPr marL="0" indent="0" algn="ctr">
              <a:buNone/>
            </a:pPr>
            <a:r>
              <a:rPr lang="en-US" sz="2800" b="1" dirty="0">
                <a:solidFill>
                  <a:schemeClr val="tx2"/>
                </a:solidFill>
              </a:rPr>
              <a:t>Help Receipt Also Varies with </a:t>
            </a:r>
            <a:br>
              <a:rPr lang="en-US" sz="2800" b="1" dirty="0">
                <a:solidFill>
                  <a:schemeClr val="tx2"/>
                </a:solidFill>
              </a:rPr>
            </a:br>
            <a:r>
              <a:rPr lang="en-US" sz="2800" b="1" dirty="0">
                <a:solidFill>
                  <a:schemeClr val="tx2"/>
                </a:solidFill>
              </a:rPr>
              <a:t>Age, Income, and Education</a:t>
            </a:r>
            <a:endParaRPr lang="en-US" sz="2800" dirty="0"/>
          </a:p>
        </p:txBody>
      </p:sp>
      <p:sp>
        <p:nvSpPr>
          <p:cNvPr id="3" name="Panel card 1">
            <a:extLst>
              <a:ext uri="{FF2B5EF4-FFF2-40B4-BE49-F238E27FC236}">
                <a16:creationId xmlns:a16="http://schemas.microsoft.com/office/drawing/2014/main" id="{874883CF-BEBE-96E4-0D1A-38C7A22446B8}"/>
              </a:ext>
            </a:extLst>
          </p:cNvPr>
          <p:cNvSpPr/>
          <p:nvPr/>
        </p:nvSpPr>
        <p:spPr>
          <a:xfrm>
            <a:off x="177944" y="1606270"/>
            <a:ext cx="2804128" cy="2584422"/>
          </a:xfrm>
          <a:prstGeom prst="roundRect">
            <a:avLst>
              <a:gd name="adj" fmla="val 4225"/>
            </a:avLst>
          </a:prstGeom>
          <a:solidFill>
            <a:schemeClr val="bg2"/>
          </a:solidFill>
          <a:ln w="12700">
            <a:solidFill>
              <a:schemeClr val="bg2"/>
            </a:solidFill>
            <a:prstDash val="solid"/>
          </a:ln>
        </p:spPr>
        <p:txBody>
          <a:bodyPr/>
          <a:lstStyle/>
          <a:p>
            <a:endParaRPr lang="en-US"/>
          </a:p>
        </p:txBody>
      </p:sp>
      <p:sp>
        <p:nvSpPr>
          <p:cNvPr id="4" name="Panel heading 1">
            <a:extLst>
              <a:ext uri="{FF2B5EF4-FFF2-40B4-BE49-F238E27FC236}">
                <a16:creationId xmlns:a16="http://schemas.microsoft.com/office/drawing/2014/main" id="{0F7084C4-75F4-99AA-990B-9C182396A295}"/>
              </a:ext>
            </a:extLst>
          </p:cNvPr>
          <p:cNvSpPr txBox="1"/>
          <p:nvPr/>
        </p:nvSpPr>
        <p:spPr>
          <a:xfrm>
            <a:off x="447552" y="1669774"/>
            <a:ext cx="2322576" cy="365760"/>
          </a:xfrm>
          <a:prstGeom prst="rect">
            <a:avLst/>
          </a:prstGeom>
          <a:noFill/>
          <a:ln/>
        </p:spPr>
        <p:txBody>
          <a:bodyPr wrap="square" lIns="0" tIns="0" rIns="0" bIns="0" rtlCol="0" anchor="ctr"/>
          <a:lstStyle/>
          <a:p>
            <a:pPr marL="0" indent="0">
              <a:buNone/>
            </a:pPr>
            <a:r>
              <a:rPr lang="en-US" sz="1400" b="1" dirty="0">
                <a:solidFill>
                  <a:schemeClr val="tx2"/>
                </a:solidFill>
              </a:rPr>
              <a:t>Age</a:t>
            </a:r>
            <a:endParaRPr lang="en-US" sz="1400" dirty="0"/>
          </a:p>
        </p:txBody>
      </p:sp>
      <p:sp>
        <p:nvSpPr>
          <p:cNvPr id="7" name="Panel annotation 1">
            <a:extLst>
              <a:ext uri="{FF2B5EF4-FFF2-40B4-BE49-F238E27FC236}">
                <a16:creationId xmlns:a16="http://schemas.microsoft.com/office/drawing/2014/main" id="{2D6F9400-141D-8DC9-31FA-A9D54C382C08}"/>
              </a:ext>
            </a:extLst>
          </p:cNvPr>
          <p:cNvSpPr txBox="1"/>
          <p:nvPr/>
        </p:nvSpPr>
        <p:spPr>
          <a:xfrm>
            <a:off x="418720" y="3683989"/>
            <a:ext cx="2322576" cy="504305"/>
          </a:xfrm>
          <a:prstGeom prst="rect">
            <a:avLst/>
          </a:prstGeom>
          <a:noFill/>
          <a:ln/>
        </p:spPr>
        <p:txBody>
          <a:bodyPr wrap="square" lIns="0" tIns="0" rIns="0" bIns="0" rtlCol="0" anchor="t"/>
          <a:lstStyle/>
          <a:p>
            <a:pPr marL="0" indent="0" algn="ctr">
              <a:buNone/>
            </a:pPr>
            <a:r>
              <a:rPr lang="en-US" sz="1400" dirty="0">
                <a:solidFill>
                  <a:schemeClr val="tx1"/>
                </a:solidFill>
              </a:rPr>
              <a:t>1.5% at 15 - 24, </a:t>
            </a:r>
          </a:p>
          <a:p>
            <a:pPr marL="0" indent="0">
              <a:buNone/>
            </a:pPr>
            <a:r>
              <a:rPr lang="en-US" sz="1400" dirty="0">
                <a:solidFill>
                  <a:schemeClr val="tx1"/>
                </a:solidFill>
              </a:rPr>
              <a:t>compared with 15.5% at 35 - 44</a:t>
            </a:r>
            <a:endParaRPr lang="en-US" sz="1400" dirty="0"/>
          </a:p>
        </p:txBody>
      </p:sp>
      <p:sp>
        <p:nvSpPr>
          <p:cNvPr id="8" name="Panel card 2">
            <a:extLst>
              <a:ext uri="{FF2B5EF4-FFF2-40B4-BE49-F238E27FC236}">
                <a16:creationId xmlns:a16="http://schemas.microsoft.com/office/drawing/2014/main" id="{30AD1AEC-E0D9-0099-FB64-AC8853DA7EEC}"/>
              </a:ext>
            </a:extLst>
          </p:cNvPr>
          <p:cNvSpPr/>
          <p:nvPr/>
        </p:nvSpPr>
        <p:spPr>
          <a:xfrm>
            <a:off x="3174196" y="1603873"/>
            <a:ext cx="2804128" cy="2584422"/>
          </a:xfrm>
          <a:prstGeom prst="roundRect">
            <a:avLst>
              <a:gd name="adj" fmla="val 4225"/>
            </a:avLst>
          </a:prstGeom>
          <a:solidFill>
            <a:schemeClr val="bg2"/>
          </a:solidFill>
          <a:ln w="12700">
            <a:solidFill>
              <a:schemeClr val="bg2"/>
            </a:solidFill>
            <a:prstDash val="solid"/>
          </a:ln>
        </p:spPr>
        <p:txBody>
          <a:bodyPr/>
          <a:lstStyle/>
          <a:p>
            <a:endParaRPr lang="en-US"/>
          </a:p>
        </p:txBody>
      </p:sp>
      <p:sp>
        <p:nvSpPr>
          <p:cNvPr id="9" name="Panel heading 2">
            <a:extLst>
              <a:ext uri="{FF2B5EF4-FFF2-40B4-BE49-F238E27FC236}">
                <a16:creationId xmlns:a16="http://schemas.microsoft.com/office/drawing/2014/main" id="{64EB0511-B993-DC81-0C0A-05145EE730AB}"/>
              </a:ext>
            </a:extLst>
          </p:cNvPr>
          <p:cNvSpPr txBox="1"/>
          <p:nvPr/>
        </p:nvSpPr>
        <p:spPr>
          <a:xfrm>
            <a:off x="3542042" y="1652580"/>
            <a:ext cx="2322576" cy="365760"/>
          </a:xfrm>
          <a:prstGeom prst="rect">
            <a:avLst/>
          </a:prstGeom>
          <a:noFill/>
          <a:ln/>
        </p:spPr>
        <p:txBody>
          <a:bodyPr wrap="square" lIns="0" tIns="0" rIns="0" bIns="0" rtlCol="0" anchor="ctr"/>
          <a:lstStyle/>
          <a:p>
            <a:pPr marL="0" indent="0">
              <a:buNone/>
            </a:pPr>
            <a:r>
              <a:rPr lang="en-US" sz="1400" b="1" dirty="0">
                <a:solidFill>
                  <a:schemeClr val="tx2"/>
                </a:solidFill>
              </a:rPr>
              <a:t>Income</a:t>
            </a:r>
            <a:endParaRPr lang="en-US" sz="1400" dirty="0"/>
          </a:p>
        </p:txBody>
      </p:sp>
      <p:sp>
        <p:nvSpPr>
          <p:cNvPr id="12" name="Panel annotation 2">
            <a:extLst>
              <a:ext uri="{FF2B5EF4-FFF2-40B4-BE49-F238E27FC236}">
                <a16:creationId xmlns:a16="http://schemas.microsoft.com/office/drawing/2014/main" id="{87F0816A-2CEE-251C-7B81-6DD9C81F3A00}"/>
              </a:ext>
            </a:extLst>
          </p:cNvPr>
          <p:cNvSpPr txBox="1"/>
          <p:nvPr/>
        </p:nvSpPr>
        <p:spPr>
          <a:xfrm>
            <a:off x="3240420" y="3683990"/>
            <a:ext cx="2624198" cy="504305"/>
          </a:xfrm>
          <a:prstGeom prst="rect">
            <a:avLst/>
          </a:prstGeom>
          <a:noFill/>
          <a:ln/>
        </p:spPr>
        <p:txBody>
          <a:bodyPr wrap="square" lIns="0" tIns="0" rIns="0" bIns="0" rtlCol="0" anchor="t"/>
          <a:lstStyle/>
          <a:p>
            <a:pPr marL="0" indent="0" algn="ctr">
              <a:buNone/>
            </a:pPr>
            <a:r>
              <a:rPr lang="en-US" sz="1400" dirty="0">
                <a:solidFill>
                  <a:schemeClr val="tx1"/>
                </a:solidFill>
              </a:rPr>
              <a:t>4.5% at ≤100% of poverty, compared with 13.9% above 400%</a:t>
            </a:r>
            <a:endParaRPr lang="en-US" sz="1400" dirty="0"/>
          </a:p>
        </p:txBody>
      </p:sp>
      <p:sp>
        <p:nvSpPr>
          <p:cNvPr id="25" name="Slide Number Placeholder 0">
            <a:extLst>
              <a:ext uri="{FF2B5EF4-FFF2-40B4-BE49-F238E27FC236}">
                <a16:creationId xmlns:a16="http://schemas.microsoft.com/office/drawing/2014/main" id="{C526386D-4BCD-DFAA-8F80-83CBBCEAB5CE}"/>
              </a:ext>
            </a:extLst>
          </p:cNvPr>
          <p:cNvSpPr>
            <a:spLocks noGrp="1"/>
          </p:cNvSpPr>
          <p:nvPr>
            <p:ph type="sldNum" sz="quarter" idx="4294967295"/>
          </p:nvPr>
        </p:nvSpPr>
        <p:spPr>
          <a:xfrm>
            <a:off x="832104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6B6068"/>
                </a:solidFill>
              </a:defRPr>
            </a:lvl1pPr>
          </a:lstStyle>
          <a:p>
            <a:pPr algn="l"/>
            <a:fld id="{F7021451-1387-4CA6-816F-3879F97B5CBC}" type="slidenum">
              <a:rPr lang="en-US" b="0"/>
              <a:t>7</a:t>
            </a:fld>
            <a:endParaRPr lang="en-US"/>
          </a:p>
        </p:txBody>
      </p:sp>
      <p:pic>
        <p:nvPicPr>
          <p:cNvPr id="20" name="Picture 19" descr="A graph of a bar graph&#10;&#10;AI-generated content may be incorrect.">
            <a:extLst>
              <a:ext uri="{FF2B5EF4-FFF2-40B4-BE49-F238E27FC236}">
                <a16:creationId xmlns:a16="http://schemas.microsoft.com/office/drawing/2014/main" id="{B8045F61-3E5B-2712-A65D-65E4DEF00AF5}"/>
              </a:ext>
            </a:extLst>
          </p:cNvPr>
          <p:cNvPicPr>
            <a:picLocks noChangeAspect="1"/>
          </p:cNvPicPr>
          <p:nvPr/>
        </p:nvPicPr>
        <p:blipFill>
          <a:blip r:embed="rId3"/>
          <a:stretch>
            <a:fillRect/>
          </a:stretch>
        </p:blipFill>
        <p:spPr>
          <a:xfrm>
            <a:off x="246908" y="2063613"/>
            <a:ext cx="2624199" cy="1439607"/>
          </a:xfrm>
          <a:prstGeom prst="rect">
            <a:avLst/>
          </a:prstGeom>
        </p:spPr>
      </p:pic>
      <p:pic>
        <p:nvPicPr>
          <p:cNvPr id="24" name="Picture 23" descr="A graph of blue rectangles&#10;&#10;AI-generated content may be incorrect.">
            <a:extLst>
              <a:ext uri="{FF2B5EF4-FFF2-40B4-BE49-F238E27FC236}">
                <a16:creationId xmlns:a16="http://schemas.microsoft.com/office/drawing/2014/main" id="{037C94B4-0F4F-3C4D-1A04-5AB00FEBEB2D}"/>
              </a:ext>
            </a:extLst>
          </p:cNvPr>
          <p:cNvPicPr>
            <a:picLocks noChangeAspect="1"/>
          </p:cNvPicPr>
          <p:nvPr/>
        </p:nvPicPr>
        <p:blipFill>
          <a:blip r:embed="rId4"/>
          <a:stretch>
            <a:fillRect/>
          </a:stretch>
        </p:blipFill>
        <p:spPr>
          <a:xfrm>
            <a:off x="3240420" y="2054973"/>
            <a:ext cx="2624199" cy="1439608"/>
          </a:xfrm>
          <a:prstGeom prst="rect">
            <a:avLst/>
          </a:prstGeom>
        </p:spPr>
      </p:pic>
      <p:sp>
        <p:nvSpPr>
          <p:cNvPr id="19" name="Panel card 3">
            <a:extLst>
              <a:ext uri="{FF2B5EF4-FFF2-40B4-BE49-F238E27FC236}">
                <a16:creationId xmlns:a16="http://schemas.microsoft.com/office/drawing/2014/main" id="{33461023-3BD4-DB93-1B40-8A5AB7643DB9}"/>
              </a:ext>
            </a:extLst>
          </p:cNvPr>
          <p:cNvSpPr/>
          <p:nvPr/>
        </p:nvSpPr>
        <p:spPr>
          <a:xfrm>
            <a:off x="6170448" y="1603873"/>
            <a:ext cx="2804128" cy="2584422"/>
          </a:xfrm>
          <a:prstGeom prst="roundRect">
            <a:avLst>
              <a:gd name="adj" fmla="val 4225"/>
            </a:avLst>
          </a:prstGeom>
          <a:solidFill>
            <a:schemeClr val="bg2"/>
          </a:solidFill>
          <a:ln w="12700">
            <a:solidFill>
              <a:schemeClr val="bg2"/>
            </a:solidFill>
            <a:prstDash val="solid"/>
          </a:ln>
        </p:spPr>
        <p:txBody>
          <a:bodyPr/>
          <a:lstStyle/>
          <a:p>
            <a:endParaRPr lang="en-US"/>
          </a:p>
        </p:txBody>
      </p:sp>
      <p:sp>
        <p:nvSpPr>
          <p:cNvPr id="21" name="Panel heading 3">
            <a:extLst>
              <a:ext uri="{FF2B5EF4-FFF2-40B4-BE49-F238E27FC236}">
                <a16:creationId xmlns:a16="http://schemas.microsoft.com/office/drawing/2014/main" id="{F129CB31-016A-C650-E0B2-425B1C4C83A6}"/>
              </a:ext>
            </a:extLst>
          </p:cNvPr>
          <p:cNvSpPr txBox="1"/>
          <p:nvPr/>
        </p:nvSpPr>
        <p:spPr>
          <a:xfrm>
            <a:off x="6720964" y="1669774"/>
            <a:ext cx="2322576" cy="365760"/>
          </a:xfrm>
          <a:prstGeom prst="rect">
            <a:avLst/>
          </a:prstGeom>
          <a:noFill/>
          <a:ln/>
        </p:spPr>
        <p:txBody>
          <a:bodyPr wrap="square" lIns="0" tIns="0" rIns="0" bIns="0" rtlCol="0" anchor="ctr"/>
          <a:lstStyle/>
          <a:p>
            <a:pPr marL="0" indent="0">
              <a:buNone/>
            </a:pPr>
            <a:r>
              <a:rPr lang="en-US" sz="1400" b="1" dirty="0">
                <a:solidFill>
                  <a:schemeClr val="tx2"/>
                </a:solidFill>
              </a:rPr>
              <a:t>Education</a:t>
            </a:r>
            <a:endParaRPr lang="en-US" sz="1400" dirty="0"/>
          </a:p>
        </p:txBody>
      </p:sp>
      <p:sp>
        <p:nvSpPr>
          <p:cNvPr id="23" name="Panel annotation 3">
            <a:extLst>
              <a:ext uri="{FF2B5EF4-FFF2-40B4-BE49-F238E27FC236}">
                <a16:creationId xmlns:a16="http://schemas.microsoft.com/office/drawing/2014/main" id="{6748EC2F-03CB-532C-9A0F-87C8BF9F4829}"/>
              </a:ext>
            </a:extLst>
          </p:cNvPr>
          <p:cNvSpPr txBox="1"/>
          <p:nvPr/>
        </p:nvSpPr>
        <p:spPr>
          <a:xfrm>
            <a:off x="6281471" y="3689917"/>
            <a:ext cx="2693105" cy="411978"/>
          </a:xfrm>
          <a:prstGeom prst="rect">
            <a:avLst/>
          </a:prstGeom>
          <a:noFill/>
          <a:ln/>
        </p:spPr>
        <p:txBody>
          <a:bodyPr wrap="square" lIns="0" tIns="0" rIns="0" bIns="0" rtlCol="0" anchor="t"/>
          <a:lstStyle/>
          <a:p>
            <a:pPr marL="0" indent="0" algn="ctr">
              <a:buNone/>
            </a:pPr>
            <a:r>
              <a:rPr lang="en-US" sz="1400" dirty="0">
                <a:solidFill>
                  <a:schemeClr val="tx1"/>
                </a:solidFill>
              </a:rPr>
              <a:t>4.3% below high school, compared with 15.1% for bachelor’s or higher</a:t>
            </a:r>
            <a:endParaRPr lang="en-US" sz="1400" dirty="0"/>
          </a:p>
        </p:txBody>
      </p:sp>
      <p:pic>
        <p:nvPicPr>
          <p:cNvPr id="26" name="Picture 25" descr="A graph of a bar graph&#10;&#10;AI-generated content may be incorrect.">
            <a:extLst>
              <a:ext uri="{FF2B5EF4-FFF2-40B4-BE49-F238E27FC236}">
                <a16:creationId xmlns:a16="http://schemas.microsoft.com/office/drawing/2014/main" id="{DE36A22E-F3FB-8488-9CBB-9B8A8894E96A}"/>
              </a:ext>
            </a:extLst>
          </p:cNvPr>
          <p:cNvPicPr>
            <a:picLocks noChangeAspect="1"/>
          </p:cNvPicPr>
          <p:nvPr/>
        </p:nvPicPr>
        <p:blipFill>
          <a:blip r:embed="rId5"/>
          <a:stretch>
            <a:fillRect/>
          </a:stretch>
        </p:blipFill>
        <p:spPr>
          <a:xfrm>
            <a:off x="6288349" y="2060900"/>
            <a:ext cx="2620087" cy="1439608"/>
          </a:xfrm>
          <a:prstGeom prst="rect">
            <a:avLst/>
          </a:prstGeom>
        </p:spPr>
      </p:pic>
    </p:spTree>
    <p:extLst>
      <p:ext uri="{BB962C8B-B14F-4D97-AF65-F5344CB8AC3E}">
        <p14:creationId xmlns:p14="http://schemas.microsoft.com/office/powerpoint/2010/main" val="1748086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460756"/>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The Insurance Pattern Within Age Groups</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671775674"/>
              </p:ext>
            </p:extLst>
          </p:nvPr>
        </p:nvGraphicFramePr>
        <p:xfrm>
          <a:off x="5394960" y="1325880"/>
          <a:ext cx="3291840" cy="1874520"/>
        </p:xfrm>
        <a:graphic>
          <a:graphicData uri="http://schemas.openxmlformats.org/drawingml/2006/table">
            <a:tbl>
              <a:tblPr/>
              <a:tblGrid>
                <a:gridCol w="10058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502920">
                <a:tc>
                  <a:txBody>
                    <a:bodyPr/>
                    <a:lstStyle/>
                    <a:p>
                      <a:pPr marL="0" indent="0" algn="ctr">
                        <a:buNone/>
                      </a:pPr>
                      <a:r>
                        <a:rPr lang="en-US" sz="1100" b="1" dirty="0">
                          <a:solidFill>
                            <a:srgbClr val="FFFFFF"/>
                          </a:solidFill>
                        </a:rPr>
                        <a:t>Age group</a:t>
                      </a:r>
                      <a:endParaRPr lang="en-US" sz="11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Private</a:t>
                      </a:r>
                      <a:endParaRPr lang="en-US" sz="11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Medicaid/ CHIP/state</a:t>
                      </a:r>
                      <a:endParaRPr lang="en-US" sz="11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extLst>
                  <a:ext uri="{0D108BD9-81ED-4DB2-BD59-A6C34878D82A}">
                    <a16:rowId xmlns:a16="http://schemas.microsoft.com/office/drawing/2014/main" val="10000"/>
                  </a:ext>
                </a:extLst>
              </a:tr>
              <a:tr h="457200">
                <a:tc>
                  <a:txBody>
                    <a:bodyPr/>
                    <a:lstStyle/>
                    <a:p>
                      <a:pPr marL="0" indent="0">
                        <a:buNone/>
                      </a:pPr>
                      <a:r>
                        <a:rPr lang="en-US" sz="1100" b="1" dirty="0">
                          <a:solidFill>
                            <a:srgbClr val="3A1F3D"/>
                          </a:solidFill>
                        </a:rPr>
                        <a:t>25 - 34</a:t>
                      </a:r>
                      <a:endParaRPr lang="en-US" sz="11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400" b="1" dirty="0">
                          <a:solidFill>
                            <a:srgbClr val="000000"/>
                          </a:solidFill>
                        </a:rPr>
                        <a:t>11.1%</a:t>
                      </a:r>
                      <a:endParaRPr lang="en-US" sz="14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400" b="1" dirty="0">
                          <a:solidFill>
                            <a:srgbClr val="000000"/>
                          </a:solidFill>
                        </a:rPr>
                        <a:t>2.8%</a:t>
                      </a:r>
                      <a:endParaRPr lang="en-US" sz="14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100" b="1" dirty="0">
                          <a:solidFill>
                            <a:srgbClr val="3A1F3D"/>
                          </a:solidFill>
                        </a:rPr>
                        <a:t>35 - 44</a:t>
                      </a:r>
                      <a:endParaRPr lang="en-US" sz="11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400" b="1" dirty="0">
                          <a:solidFill>
                            <a:srgbClr val="000000"/>
                          </a:solidFill>
                        </a:rPr>
                        <a:t>18.4%</a:t>
                      </a:r>
                      <a:endParaRPr lang="en-US" sz="14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400" b="1" dirty="0">
                          <a:solidFill>
                            <a:srgbClr val="000000"/>
                          </a:solidFill>
                        </a:rPr>
                        <a:t>6.3%</a:t>
                      </a:r>
                      <a:endParaRPr lang="en-US" sz="14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100" b="1" dirty="0">
                          <a:solidFill>
                            <a:srgbClr val="3A1F3D"/>
                          </a:solidFill>
                        </a:rPr>
                        <a:t>45 - 50</a:t>
                      </a:r>
                      <a:endParaRPr lang="en-US" sz="11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400" b="1" dirty="0">
                          <a:solidFill>
                            <a:srgbClr val="000000"/>
                          </a:solidFill>
                        </a:rPr>
                        <a:t>18.8%</a:t>
                      </a:r>
                      <a:endParaRPr lang="en-US" sz="14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400" b="1" dirty="0">
                          <a:solidFill>
                            <a:srgbClr val="000000"/>
                          </a:solidFill>
                        </a:rPr>
                        <a:t>8.5%</a:t>
                      </a:r>
                      <a:endParaRPr lang="en-US" sz="14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Exception card"/>
          <p:cNvSpPr/>
          <p:nvPr/>
        </p:nvSpPr>
        <p:spPr>
          <a:xfrm>
            <a:off x="5394960" y="3291840"/>
            <a:ext cx="3291840" cy="914400"/>
          </a:xfrm>
          <a:prstGeom prst="roundRect">
            <a:avLst>
              <a:gd name="adj" fmla="val 12000"/>
            </a:avLst>
          </a:prstGeom>
          <a:solidFill>
            <a:schemeClr val="bg2"/>
          </a:solidFill>
          <a:ln w="12700">
            <a:solidFill>
              <a:schemeClr val="bg2"/>
            </a:solidFill>
            <a:prstDash val="solid"/>
          </a:ln>
        </p:spPr>
        <p:txBody>
          <a:bodyPr/>
          <a:lstStyle/>
          <a:p>
            <a:endParaRPr lang="en-US"/>
          </a:p>
        </p:txBody>
      </p:sp>
      <p:sp>
        <p:nvSpPr>
          <p:cNvPr id="7" name="Exception text"/>
          <p:cNvSpPr txBox="1"/>
          <p:nvPr/>
        </p:nvSpPr>
        <p:spPr>
          <a:xfrm>
            <a:off x="5532120" y="3291840"/>
            <a:ext cx="3017520" cy="914400"/>
          </a:xfrm>
          <a:prstGeom prst="rect">
            <a:avLst/>
          </a:prstGeom>
          <a:noFill/>
          <a:ln/>
        </p:spPr>
        <p:txBody>
          <a:bodyPr wrap="square" lIns="0" tIns="0" rIns="0" bIns="0" rtlCol="0" anchor="ctr"/>
          <a:lstStyle/>
          <a:p>
            <a:pPr marL="0" indent="0">
              <a:buNone/>
            </a:pPr>
            <a:r>
              <a:rPr lang="en-US" sz="1400" b="1" dirty="0">
                <a:solidFill>
                  <a:srgbClr val="7B3F6E"/>
                </a:solidFill>
              </a:rPr>
              <a:t>Exception at 15 - 24: </a:t>
            </a:r>
            <a:r>
              <a:rPr lang="en-US" sz="1400" dirty="0">
                <a:solidFill>
                  <a:srgbClr val="2B2330"/>
                </a:solidFill>
              </a:rPr>
              <a:t>Medicaid respondents have the higher rate. Some cells are small.</a:t>
            </a:r>
            <a:endParaRPr lang="en-US" sz="1400" dirty="0"/>
          </a:p>
        </p:txBody>
      </p:sp>
      <p:sp>
        <p:nvSpPr>
          <p:cNvPr id="8" name="Takeaway"/>
          <p:cNvSpPr txBox="1"/>
          <p:nvPr/>
        </p:nvSpPr>
        <p:spPr>
          <a:xfrm>
            <a:off x="457200" y="4297680"/>
            <a:ext cx="8229600" cy="320040"/>
          </a:xfrm>
          <a:prstGeom prst="rect">
            <a:avLst/>
          </a:prstGeom>
          <a:noFill/>
          <a:ln/>
        </p:spPr>
        <p:txBody>
          <a:bodyPr wrap="square" lIns="0" tIns="0" rIns="0" bIns="0" rtlCol="0" anchor="ctr"/>
          <a:lstStyle/>
          <a:p>
            <a:pPr marL="0" indent="0">
              <a:buNone/>
            </a:pPr>
            <a:r>
              <a:rPr lang="en-US" sz="1400" b="1" i="1" dirty="0">
                <a:solidFill>
                  <a:schemeClr val="tx2"/>
                </a:solidFill>
              </a:rPr>
              <a:t>Private coverage has higher rates within each age group from age 25 onward.</a:t>
            </a:r>
            <a:endParaRPr lang="en-US" sz="14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6B6068"/>
                </a:solidFill>
              </a:defRPr>
            </a:lvl1pPr>
          </a:lstStyle>
          <a:p>
            <a:pPr algn="l"/>
            <a:fld id="{F7021451-1387-4CA6-816F-3879F97B5CBC}" type="slidenum">
              <a:rPr lang="en-US" b="0"/>
              <a:t>8</a:t>
            </a:fld>
            <a:endParaRPr lang="en-US"/>
          </a:p>
        </p:txBody>
      </p:sp>
      <p:pic>
        <p:nvPicPr>
          <p:cNvPr id="11" name="Picture 10" descr="A blue squares with white text&#10;&#10;AI-generated content may be incorrect.">
            <a:extLst>
              <a:ext uri="{FF2B5EF4-FFF2-40B4-BE49-F238E27FC236}">
                <a16:creationId xmlns:a16="http://schemas.microsoft.com/office/drawing/2014/main" id="{66F0CC79-D5C2-7A3C-165C-02F0835DEF0D}"/>
              </a:ext>
            </a:extLst>
          </p:cNvPr>
          <p:cNvPicPr>
            <a:picLocks noChangeAspect="1"/>
          </p:cNvPicPr>
          <p:nvPr/>
        </p:nvPicPr>
        <p:blipFill>
          <a:blip r:embed="rId3"/>
          <a:stretch>
            <a:fillRect/>
          </a:stretch>
        </p:blipFill>
        <p:spPr>
          <a:xfrm>
            <a:off x="213040" y="1361440"/>
            <a:ext cx="5044760" cy="27990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88620"/>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Statistical Approach</a:t>
            </a:r>
            <a:endParaRPr lang="en-US" sz="2800" dirty="0"/>
          </a:p>
        </p:txBody>
      </p:sp>
      <p:sp>
        <p:nvSpPr>
          <p:cNvPr id="3" name="Method subtitle"/>
          <p:cNvSpPr txBox="1"/>
          <p:nvPr/>
        </p:nvSpPr>
        <p:spPr>
          <a:xfrm>
            <a:off x="457200" y="777240"/>
            <a:ext cx="2844800" cy="365760"/>
          </a:xfrm>
          <a:prstGeom prst="rect">
            <a:avLst/>
          </a:prstGeom>
          <a:noFill/>
          <a:ln/>
        </p:spPr>
        <p:txBody>
          <a:bodyPr wrap="square" lIns="0" tIns="0" rIns="0" bIns="0" rtlCol="0" anchor="ctr"/>
          <a:lstStyle/>
          <a:p>
            <a:pPr marL="0" indent="0">
              <a:buNone/>
            </a:pPr>
            <a:r>
              <a:rPr lang="en-US" sz="1400" b="1" dirty="0">
                <a:solidFill>
                  <a:schemeClr val="accent1"/>
                </a:solidFill>
              </a:rPr>
              <a:t>Survey-weighted logistic regression</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902882308"/>
              </p:ext>
            </p:extLst>
          </p:nvPr>
        </p:nvGraphicFramePr>
        <p:xfrm>
          <a:off x="457200" y="1325880"/>
          <a:ext cx="5212080" cy="2697480"/>
        </p:xfrm>
        <a:graphic>
          <a:graphicData uri="http://schemas.openxmlformats.org/drawingml/2006/table">
            <a:tbl>
              <a:tblPr/>
              <a:tblGrid>
                <a:gridCol w="1921933">
                  <a:extLst>
                    <a:ext uri="{9D8B030D-6E8A-4147-A177-3AD203B41FA5}">
                      <a16:colId xmlns:a16="http://schemas.microsoft.com/office/drawing/2014/main" val="20000"/>
                    </a:ext>
                  </a:extLst>
                </a:gridCol>
                <a:gridCol w="3290147">
                  <a:extLst>
                    <a:ext uri="{9D8B030D-6E8A-4147-A177-3AD203B41FA5}">
                      <a16:colId xmlns:a16="http://schemas.microsoft.com/office/drawing/2014/main" val="20001"/>
                    </a:ext>
                  </a:extLst>
                </a:gridCol>
              </a:tblGrid>
              <a:tr h="365760">
                <a:tc>
                  <a:txBody>
                    <a:bodyPr/>
                    <a:lstStyle/>
                    <a:p>
                      <a:pPr marL="0" indent="0">
                        <a:buNone/>
                      </a:pPr>
                      <a:r>
                        <a:rPr lang="en-US" sz="1400" b="1" dirty="0">
                          <a:solidFill>
                            <a:srgbClr val="FFFFFF"/>
                          </a:solidFill>
                        </a:rPr>
                        <a:t>Model component</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buNone/>
                      </a:pPr>
                      <a:r>
                        <a:rPr lang="en-US" sz="1400" b="1" dirty="0">
                          <a:solidFill>
                            <a:srgbClr val="FFFFFF"/>
                          </a:solidFill>
                        </a:rPr>
                        <a:t>Specification</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extLst>
                  <a:ext uri="{0D108BD9-81ED-4DB2-BD59-A6C34878D82A}">
                    <a16:rowId xmlns:a16="http://schemas.microsoft.com/office/drawing/2014/main" val="10000"/>
                  </a:ext>
                </a:extLst>
              </a:tr>
              <a:tr h="502920">
                <a:tc>
                  <a:txBody>
                    <a:bodyPr/>
                    <a:lstStyle/>
                    <a:p>
                      <a:pPr marL="0" indent="0">
                        <a:buNone/>
                      </a:pPr>
                      <a:r>
                        <a:rPr lang="en-US" sz="1400" b="1" dirty="0">
                          <a:solidFill>
                            <a:srgbClr val="C8540F"/>
                          </a:solidFill>
                        </a:rPr>
                        <a:t>Outcome</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Ever received medical help: 1 = yes, 0 = no</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400" b="1" dirty="0">
                          <a:solidFill>
                            <a:srgbClr val="C8540F"/>
                          </a:solidFill>
                        </a:rPr>
                        <a:t>Main predictor</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Current insurance category</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400" b="1" dirty="0">
                          <a:solidFill>
                            <a:srgbClr val="C8540F"/>
                          </a:solidFill>
                        </a:rPr>
                        <a:t>Controls</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Age, income, education</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400" b="1" dirty="0">
                          <a:solidFill>
                            <a:srgbClr val="C8540F"/>
                          </a:solidFill>
                        </a:rPr>
                        <a:t>Insurance reference</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Private/Medi-Gap</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400" b="1" dirty="0">
                          <a:solidFill>
                            <a:srgbClr val="C8540F"/>
                          </a:solidFill>
                        </a:rPr>
                        <a:t>Education reference</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Less than high school</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OR heading"/>
          <p:cNvSpPr txBox="1"/>
          <p:nvPr/>
        </p:nvSpPr>
        <p:spPr>
          <a:xfrm>
            <a:off x="5989320" y="777240"/>
            <a:ext cx="2697480" cy="365760"/>
          </a:xfrm>
          <a:prstGeom prst="rect">
            <a:avLst/>
          </a:prstGeom>
          <a:noFill/>
          <a:ln/>
        </p:spPr>
        <p:txBody>
          <a:bodyPr wrap="square" lIns="0" tIns="0" rIns="0" bIns="0" rtlCol="0" anchor="ctr"/>
          <a:lstStyle/>
          <a:p>
            <a:pPr marL="0" indent="0">
              <a:buNone/>
            </a:pPr>
            <a:r>
              <a:rPr lang="en-US" sz="1400" b="1" dirty="0">
                <a:solidFill>
                  <a:schemeClr val="tx2"/>
                </a:solidFill>
              </a:rPr>
              <a:t>Odds ratio interpretation</a:t>
            </a:r>
            <a:endParaRPr lang="en-US" sz="1400" dirty="0"/>
          </a:p>
        </p:txBody>
      </p:sp>
      <p:sp>
        <p:nvSpPr>
          <p:cNvPr id="6" name="OR card 1"/>
          <p:cNvSpPr/>
          <p:nvPr/>
        </p:nvSpPr>
        <p:spPr>
          <a:xfrm>
            <a:off x="5989320" y="1234440"/>
            <a:ext cx="2697480" cy="731520"/>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7" name="OR badge 1"/>
          <p:cNvSpPr/>
          <p:nvPr/>
        </p:nvSpPr>
        <p:spPr>
          <a:xfrm>
            <a:off x="6080760" y="1325880"/>
            <a:ext cx="548640" cy="548640"/>
          </a:xfrm>
          <a:prstGeom prst="ellipse">
            <a:avLst/>
          </a:prstGeom>
          <a:solidFill>
            <a:schemeClr val="accent5"/>
          </a:solidFill>
          <a:ln w="12700">
            <a:solidFill>
              <a:schemeClr val="accent5"/>
            </a:solidFill>
            <a:prstDash val="solid"/>
          </a:ln>
        </p:spPr>
        <p:txBody>
          <a:bodyPr/>
          <a:lstStyle/>
          <a:p>
            <a:endParaRPr lang="en-US"/>
          </a:p>
        </p:txBody>
      </p:sp>
      <p:sp>
        <p:nvSpPr>
          <p:cNvPr id="8" name="OR badge text 1"/>
          <p:cNvSpPr txBox="1"/>
          <p:nvPr/>
        </p:nvSpPr>
        <p:spPr>
          <a:xfrm>
            <a:off x="6080760" y="1325880"/>
            <a:ext cx="548640" cy="54864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9" name="OR text 1"/>
          <p:cNvSpPr txBox="1"/>
          <p:nvPr/>
        </p:nvSpPr>
        <p:spPr>
          <a:xfrm>
            <a:off x="6720840" y="1280160"/>
            <a:ext cx="1874520" cy="640080"/>
          </a:xfrm>
          <a:prstGeom prst="rect">
            <a:avLst/>
          </a:prstGeom>
          <a:noFill/>
          <a:ln/>
        </p:spPr>
        <p:txBody>
          <a:bodyPr wrap="square" lIns="0" tIns="0" rIns="0" bIns="0" rtlCol="0" anchor="ctr"/>
          <a:lstStyle/>
          <a:p>
            <a:pPr marL="0" indent="0">
              <a:buNone/>
            </a:pPr>
            <a:r>
              <a:rPr lang="en-US" sz="1400" dirty="0">
                <a:solidFill>
                  <a:schemeClr val="tx1"/>
                </a:solidFill>
              </a:rPr>
              <a:t>Equal odds relative to the reference</a:t>
            </a:r>
            <a:endParaRPr lang="en-US" sz="1400" dirty="0"/>
          </a:p>
        </p:txBody>
      </p:sp>
      <p:sp>
        <p:nvSpPr>
          <p:cNvPr id="10" name="OR card 2"/>
          <p:cNvSpPr/>
          <p:nvPr/>
        </p:nvSpPr>
        <p:spPr>
          <a:xfrm>
            <a:off x="5989320" y="2103120"/>
            <a:ext cx="2697480" cy="731520"/>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4" name="OR badge 2"/>
          <p:cNvSpPr/>
          <p:nvPr/>
        </p:nvSpPr>
        <p:spPr>
          <a:xfrm>
            <a:off x="6080760" y="2194560"/>
            <a:ext cx="548640" cy="548640"/>
          </a:xfrm>
          <a:prstGeom prst="ellipse">
            <a:avLst/>
          </a:prstGeom>
          <a:solidFill>
            <a:schemeClr val="accent2"/>
          </a:solidFill>
          <a:ln w="12700">
            <a:solidFill>
              <a:schemeClr val="accent2"/>
            </a:solidFill>
            <a:prstDash val="solid"/>
          </a:ln>
        </p:spPr>
        <p:txBody>
          <a:bodyPr/>
          <a:lstStyle/>
          <a:p>
            <a:endParaRPr lang="en-US"/>
          </a:p>
        </p:txBody>
      </p:sp>
      <p:sp>
        <p:nvSpPr>
          <p:cNvPr id="12" name="OR badge text 2"/>
          <p:cNvSpPr txBox="1"/>
          <p:nvPr/>
        </p:nvSpPr>
        <p:spPr>
          <a:xfrm>
            <a:off x="6080760" y="2194560"/>
            <a:ext cx="548640" cy="548640"/>
          </a:xfrm>
          <a:prstGeom prst="rect">
            <a:avLst/>
          </a:prstGeom>
          <a:noFill/>
          <a:ln/>
        </p:spPr>
        <p:txBody>
          <a:bodyPr wrap="square" lIns="0" tIns="0" rIns="0" bIns="0" rtlCol="0" anchor="ctr"/>
          <a:lstStyle/>
          <a:p>
            <a:pPr marL="0" indent="0" algn="ctr">
              <a:buNone/>
            </a:pPr>
            <a:r>
              <a:rPr lang="en-US" sz="1400" b="1" dirty="0">
                <a:solidFill>
                  <a:schemeClr val="bg1"/>
                </a:solidFill>
              </a:rPr>
              <a:t>&lt; 1</a:t>
            </a:r>
            <a:endParaRPr lang="en-US" sz="1400" dirty="0"/>
          </a:p>
        </p:txBody>
      </p:sp>
      <p:sp>
        <p:nvSpPr>
          <p:cNvPr id="13" name="OR text 2"/>
          <p:cNvSpPr txBox="1"/>
          <p:nvPr/>
        </p:nvSpPr>
        <p:spPr>
          <a:xfrm>
            <a:off x="6720840" y="2148840"/>
            <a:ext cx="1874520" cy="640080"/>
          </a:xfrm>
          <a:prstGeom prst="rect">
            <a:avLst/>
          </a:prstGeom>
          <a:noFill/>
          <a:ln/>
        </p:spPr>
        <p:txBody>
          <a:bodyPr wrap="square" lIns="0" tIns="0" rIns="0" bIns="0" rtlCol="0" anchor="ctr"/>
          <a:lstStyle/>
          <a:p>
            <a:pPr marL="0" indent="0">
              <a:buNone/>
            </a:pPr>
            <a:r>
              <a:rPr lang="en-US" sz="1400" dirty="0">
                <a:solidFill>
                  <a:schemeClr val="tx1"/>
                </a:solidFill>
              </a:rPr>
              <a:t>Lower odds</a:t>
            </a:r>
            <a:endParaRPr lang="en-US" sz="1400" dirty="0"/>
          </a:p>
        </p:txBody>
      </p:sp>
      <p:sp>
        <p:nvSpPr>
          <p:cNvPr id="14" name="OR card 3"/>
          <p:cNvSpPr/>
          <p:nvPr/>
        </p:nvSpPr>
        <p:spPr>
          <a:xfrm>
            <a:off x="5989320" y="2971800"/>
            <a:ext cx="2697480" cy="731520"/>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15" name="OR badge 3"/>
          <p:cNvSpPr/>
          <p:nvPr/>
        </p:nvSpPr>
        <p:spPr>
          <a:xfrm>
            <a:off x="6080760" y="3063240"/>
            <a:ext cx="548640" cy="548640"/>
          </a:xfrm>
          <a:prstGeom prst="ellipse">
            <a:avLst/>
          </a:prstGeom>
          <a:solidFill>
            <a:schemeClr val="accent1"/>
          </a:solidFill>
          <a:ln w="12700">
            <a:solidFill>
              <a:schemeClr val="accent1"/>
            </a:solidFill>
            <a:prstDash val="solid"/>
          </a:ln>
        </p:spPr>
        <p:txBody>
          <a:bodyPr/>
          <a:lstStyle/>
          <a:p>
            <a:endParaRPr lang="en-US"/>
          </a:p>
        </p:txBody>
      </p:sp>
      <p:sp>
        <p:nvSpPr>
          <p:cNvPr id="16" name="OR badge text 3"/>
          <p:cNvSpPr txBox="1"/>
          <p:nvPr/>
        </p:nvSpPr>
        <p:spPr>
          <a:xfrm>
            <a:off x="6080760" y="3063240"/>
            <a:ext cx="548640" cy="548640"/>
          </a:xfrm>
          <a:prstGeom prst="rect">
            <a:avLst/>
          </a:prstGeom>
          <a:noFill/>
          <a:ln/>
        </p:spPr>
        <p:txBody>
          <a:bodyPr wrap="square" lIns="0" tIns="0" rIns="0" bIns="0" rtlCol="0" anchor="ctr"/>
          <a:lstStyle/>
          <a:p>
            <a:pPr marL="0" indent="0" algn="ctr">
              <a:buNone/>
            </a:pPr>
            <a:r>
              <a:rPr lang="en-US" sz="1400" b="1" dirty="0">
                <a:solidFill>
                  <a:schemeClr val="bg1"/>
                </a:solidFill>
              </a:rPr>
              <a:t>&gt; 1</a:t>
            </a:r>
            <a:endParaRPr lang="en-US" sz="1400" dirty="0"/>
          </a:p>
        </p:txBody>
      </p:sp>
      <p:sp>
        <p:nvSpPr>
          <p:cNvPr id="17" name="OR text 3"/>
          <p:cNvSpPr txBox="1"/>
          <p:nvPr/>
        </p:nvSpPr>
        <p:spPr>
          <a:xfrm>
            <a:off x="6720840" y="3017520"/>
            <a:ext cx="1874520" cy="640080"/>
          </a:xfrm>
          <a:prstGeom prst="rect">
            <a:avLst/>
          </a:prstGeom>
          <a:noFill/>
          <a:ln/>
        </p:spPr>
        <p:txBody>
          <a:bodyPr wrap="square" lIns="0" tIns="0" rIns="0" bIns="0" rtlCol="0" anchor="ctr"/>
          <a:lstStyle/>
          <a:p>
            <a:pPr marL="0" indent="0">
              <a:buNone/>
            </a:pPr>
            <a:r>
              <a:rPr lang="en-US" sz="1400" dirty="0">
                <a:solidFill>
                  <a:schemeClr val="tx1"/>
                </a:solidFill>
              </a:rPr>
              <a:t>Higher odds</a:t>
            </a:r>
            <a:endParaRPr lang="en-US" sz="14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6B6068"/>
                </a:solidFill>
              </a:defRPr>
            </a:lvl1pPr>
          </a:lstStyle>
          <a:p>
            <a:pPr algn="l"/>
            <a:fld id="{F7021451-1387-4CA6-816F-3879F97B5CBC}" type="slidenum">
              <a:rPr lang="en-US" b="0"/>
              <a:t>9</a:t>
            </a:fld>
            <a:endParaRPr lang="en-US"/>
          </a:p>
        </p:txBody>
      </p:sp>
      <p:sp>
        <p:nvSpPr>
          <p:cNvPr id="20" name="TextBox 19">
            <a:extLst>
              <a:ext uri="{FF2B5EF4-FFF2-40B4-BE49-F238E27FC236}">
                <a16:creationId xmlns:a16="http://schemas.microsoft.com/office/drawing/2014/main" id="{1BFC5980-8A55-7013-F59D-FE65EFC39064}"/>
              </a:ext>
            </a:extLst>
          </p:cNvPr>
          <p:cNvSpPr txBox="1"/>
          <p:nvPr/>
        </p:nvSpPr>
        <p:spPr>
          <a:xfrm>
            <a:off x="5989321" y="3833515"/>
            <a:ext cx="2697480" cy="830997"/>
          </a:xfrm>
          <a:prstGeom prst="rect">
            <a:avLst/>
          </a:prstGeom>
          <a:noFill/>
        </p:spPr>
        <p:txBody>
          <a:bodyPr wrap="square">
            <a:spAutoFit/>
          </a:bodyPr>
          <a:lstStyle/>
          <a:p>
            <a:pPr algn="l">
              <a:buNone/>
            </a:pPr>
            <a:r>
              <a:rPr lang="en-US" sz="1200" dirty="0">
                <a:solidFill>
                  <a:srgbClr val="000000"/>
                </a:solidFill>
              </a:rPr>
              <a:t>For example, </a:t>
            </a:r>
            <a:r>
              <a:rPr lang="en-US" sz="1200" b="0" i="0" u="none" strike="noStrike" dirty="0">
                <a:solidFill>
                  <a:srgbClr val="000000"/>
                </a:solidFill>
                <a:effectLst/>
              </a:rPr>
              <a:t>value below one indicates that a respondent is less likely to report receiving help, conditional on the model’s other variables.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3427"/>
            <a:ext cx="8229600" cy="868680"/>
          </a:xfrm>
          <a:prstGeom prst="rect">
            <a:avLst/>
          </a:prstGeom>
          <a:noFill/>
          <a:ln/>
        </p:spPr>
        <p:txBody>
          <a:bodyPr wrap="square" lIns="0" tIns="0" rIns="0" bIns="0" rtlCol="0" anchor="t"/>
          <a:lstStyle/>
          <a:p>
            <a:r>
              <a:rPr lang="en-US" dirty="0"/>
              <a:t>Differences Remain After Accounting </a:t>
            </a:r>
            <a:br>
              <a:rPr lang="en-US" dirty="0"/>
            </a:br>
            <a:r>
              <a:rPr lang="en-US" dirty="0"/>
              <a:t>for Age, Income, and Education</a:t>
            </a:r>
            <a:br>
              <a:rPr lang="en-US" b="0" dirty="0"/>
            </a:b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4055037273"/>
              </p:ext>
            </p:extLst>
          </p:nvPr>
        </p:nvGraphicFramePr>
        <p:xfrm>
          <a:off x="5577840" y="1405467"/>
          <a:ext cx="3108960" cy="1548384"/>
        </p:xfrm>
        <a:graphic>
          <a:graphicData uri="http://schemas.openxmlformats.org/drawingml/2006/table">
            <a:tbl>
              <a:tblPr/>
              <a:tblGrid>
                <a:gridCol w="15544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103293">
                <a:tc>
                  <a:txBody>
                    <a:bodyPr/>
                    <a:lstStyle/>
                    <a:p>
                      <a:pPr marL="0" indent="0" algn="l">
                        <a:buNone/>
                      </a:pPr>
                      <a:r>
                        <a:rPr lang="en-US" sz="1100" b="1" dirty="0">
                          <a:solidFill>
                            <a:srgbClr val="FFFFFF"/>
                          </a:solidFill>
                        </a:rPr>
                        <a:t>Vs. private</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Adj. OR</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95% CI</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extLst>
                  <a:ext uri="{0D108BD9-81ED-4DB2-BD59-A6C34878D82A}">
                    <a16:rowId xmlns:a16="http://schemas.microsoft.com/office/drawing/2014/main" val="10000"/>
                  </a:ext>
                </a:extLst>
              </a:tr>
              <a:tr h="411480">
                <a:tc>
                  <a:txBody>
                    <a:bodyPr/>
                    <a:lstStyle/>
                    <a:p>
                      <a:pPr marL="0" indent="0">
                        <a:buNone/>
                      </a:pPr>
                      <a:r>
                        <a:rPr lang="en-US" sz="1100" b="1" dirty="0">
                          <a:solidFill>
                            <a:srgbClr val="3A1F3D"/>
                          </a:solidFill>
                        </a:rPr>
                        <a:t>Medicaid/CHIP/state</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b="1" dirty="0">
                          <a:solidFill>
                            <a:srgbClr val="2B2330"/>
                          </a:solidFill>
                        </a:rPr>
                        <a:t>0.54</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b="1" dirty="0">
                          <a:solidFill>
                            <a:srgbClr val="2B2330"/>
                          </a:solidFill>
                        </a:rPr>
                        <a:t>0.36 - 0.81</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100" b="1" dirty="0">
                          <a:solidFill>
                            <a:srgbClr val="3A1F3D"/>
                          </a:solidFill>
                        </a:rPr>
                        <a:t>Other government</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b="1" dirty="0">
                          <a:solidFill>
                            <a:srgbClr val="2B2330"/>
                          </a:solidFill>
                        </a:rPr>
                        <a:t>0.86</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b="1" dirty="0">
                          <a:solidFill>
                            <a:srgbClr val="2B2330"/>
                          </a:solidFill>
                        </a:rPr>
                        <a:t>0.46 - 1.60</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100" b="1" dirty="0">
                          <a:solidFill>
                            <a:srgbClr val="3A1F3D"/>
                          </a:solidFill>
                        </a:rPr>
                        <a:t>Single-service/IHS/uninsured</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b="1" dirty="0">
                          <a:solidFill>
                            <a:srgbClr val="2B2330"/>
                          </a:solidFill>
                        </a:rPr>
                        <a:t>0.56</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b="1" dirty="0">
                          <a:solidFill>
                            <a:srgbClr val="2B2330"/>
                          </a:solidFill>
                        </a:rPr>
                        <a:t>0.32 - 0.97</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Comparison heading"/>
          <p:cNvSpPr txBox="1"/>
          <p:nvPr/>
        </p:nvSpPr>
        <p:spPr>
          <a:xfrm>
            <a:off x="5577840" y="3017520"/>
            <a:ext cx="3108960" cy="274320"/>
          </a:xfrm>
          <a:prstGeom prst="rect">
            <a:avLst/>
          </a:prstGeom>
          <a:noFill/>
          <a:ln/>
        </p:spPr>
        <p:txBody>
          <a:bodyPr wrap="square" lIns="0" tIns="0" rIns="0" bIns="0" rtlCol="0" anchor="ctr"/>
          <a:lstStyle/>
          <a:p>
            <a:pPr marL="0" indent="0">
              <a:buNone/>
            </a:pPr>
            <a:r>
              <a:rPr lang="en-US" sz="1100" b="1" dirty="0">
                <a:solidFill>
                  <a:schemeClr val="tx2"/>
                </a:solidFill>
              </a:rPr>
              <a:t>Before vs. after controls</a:t>
            </a:r>
            <a:endParaRPr lang="en-US" sz="11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577840" y="3310128"/>
          <a:ext cx="3108960" cy="1231392"/>
        </p:xfrm>
        <a:graphic>
          <a:graphicData uri="http://schemas.openxmlformats.org/drawingml/2006/table">
            <a:tbl>
              <a:tblPr/>
              <a:tblGrid>
                <a:gridCol w="173736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tblGrid>
              <a:tr h="274320">
                <a:tc>
                  <a:txBody>
                    <a:bodyPr/>
                    <a:lstStyle/>
                    <a:p>
                      <a:pPr marL="0" indent="0" algn="l">
                        <a:buNone/>
                      </a:pPr>
                      <a:r>
                        <a:rPr lang="en-US" sz="1100" b="1" dirty="0">
                          <a:solidFill>
                            <a:srgbClr val="FFFFFF"/>
                          </a:solidFill>
                        </a:rPr>
                        <a:t>Coverage</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Before</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After</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3A1F3D"/>
                          </a:solidFill>
                        </a:rPr>
                        <a:t>Medicaid/CHIP/state</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b="1" dirty="0">
                          <a:solidFill>
                            <a:srgbClr val="2B2330"/>
                          </a:solidFill>
                        </a:rPr>
                        <a:t>0.31</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b="1" dirty="0">
                          <a:solidFill>
                            <a:srgbClr val="7B3F6E"/>
                          </a:solidFill>
                        </a:rPr>
                        <a:t>0.54</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3A1F3D"/>
                          </a:solidFill>
                        </a:rPr>
                        <a:t>Other government</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b="1" dirty="0">
                          <a:solidFill>
                            <a:srgbClr val="2B2330"/>
                          </a:solidFill>
                        </a:rPr>
                        <a:t>0.58</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b="1" dirty="0">
                          <a:solidFill>
                            <a:srgbClr val="7B3F6E"/>
                          </a:solidFill>
                        </a:rPr>
                        <a:t>0.86</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100" b="1" dirty="0">
                          <a:solidFill>
                            <a:srgbClr val="3A1F3D"/>
                          </a:solidFill>
                        </a:rPr>
                        <a:t>Single-service/IHS/uninsured</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b="1" dirty="0">
                          <a:solidFill>
                            <a:srgbClr val="2B2330"/>
                          </a:solidFill>
                        </a:rPr>
                        <a:t>0.37</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b="1" dirty="0">
                          <a:solidFill>
                            <a:srgbClr val="7B3F6E"/>
                          </a:solidFill>
                        </a:rPr>
                        <a:t>0.56</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6B6068"/>
                </a:solidFill>
              </a:defRPr>
            </a:lvl1pPr>
          </a:lstStyle>
          <a:p>
            <a:pPr algn="l"/>
            <a:fld id="{F7021451-1387-4CA6-816F-3879F97B5CBC}" type="slidenum">
              <a:rPr lang="en-US" b="0"/>
              <a:t>10</a:t>
            </a:fld>
            <a:endParaRPr lang="en-US"/>
          </a:p>
        </p:txBody>
      </p:sp>
      <p:pic>
        <p:nvPicPr>
          <p:cNvPr id="7" name="Picture 6" descr="A graph of a number of people&#10;&#10;AI-generated content may be incorrect.">
            <a:extLst>
              <a:ext uri="{FF2B5EF4-FFF2-40B4-BE49-F238E27FC236}">
                <a16:creationId xmlns:a16="http://schemas.microsoft.com/office/drawing/2014/main" id="{35BFC900-B069-743F-71C7-42D3ECF74787}"/>
              </a:ext>
            </a:extLst>
          </p:cNvPr>
          <p:cNvPicPr>
            <a:picLocks noChangeAspect="1"/>
          </p:cNvPicPr>
          <p:nvPr/>
        </p:nvPicPr>
        <p:blipFill>
          <a:blip r:embed="rId3"/>
          <a:stretch>
            <a:fillRect/>
          </a:stretch>
        </p:blipFill>
        <p:spPr>
          <a:xfrm>
            <a:off x="457200" y="1905655"/>
            <a:ext cx="4815840" cy="187471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706121"/>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Prior Research and Study Limitations</a:t>
            </a:r>
            <a:endParaRPr lang="en-US" sz="2800" dirty="0"/>
          </a:p>
        </p:txBody>
      </p:sp>
      <p:sp>
        <p:nvSpPr>
          <p:cNvPr id="3" name="Prior research card"/>
          <p:cNvSpPr/>
          <p:nvPr/>
        </p:nvSpPr>
        <p:spPr>
          <a:xfrm>
            <a:off x="457200" y="1620521"/>
            <a:ext cx="4023360" cy="2743200"/>
          </a:xfrm>
          <a:prstGeom prst="roundRect">
            <a:avLst>
              <a:gd name="adj" fmla="val 4000"/>
            </a:avLst>
          </a:prstGeom>
          <a:solidFill>
            <a:schemeClr val="bg2"/>
          </a:solidFill>
          <a:ln w="12700">
            <a:solidFill>
              <a:schemeClr val="bg2"/>
            </a:solidFill>
            <a:prstDash val="solid"/>
          </a:ln>
        </p:spPr>
        <p:txBody>
          <a:bodyPr/>
          <a:lstStyle/>
          <a:p>
            <a:endParaRPr lang="en-US"/>
          </a:p>
        </p:txBody>
      </p:sp>
      <p:sp>
        <p:nvSpPr>
          <p:cNvPr id="4" name="Prior research heading"/>
          <p:cNvSpPr txBox="1"/>
          <p:nvPr/>
        </p:nvSpPr>
        <p:spPr>
          <a:xfrm>
            <a:off x="640080" y="1711961"/>
            <a:ext cx="3657600" cy="548640"/>
          </a:xfrm>
          <a:prstGeom prst="rect">
            <a:avLst/>
          </a:prstGeom>
          <a:noFill/>
          <a:ln/>
        </p:spPr>
        <p:txBody>
          <a:bodyPr wrap="square" lIns="0" tIns="0" rIns="0" bIns="0" rtlCol="0" anchor="ctr"/>
          <a:lstStyle/>
          <a:p>
            <a:pPr marL="0" indent="0">
              <a:buNone/>
            </a:pPr>
            <a:r>
              <a:rPr lang="en-US" sz="1400" b="1" dirty="0">
                <a:solidFill>
                  <a:srgbClr val="C8540F"/>
                </a:solidFill>
              </a:rPr>
              <a:t>Comparison with Eliason et al. (2023)</a:t>
            </a:r>
            <a:endParaRPr lang="en-US" sz="1400" dirty="0"/>
          </a:p>
        </p:txBody>
      </p:sp>
      <p:sp>
        <p:nvSpPr>
          <p:cNvPr id="5" name="Prior research bullets"/>
          <p:cNvSpPr txBox="1"/>
          <p:nvPr/>
        </p:nvSpPr>
        <p:spPr>
          <a:xfrm>
            <a:off x="640080" y="2306321"/>
            <a:ext cx="3657600" cy="1689946"/>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Earlier NSFG data: 2002–2019</a:t>
            </a:r>
            <a:endParaRPr lang="en-US" sz="1400" dirty="0"/>
          </a:p>
          <a:p>
            <a:pPr marL="342900" indent="-342900">
              <a:spcAft>
                <a:spcPts val="800"/>
              </a:spcAft>
              <a:buSzPct val="100000"/>
              <a:buChar char="•"/>
            </a:pPr>
            <a:r>
              <a:rPr lang="en-US" sz="1400" dirty="0">
                <a:solidFill>
                  <a:schemeClr val="tx1"/>
                </a:solidFill>
              </a:rPr>
              <a:t>Main outcome: past-year fertility-service use</a:t>
            </a:r>
            <a:endParaRPr lang="en-US" sz="1400" dirty="0"/>
          </a:p>
          <a:p>
            <a:pPr marL="342900" indent="-342900">
              <a:spcAft>
                <a:spcPts val="800"/>
              </a:spcAft>
              <a:buSzPct val="100000"/>
              <a:buChar char="•"/>
            </a:pPr>
            <a:r>
              <a:rPr lang="en-US" sz="1400" dirty="0">
                <a:solidFill>
                  <a:schemeClr val="tx1"/>
                </a:solidFill>
              </a:rPr>
              <a:t>Main population: respondents currently trying to conceive</a:t>
            </a:r>
            <a:endParaRPr lang="en-US" sz="1400" dirty="0"/>
          </a:p>
          <a:p>
            <a:pPr marL="342900" indent="-342900">
              <a:spcAft>
                <a:spcPts val="800"/>
              </a:spcAft>
              <a:buSzPct val="100000"/>
              <a:buChar char="•"/>
            </a:pPr>
            <a:r>
              <a:rPr lang="en-US" sz="1400" dirty="0">
                <a:solidFill>
                  <a:schemeClr val="tx1"/>
                </a:solidFill>
              </a:rPr>
              <a:t>Similar direction of the Medicaid - private disparity</a:t>
            </a:r>
            <a:endParaRPr lang="en-US" sz="1400" dirty="0"/>
          </a:p>
        </p:txBody>
      </p:sp>
      <p:sp>
        <p:nvSpPr>
          <p:cNvPr id="6" name="Limitations card"/>
          <p:cNvSpPr/>
          <p:nvPr/>
        </p:nvSpPr>
        <p:spPr>
          <a:xfrm>
            <a:off x="4663440" y="1620521"/>
            <a:ext cx="4023360" cy="2743200"/>
          </a:xfrm>
          <a:prstGeom prst="roundRect">
            <a:avLst>
              <a:gd name="adj" fmla="val 4000"/>
            </a:avLst>
          </a:prstGeom>
          <a:solidFill>
            <a:schemeClr val="bg2"/>
          </a:solidFill>
          <a:ln w="12700">
            <a:solidFill>
              <a:schemeClr val="bg2"/>
            </a:solidFill>
            <a:prstDash val="solid"/>
          </a:ln>
        </p:spPr>
        <p:txBody>
          <a:bodyPr/>
          <a:lstStyle/>
          <a:p>
            <a:endParaRPr lang="en-US"/>
          </a:p>
        </p:txBody>
      </p:sp>
      <p:sp>
        <p:nvSpPr>
          <p:cNvPr id="7" name="Limitations heading"/>
          <p:cNvSpPr txBox="1"/>
          <p:nvPr/>
        </p:nvSpPr>
        <p:spPr>
          <a:xfrm>
            <a:off x="4846320" y="1711961"/>
            <a:ext cx="3657600" cy="548640"/>
          </a:xfrm>
          <a:prstGeom prst="rect">
            <a:avLst/>
          </a:prstGeom>
          <a:noFill/>
          <a:ln/>
        </p:spPr>
        <p:txBody>
          <a:bodyPr wrap="square" lIns="0" tIns="0" rIns="0" bIns="0" rtlCol="0" anchor="ctr"/>
          <a:lstStyle/>
          <a:p>
            <a:pPr marL="0" indent="0">
              <a:buNone/>
            </a:pPr>
            <a:r>
              <a:rPr lang="en-US" sz="1400" b="1" dirty="0">
                <a:solidFill>
                  <a:srgbClr val="7B3F6E"/>
                </a:solidFill>
              </a:rPr>
              <a:t>Key limitations</a:t>
            </a:r>
            <a:endParaRPr lang="en-US" sz="1400" dirty="0"/>
          </a:p>
        </p:txBody>
      </p:sp>
      <p:sp>
        <p:nvSpPr>
          <p:cNvPr id="8" name="Limitations bullets"/>
          <p:cNvSpPr txBox="1"/>
          <p:nvPr/>
        </p:nvSpPr>
        <p:spPr>
          <a:xfrm>
            <a:off x="4846320" y="2306321"/>
            <a:ext cx="3657600" cy="1689946"/>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Current coverage may differ from coverage when care occurred.</a:t>
            </a:r>
            <a:endParaRPr lang="en-US" sz="1400" dirty="0"/>
          </a:p>
          <a:p>
            <a:pPr marL="342900" indent="-342900">
              <a:spcAft>
                <a:spcPts val="800"/>
              </a:spcAft>
              <a:buSzPct val="100000"/>
              <a:buChar char="•"/>
            </a:pPr>
            <a:r>
              <a:rPr lang="en-US" sz="1400" dirty="0">
                <a:solidFill>
                  <a:schemeClr val="tx1"/>
                </a:solidFill>
              </a:rPr>
              <a:t>Respondents have different fertility needs and intentions.</a:t>
            </a:r>
            <a:endParaRPr lang="en-US" sz="1400" dirty="0"/>
          </a:p>
          <a:p>
            <a:pPr marL="342900" indent="-342900">
              <a:spcAft>
                <a:spcPts val="800"/>
              </a:spcAft>
              <a:buSzPct val="100000"/>
              <a:buChar char="•"/>
            </a:pPr>
            <a:r>
              <a:rPr lang="en-US" sz="1400" dirty="0">
                <a:solidFill>
                  <a:schemeClr val="tx1"/>
                </a:solidFill>
              </a:rPr>
              <a:t>Observational data leave alternative explanations.</a:t>
            </a:r>
            <a:endParaRPr lang="en-US" sz="1400" dirty="0"/>
          </a:p>
        </p:txBody>
      </p:sp>
      <p:sp>
        <p:nvSpPr>
          <p:cNvPr id="25" name="Slide Number Placeholder 0"/>
          <p:cNvSpPr>
            <a:spLocks noGrp="1"/>
          </p:cNvSpPr>
          <p:nvPr>
            <p:ph type="sldNum" sz="quarter" idx="4294967295"/>
          </p:nvPr>
        </p:nvSpPr>
        <p:spPr>
          <a:xfrm>
            <a:off x="8321040" y="4638041"/>
            <a:ext cx="36576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6B6068"/>
                </a:solidFil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8046720" cy="914400"/>
          </a:xfrm>
          <a:prstGeom prst="rect">
            <a:avLst/>
          </a:prstGeom>
          <a:noFill/>
          <a:ln/>
        </p:spPr>
        <p:txBody>
          <a:bodyPr wrap="square" lIns="0" tIns="0" rIns="0" bIns="0" rtlCol="0" anchor="t"/>
          <a:lstStyle/>
          <a:p>
            <a:pPr marL="0" indent="0" algn="l">
              <a:buNone/>
            </a:pPr>
            <a:r>
              <a:rPr lang="en-US" sz="2800" b="1" dirty="0">
                <a:solidFill>
                  <a:schemeClr val="bg1"/>
                </a:solidFill>
              </a:rPr>
              <a:t>Insurance Differences Remain After Selected Controls</a:t>
            </a:r>
            <a:endParaRPr lang="en-US" sz="2800" dirty="0"/>
          </a:p>
        </p:txBody>
      </p:sp>
      <p:sp>
        <p:nvSpPr>
          <p:cNvPr id="3" name="Conclusion badge 1"/>
          <p:cNvSpPr/>
          <p:nvPr/>
        </p:nvSpPr>
        <p:spPr>
          <a:xfrm>
            <a:off x="548640" y="1490472"/>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4" name="Conclusion badge text 1"/>
          <p:cNvSpPr txBox="1"/>
          <p:nvPr/>
        </p:nvSpPr>
        <p:spPr>
          <a:xfrm>
            <a:off x="548640" y="1490472"/>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5" name="Conclusion text 1"/>
          <p:cNvSpPr txBox="1"/>
          <p:nvPr/>
        </p:nvSpPr>
        <p:spPr>
          <a:xfrm>
            <a:off x="1188720" y="1417320"/>
            <a:ext cx="7406640" cy="603504"/>
          </a:xfrm>
          <a:prstGeom prst="rect">
            <a:avLst/>
          </a:prstGeom>
          <a:noFill/>
          <a:ln/>
        </p:spPr>
        <p:txBody>
          <a:bodyPr wrap="square" lIns="0" tIns="0" rIns="0" bIns="0" rtlCol="0" anchor="ctr"/>
          <a:lstStyle/>
          <a:p>
            <a:pPr marL="0" indent="0">
              <a:buNone/>
            </a:pPr>
            <a:r>
              <a:rPr lang="en-US" sz="1400" dirty="0">
                <a:solidFill>
                  <a:schemeClr val="bg1"/>
                </a:solidFill>
              </a:rPr>
              <a:t>Private coverage has the highest unadjusted help-receipt rate.</a:t>
            </a:r>
            <a:endParaRPr lang="en-US" sz="1400" dirty="0"/>
          </a:p>
        </p:txBody>
      </p:sp>
      <p:sp>
        <p:nvSpPr>
          <p:cNvPr id="6" name="Conclusion badge 2"/>
          <p:cNvSpPr/>
          <p:nvPr/>
        </p:nvSpPr>
        <p:spPr>
          <a:xfrm>
            <a:off x="548640" y="2267712"/>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7" name="Conclusion badge text 2"/>
          <p:cNvSpPr txBox="1"/>
          <p:nvPr/>
        </p:nvSpPr>
        <p:spPr>
          <a:xfrm>
            <a:off x="548640" y="2267712"/>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8" name="Conclusion text 2"/>
          <p:cNvSpPr txBox="1"/>
          <p:nvPr/>
        </p:nvSpPr>
        <p:spPr>
          <a:xfrm>
            <a:off x="1188720" y="2194560"/>
            <a:ext cx="7406640" cy="603504"/>
          </a:xfrm>
          <a:prstGeom prst="rect">
            <a:avLst/>
          </a:prstGeom>
          <a:noFill/>
          <a:ln/>
        </p:spPr>
        <p:txBody>
          <a:bodyPr wrap="square" lIns="0" tIns="0" rIns="0" bIns="0" rtlCol="0" anchor="ctr"/>
          <a:lstStyle/>
          <a:p>
            <a:pPr marL="0" indent="0">
              <a:buNone/>
            </a:pPr>
            <a:r>
              <a:rPr lang="en-US" sz="1400" dirty="0">
                <a:solidFill>
                  <a:schemeClr val="bg1"/>
                </a:solidFill>
              </a:rPr>
              <a:t>Medicaid/CHIP/state and single-service/IHS/uninsured coverage retain lower adjusted odds.</a:t>
            </a:r>
            <a:endParaRPr lang="en-US" sz="1400" dirty="0"/>
          </a:p>
        </p:txBody>
      </p:sp>
      <p:sp>
        <p:nvSpPr>
          <p:cNvPr id="9" name="Conclusion badge 3"/>
          <p:cNvSpPr/>
          <p:nvPr/>
        </p:nvSpPr>
        <p:spPr>
          <a:xfrm>
            <a:off x="548640" y="3044952"/>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10" name="Conclusion badge text 3"/>
          <p:cNvSpPr txBox="1"/>
          <p:nvPr/>
        </p:nvSpPr>
        <p:spPr>
          <a:xfrm>
            <a:off x="548640" y="3044952"/>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1" name="Conclusion text 3"/>
          <p:cNvSpPr txBox="1"/>
          <p:nvPr/>
        </p:nvSpPr>
        <p:spPr>
          <a:xfrm>
            <a:off x="1188720" y="2971800"/>
            <a:ext cx="7406640" cy="603504"/>
          </a:xfrm>
          <a:prstGeom prst="rect">
            <a:avLst/>
          </a:prstGeom>
          <a:noFill/>
          <a:ln/>
        </p:spPr>
        <p:txBody>
          <a:bodyPr wrap="square" lIns="0" tIns="0" rIns="0" bIns="0" rtlCol="0" anchor="ctr"/>
          <a:lstStyle/>
          <a:p>
            <a:pPr marL="0" indent="0">
              <a:buNone/>
            </a:pPr>
            <a:r>
              <a:rPr lang="en-US" sz="1400" dirty="0">
                <a:solidFill>
                  <a:schemeClr val="bg1"/>
                </a:solidFill>
              </a:rPr>
              <a:t>Further research should examine coverage at the time of care and differences in fertility need.</a:t>
            </a:r>
            <a:endParaRPr lang="en-US" sz="1400" dirty="0"/>
          </a:p>
        </p:txBody>
      </p:sp>
      <p:sp>
        <p:nvSpPr>
          <p:cNvPr id="12" name="Final statement card"/>
          <p:cNvSpPr/>
          <p:nvPr/>
        </p:nvSpPr>
        <p:spPr>
          <a:xfrm>
            <a:off x="548640" y="3886200"/>
            <a:ext cx="8046720" cy="731520"/>
          </a:xfrm>
          <a:prstGeom prst="roundRect">
            <a:avLst>
              <a:gd name="adj" fmla="val 15000"/>
            </a:avLst>
          </a:prstGeom>
          <a:solidFill>
            <a:schemeClr val="accent1"/>
          </a:solidFill>
          <a:ln w="12700">
            <a:solidFill>
              <a:schemeClr val="accent1"/>
            </a:solidFill>
            <a:prstDash val="solid"/>
          </a:ln>
        </p:spPr>
        <p:txBody>
          <a:bodyPr/>
          <a:lstStyle/>
          <a:p>
            <a:endParaRPr lang="en-US"/>
          </a:p>
        </p:txBody>
      </p:sp>
      <p:sp>
        <p:nvSpPr>
          <p:cNvPr id="13" name="Final statement"/>
          <p:cNvSpPr txBox="1"/>
          <p:nvPr/>
        </p:nvSpPr>
        <p:spPr>
          <a:xfrm>
            <a:off x="777240" y="3886200"/>
            <a:ext cx="7589520" cy="731520"/>
          </a:xfrm>
          <a:prstGeom prst="rect">
            <a:avLst/>
          </a:prstGeom>
          <a:noFill/>
          <a:ln/>
        </p:spPr>
        <p:txBody>
          <a:bodyPr wrap="square" lIns="0" tIns="0" rIns="0" bIns="0" rtlCol="0" anchor="ctr"/>
          <a:lstStyle/>
          <a:p>
            <a:pPr marL="0" indent="0">
              <a:buNone/>
            </a:pPr>
            <a:r>
              <a:rPr lang="en-US" sz="1400" b="1" i="1" dirty="0">
                <a:solidFill>
                  <a:schemeClr val="bg1"/>
                </a:solidFill>
              </a:rPr>
              <a:t>The findings describe associations in reported lifetime care receipt.</a:t>
            </a:r>
            <a:endParaRPr lang="en-US" sz="1400" dirty="0"/>
          </a:p>
        </p:txBody>
      </p:sp>
    </p:spTree>
  </p:cSld>
  <p:clrMapOvr>
    <a:masterClrMapping/>
  </p:clrMapOvr>
</p:sld>
</file>

<file path=ppt/theme/theme1.xml><?xml version="1.0" encoding="utf-8"?>
<a:theme xmlns:a="http://schemas.openxmlformats.org/drawingml/2006/main" name="NSFG Insurance">
  <a:themeElements>
    <a:clrScheme name="NSFG Insurance">
      <a:dk1>
        <a:srgbClr val="2B2330"/>
      </a:dk1>
      <a:lt1>
        <a:srgbClr val="FFFFFF"/>
      </a:lt1>
      <a:dk2>
        <a:srgbClr val="3A1F3D"/>
      </a:dk2>
      <a:lt2>
        <a:srgbClr val="FBEFE6"/>
      </a:lt2>
      <a:accent1>
        <a:srgbClr val="C8540F"/>
      </a:accent1>
      <a:accent2>
        <a:srgbClr val="7B3F6E"/>
      </a:accent2>
      <a:accent3>
        <a:srgbClr val="F5C9A6"/>
      </a:accent3>
      <a:accent4>
        <a:srgbClr val="FFB067"/>
      </a:accent4>
      <a:accent5>
        <a:srgbClr val="6B6068"/>
      </a:accent5>
      <a:accent6>
        <a:srgbClr val="C9BFC5"/>
      </a:accent6>
      <a:hlink>
        <a:srgbClr val="C8540F"/>
      </a:hlink>
      <a:folHlink>
        <a:srgbClr val="6B6068"/>
      </a:folHlink>
    </a:clrScheme>
    <a:fontScheme name="NSFG Insurance">
      <a:majorFont>
        <a:latin typeface="Georgia P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3041</TotalTime>
  <Words>2870</Words>
  <Application>Microsoft Macintosh PowerPoint</Application>
  <PresentationFormat>On-screen Show (16:9)</PresentationFormat>
  <Paragraphs>271</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Georgia Pro</vt:lpstr>
      <vt:lpstr>NSFG Insurance</vt:lpstr>
      <vt:lpstr>Insurance Coverage and Fertility-Related Medical Help</vt:lpstr>
      <vt:lpstr>Help Receipt Differs Across Insurance Groups</vt:lpstr>
      <vt:lpstr>Research Question</vt:lpstr>
      <vt:lpstr>Why This Question Matters</vt:lpstr>
      <vt:lpstr>Data and Measures</vt:lpstr>
      <vt:lpstr>Could Differences in Age, Income, and Education Help Explain the Gap? </vt:lpstr>
      <vt:lpstr>Help Receipt Also Varies with  Age, Income, and Education</vt:lpstr>
      <vt:lpstr>The Insurance Pattern Within Age Groups</vt:lpstr>
      <vt:lpstr>Statistical Approach</vt:lpstr>
      <vt:lpstr>Differences Remain After Accounting  for Age, Income, and Education </vt:lpstr>
      <vt:lpstr>Prior Research and Study Limitations</vt:lpstr>
      <vt:lpstr>Insurance Differences Remain After Selected Controls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Insurance Coverage and Fertility-Related Medical Help</dc:title>
  <dc:subject>PptxGenJS Presentation</dc:subject>
  <dc:creator>Gracie Nguyen</dc:creator>
  <cp:lastModifiedBy>Nguyen, Gracie</cp:lastModifiedBy>
  <cp:revision>4</cp:revision>
  <dcterms:created xsi:type="dcterms:W3CDTF">2026-10-05T15:12:18Z</dcterms:created>
  <dcterms:modified xsi:type="dcterms:W3CDTF">2026-10-09T20:06:39Z</dcterms:modified>
</cp:coreProperties>
</file>