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464C965-4DB0-34D4-9242-4E14FBC25A53}">
          <p14:sldIdLst>
            <p14:sldId id="256"/>
            <p14:sldId id="257"/>
            <p14:sldId id="258"/>
            <p14:sldId id="259"/>
          </p14:sldIdLst>
        </p14:section>
        <p14:section name="Descriptive results" id="{7B967780-94A7-DC7F-6EFD-2404547D278E}">
          <p14:sldIdLst>
            <p14:sldId id="260"/>
            <p14:sldId id="261"/>
            <p14:sldId id="262"/>
            <p14:sldId id="263"/>
            <p14:sldId id="264"/>
          </p14:sldIdLst>
        </p14:section>
        <p14:section name="Model" id="{F9C23DFC-2959-A404-4703-B2DCCE79D230}">
          <p14:sldIdLst>
            <p14:sldId id="265"/>
            <p14:sldId id="266"/>
          </p14:sldIdLst>
        </p14:section>
        <p14:section name="Wrap-up" id="{5D229B48-D2C3-70E1-91AD-FFBDA1B5BF88}">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52"/>
    <p:restoredTop sz="94610"/>
  </p:normalViewPr>
  <p:slideViewPr>
    <p:cSldViewPr snapToGrid="0" snapToObjects="1">
      <p:cViewPr varScale="1">
        <p:scale>
          <a:sx n="159" d="100"/>
          <a:sy n="159" d="100"/>
        </p:scale>
        <p:origin x="184"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5506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project examines the relationship between current health insurance and whether women report ever receiving medical help to become pregnant.
I first compare the insurance groups descriptively. Then I examine differences in age, income, and education. Finally, I use logistic regression to see whether the insurance association remains after accounting for those characteristics.
The main question is whether the initial insurance difference persists after adjustment.
Time: about 45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set out to answer: is current insurance type associated with ever receiving medical help to become pregnant, after accounting for age, income, and education?
The key phrase is 'after accounting for.' A simple comparison of insurance groups is not enough, because those groups also differ in age, income, and education.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connects to health economics because insurance and household resources may influence healthcare choices.
However, people with different insurance types also differ in other ways. For example, privately insured respondents may have higher income or more education. Therefore, an initial difference in care receipt could reflect several overlapping characteristics.
My goal is to examine these relationships using newer NSFG data. The findings may help researchers identify patterns that deserve further investigation.
I measure reported receipt of medical help. The analysis does not directly measure whether someone needed care but could not obtain it.
Time: about 1 minute.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 the female respondent file from the 2022–2023 National Survey of Family Growth.
The original file contains 5,586 respondents. After excluding inapplicable, refused, and don’t-know outcome responses, 5,195 respondents remain. There are no additional missing values in the selected analysis variables.
I code the outcome as one for yes and zero for no. I use the existing four-category insurance variable and combine education into four groups, placing GED with high school completion.
Income measures household income relative to the poverty threshold. For example, 200% means twice the threshold.
One important distinction is that insurance refers to current coverage, while the outcome asks about lifetime receipt of medical help.
Small note: Respondents were eligible at ages 15–49 at screening. One reached age 50 by interview.
Time: about 1 minute 30 seconds.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Private coverage is the largest insurance category, representing approximately 61% of the weighted analysis sample. Medicaid, CHIP, or state coverage represents approximately 22%.
Overall, about one in ten respondents reports ever receiving medical help to become pregnant.
Throughout the presentation, respondent counts are unweighted, while percentages and means use survey weights. The weights account for respondents representing different numbers of people in the population.
These percentages describe the analysis sample with valid outcome responses.
Note: the third insurance slice combines the other-government and single-service/IHS/uninsured groups (the remainder after private and Medicaid).
Time: about 1 minute.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the central descriptive finding. Privately insured respondents have the highest reported rate of lifetime medical-help receipt, at approximately 12.9%.
The Medicaid, CHIP, or state-covered group has a rate of approximately 4.3%. Other-government coverage has a rate of 7.8%, and the single-service, IHS, or uninsured group has a rate of 5.1%.
The private–Medicaid difference is about 8.5 percentage points. The private rate is approximately three times the Medicaid rate.
However, this is an unadjusted comparison. It does not tell us whether insurance itself explains the difference.
To investigate further, I next compare the characteristics of the insurance groups.
Time: about 1 minute 45 seconds.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groups differ substantially in their characteristics.
Privately insured respondents are approximately three years older than Medicaid respondents, on average. Their mean income relative to the poverty threshold is also considerably higher.
The education difference is especially large. Approximately 54% of privately insured respondents have a bachelor’s degree or higher, compared with about 12% of Medicaid respondents.
These differences could contribute to the initial insurance pattern. Older respondents have had more time to receive care, and income and education may be associated with healthcare use.
This is why a simple comparison of the insurance-group percentages is not enough to answer my research question.
(Optional: reveal the education-composition chart here as a follow-up visual.)
Time: about 1 minute 45 seconds.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charts show separate descriptive relationships between help receipt and the three control variables.
Help receipt rises sharply across the younger age groups, reaching approximately 15.5% among respondents aged 35–44. The oldest group has a similar rate, at approximately 15%.
Income shows an upward pattern. Respondents at or below the poverty threshold report a rate of 4.5%, compared with 13.9% among those above four times the threshold.
Education shows a similar pattern, with the highest rate among respondents with a bachelor’s degree or higher.
These are unadjusted relationships. They support examining these variables together rather than interpreting any one chart as an independent association.
Age also reflects the cumulative opportunity to receive care because the outcome asks about lifetime experience.
Time: about 1 minute 45 seconds.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heatmap compares insurance groups within age categories. Rows represent insurance, columns represent age, and darker cells indicate higher help-receipt rates.
Among respondents aged 25 and older, private coverage has a higher reported rate than Medicaid coverage within every age category.
This suggests that the overall difference is not explained solely by privately insured respondents being older.
There is an exception among ages 15–24, where Medicaid respondents have the higher rate. Therefore, the pattern is not identical at every age.
Some cells also have small samples. I treat this heatmap as exploratory evidence, rather than a formal test of whether insurance associations vary by age.
Time: about 1 minute 30 seconds.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 logistic regression because the outcome has two possible values: yes or no.
I first fit an insurance-only model, then a model that includes age, income, and education. This allows me to compare the insurance estimates before and after adjustment.
The analysis incorporates the survey weights, strata, and clusters when calculating uncertainty.
I report odds ratios. An odds ratio below one indicates lower odds relative to private coverage.
Odds are different from probabilities. For example, an odds ratio of 0.54 represents 46% lower odds, not a 46-percentage-point reduction in probability.
The model estimates an adjusted association under its assumptions.
Time: about 1 minute 15 seconds.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represents an adjusted odds ratio, and each horizontal line shows a 95% confidence interval. The vertical line at one represents equal odds relative to private coverage.
Medicaid, CHIP, or state-covered respondents have an adjusted odds ratio of 0.54. This corresponds to approximately 46% lower odds of reporting lifetime help receipt, holding the selected control variables constant. Its confidence interval excludes one.
The single-service, IHS, or uninsured category also has lower adjusted odds, with an odds ratio of 0.56. Its confidence interval is closer to one, so the evidence is less precise.
The other-government interval crosses one. The data do not identify a clear adjusted difference for that category.
All three estimates move closer to one after controls. The associations become smaller, but the Medicaid and fourth-category differences remain.
In the control variables, age and bachelor’s-level education remain associated with help receipt. The adjusted linear income estimate is uncertain, despite its strong descriptive pattern.
Time: about 2 minutes 15 seconds.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Eliason and colleagues examined Medicaid and private coverage using earlier NSFG data. Their primary comparison found lower past-year fertility-service use among Medicaid-covered respondents who were currently trying to conceive.
My findings agree in the direction of the disparity. However, the outcome, population, and model differ. My analysis is a related comparison using newer data, rather than an exact replication. I cannot interpret the differences between the estimates as a time trend.
My most important limitation is timing. Someone’s current insurance may differ from the insurance they had when they received medical help.
Respondents also have different needs and intentions. A no response does not establish that someone needed care and could not access it.
Finally, the model controls for selected characteristics, but other factors, including fertility history and clinical need, could contribute to the association.
Time: about 1 minute 45 seconds.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research question asked whether current insurance is associated with lifetime medical-help receipt after accounting for age, income, and education.
The results support an association for Medicaid, CHIP, or state coverage and for the single-service, IHS, or uninsured category, relative to private coverage.
The initial differences become smaller after adjustment, but they remain for those two categories.
These findings support further investigation of insurance and fertility-related care use. Stronger conclusions would require better information about coverage when care occurred and respondents’ fertility needs.
Thank you. I’m happy to take questions.
Backup slides for questions: the full regression table, age/income distributions, subgroup counts, and a complete reference list.
Time: about 1 minute.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3A1F3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8046720" cy="1097280"/>
          </a:xfrm>
          <a:prstGeom prst="rect">
            <a:avLst/>
          </a:prstGeom>
          <a:noFill/>
          <a:ln/>
        </p:spPr>
        <p:txBody>
          <a:bodyPr wrap="square" rtlCol="0"/>
          <a:lstStyle>
            <a:lvl1pPr marL="0" indent="0" algn="l">
              <a:buNone/>
              <a:defRPr lang="en-US" sz="2800" b="1" dirty="0">
                <a:solidFill>
                  <a:schemeClr val="bg1"/>
                </a:solidFill>
              </a:defRPr>
            </a:lvl1pPr>
          </a:lstStyle>
          <a:p>
            <a:pPr marL="0" indent="0" algn="l">
              <a:buNone/>
            </a:pP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3A1F3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8046720" cy="914400"/>
          </a:xfrm>
          <a:prstGeom prst="rect">
            <a:avLst/>
          </a:prstGeom>
          <a:noFill/>
          <a:ln/>
        </p:spPr>
        <p:txBody>
          <a:bodyPr wrap="square" rtlCol="0"/>
          <a:lstStyle>
            <a:lvl1pPr marL="0" indent="0" algn="l">
              <a:buNone/>
              <a:defRPr lang="en-US" sz="2800" b="1" dirty="0">
                <a:solidFill>
                  <a:schemeClr val="bg1"/>
                </a:solidFill>
              </a:defRPr>
            </a:lvl1pPr>
          </a:lstStyle>
          <a:p>
            <a:pPr marL="0" indent="0" algn="l">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868680"/>
          </a:xfrm>
          <a:prstGeom prst="rect">
            <a:avLst/>
          </a:prstGeom>
          <a:noFill/>
          <a:ln/>
        </p:spPr>
        <p:txBody>
          <a:bodyPr wrap="square" rtlCol="0"/>
          <a:lstStyle>
            <a:lvl1pPr marL="0" indent="0" algn="l">
              <a:buNone/>
              <a:defRPr lang="en-US" sz="2800" b="1" dirty="0">
                <a:solidFill>
                  <a:schemeClr val="tx2"/>
                </a:solidFill>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6068"/>
                </a:solidFill>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6068"/>
                </a:solidFil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8046720" cy="1097280"/>
          </a:xfrm>
          <a:prstGeom prst="rect">
            <a:avLst/>
          </a:prstGeom>
          <a:noFill/>
          <a:ln/>
        </p:spPr>
        <p:txBody>
          <a:bodyPr wrap="square" lIns="0" tIns="0" rIns="0" bIns="0" rtlCol="0" anchor="t"/>
          <a:lstStyle/>
          <a:p>
            <a:pPr marL="0" indent="0" algn="l">
              <a:buNone/>
            </a:pPr>
            <a:r>
              <a:rPr lang="en-US" sz="2800" b="1" dirty="0">
                <a:solidFill>
                  <a:schemeClr val="bg1"/>
                </a:solidFill>
              </a:rPr>
              <a:t>Insurance Coverage and Fertility-Related Medical Help</a:t>
            </a:r>
            <a:endParaRPr lang="en-US" sz="2800" dirty="0"/>
          </a:p>
        </p:txBody>
      </p:sp>
      <p:sp>
        <p:nvSpPr>
          <p:cNvPr id="3" name="Subtitle"/>
          <p:cNvSpPr txBox="1"/>
          <p:nvPr/>
        </p:nvSpPr>
        <p:spPr>
          <a:xfrm>
            <a:off x="548640" y="2468880"/>
            <a:ext cx="8046720" cy="365760"/>
          </a:xfrm>
          <a:prstGeom prst="rect">
            <a:avLst/>
          </a:prstGeom>
          <a:noFill/>
          <a:ln/>
        </p:spPr>
        <p:txBody>
          <a:bodyPr wrap="square" lIns="0" tIns="0" rIns="0" bIns="0" rtlCol="0" anchor="t"/>
          <a:lstStyle/>
          <a:p>
            <a:pPr marL="0" indent="0">
              <a:buNone/>
            </a:pPr>
            <a:r>
              <a:rPr lang="en-US" sz="1400" dirty="0">
                <a:solidFill>
                  <a:schemeClr val="accent3"/>
                </a:solidFill>
              </a:rPr>
              <a:t>Evidence from the 2022–2023 National Survey of Family Growth</a:t>
            </a:r>
            <a:endParaRPr lang="en-US" sz="1400" dirty="0"/>
          </a:p>
        </p:txBody>
      </p:sp>
      <p:sp>
        <p:nvSpPr>
          <p:cNvPr id="4" name="Author"/>
          <p:cNvSpPr txBox="1"/>
          <p:nvPr/>
        </p:nvSpPr>
        <p:spPr>
          <a:xfrm>
            <a:off x="548640" y="3154680"/>
            <a:ext cx="8046720" cy="640080"/>
          </a:xfrm>
          <a:prstGeom prst="rect">
            <a:avLst/>
          </a:prstGeom>
          <a:noFill/>
          <a:ln/>
        </p:spPr>
        <p:txBody>
          <a:bodyPr wrap="square" lIns="0" tIns="0" rIns="0" bIns="0" rtlCol="0" anchor="t"/>
          <a:lstStyle/>
          <a:p>
            <a:pPr marL="0" indent="0">
              <a:buNone/>
            </a:pPr>
            <a:r>
              <a:rPr lang="en-US" sz="1400" b="1" dirty="0">
                <a:solidFill>
                  <a:schemeClr val="bg1"/>
                </a:solidFill>
              </a:rPr>
              <a:t>Gracie Nguyen</a:t>
            </a:r>
            <a:endParaRPr lang="en-US" sz="1400" dirty="0"/>
          </a:p>
          <a:p>
            <a:pPr marL="0" indent="0">
              <a:buNone/>
            </a:pPr>
            <a:r>
              <a:rPr lang="en-US" sz="1400" dirty="0">
                <a:solidFill>
                  <a:schemeClr val="bg1"/>
                </a:solidFill>
              </a:rPr>
              <a:t>DATA 400 Individual Mini-Project · Dickinson College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02920"/>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Research Question</a:t>
            </a:r>
            <a:endParaRPr lang="en-US" sz="2800" dirty="0"/>
          </a:p>
        </p:txBody>
      </p:sp>
      <p:sp>
        <p:nvSpPr>
          <p:cNvPr id="3" name="Research question card"/>
          <p:cNvSpPr/>
          <p:nvPr/>
        </p:nvSpPr>
        <p:spPr>
          <a:xfrm>
            <a:off x="457200" y="1691640"/>
            <a:ext cx="8229600" cy="2276678"/>
          </a:xfrm>
          <a:prstGeom prst="roundRect">
            <a:avLst>
              <a:gd name="adj" fmla="val 3636"/>
            </a:avLst>
          </a:prstGeom>
          <a:solidFill>
            <a:schemeClr val="accent1"/>
          </a:solidFill>
          <a:ln w="12700">
            <a:solidFill>
              <a:schemeClr val="tx2"/>
            </a:solidFill>
            <a:prstDash val="solid"/>
          </a:ln>
        </p:spPr>
        <p:txBody>
          <a:bodyPr/>
          <a:lstStyle/>
          <a:p>
            <a:endParaRPr lang="en-US"/>
          </a:p>
        </p:txBody>
      </p:sp>
      <p:sp>
        <p:nvSpPr>
          <p:cNvPr id="4" name="Research question"/>
          <p:cNvSpPr txBox="1"/>
          <p:nvPr/>
        </p:nvSpPr>
        <p:spPr>
          <a:xfrm>
            <a:off x="822960" y="1371600"/>
            <a:ext cx="7498080" cy="2834640"/>
          </a:xfrm>
          <a:prstGeom prst="rect">
            <a:avLst/>
          </a:prstGeom>
          <a:noFill/>
          <a:ln/>
        </p:spPr>
        <p:txBody>
          <a:bodyPr wrap="square" lIns="0" tIns="0" rIns="0" bIns="0" rtlCol="0" anchor="ctr"/>
          <a:lstStyle/>
          <a:p>
            <a:pPr marL="0" indent="0">
              <a:buNone/>
            </a:pPr>
            <a:r>
              <a:rPr lang="en-US" sz="2800" dirty="0">
                <a:solidFill>
                  <a:schemeClr val="bg1"/>
                </a:solidFill>
                <a:latin typeface="Georgia Pro" pitchFamily="34" charset="0"/>
                <a:ea typeface="Georgia Pro" pitchFamily="34" charset="-122"/>
                <a:cs typeface="Georgia Pro" pitchFamily="34" charset="-120"/>
              </a:rPr>
              <a:t>Is current insurance type associated with ever receiving medical help to become pregnant, after accounting for age, income, and education?</a:t>
            </a:r>
            <a:endParaRPr lang="en-US" sz="28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6068"/>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21208"/>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Why This Question Matters</a:t>
            </a:r>
            <a:endParaRPr lang="en-US" sz="2800" dirty="0"/>
          </a:p>
        </p:txBody>
      </p:sp>
      <p:sp>
        <p:nvSpPr>
          <p:cNvPr id="3" name="Reason card 1"/>
          <p:cNvSpPr/>
          <p:nvPr/>
        </p:nvSpPr>
        <p:spPr>
          <a:xfrm>
            <a:off x="457200" y="1280160"/>
            <a:ext cx="8229600" cy="731520"/>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4" name="Number badge 1"/>
          <p:cNvSpPr/>
          <p:nvPr/>
        </p:nvSpPr>
        <p:spPr>
          <a:xfrm>
            <a:off x="640080" y="1389888"/>
            <a:ext cx="512064" cy="512064"/>
          </a:xfrm>
          <a:prstGeom prst="ellipse">
            <a:avLst/>
          </a:prstGeom>
          <a:solidFill>
            <a:schemeClr val="accent1"/>
          </a:solidFill>
          <a:ln w="12700">
            <a:solidFill>
              <a:schemeClr val="accent1"/>
            </a:solidFill>
            <a:prstDash val="solid"/>
          </a:ln>
        </p:spPr>
        <p:txBody>
          <a:bodyPr/>
          <a:lstStyle/>
          <a:p>
            <a:endParaRPr lang="en-US"/>
          </a:p>
        </p:txBody>
      </p:sp>
      <p:sp>
        <p:nvSpPr>
          <p:cNvPr id="5" name="Badge text 1"/>
          <p:cNvSpPr txBox="1"/>
          <p:nvPr/>
        </p:nvSpPr>
        <p:spPr>
          <a:xfrm>
            <a:off x="640080" y="1389888"/>
            <a:ext cx="512064" cy="51206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Reason text 1"/>
          <p:cNvSpPr txBox="1"/>
          <p:nvPr/>
        </p:nvSpPr>
        <p:spPr>
          <a:xfrm>
            <a:off x="1371600" y="1325880"/>
            <a:ext cx="7132320" cy="640080"/>
          </a:xfrm>
          <a:prstGeom prst="rect">
            <a:avLst/>
          </a:prstGeom>
          <a:noFill/>
          <a:ln/>
        </p:spPr>
        <p:txBody>
          <a:bodyPr wrap="square" lIns="0" tIns="0" rIns="0" bIns="0" rtlCol="0" anchor="ctr"/>
          <a:lstStyle/>
          <a:p>
            <a:pPr marL="0" indent="0">
              <a:buNone/>
            </a:pPr>
            <a:r>
              <a:rPr lang="en-US" sz="1400" dirty="0">
                <a:solidFill>
                  <a:schemeClr val="tx1"/>
                </a:solidFill>
              </a:rPr>
              <a:t>Insurance coverage may influence the affordability of medical care.</a:t>
            </a:r>
            <a:endParaRPr lang="en-US" sz="1400" dirty="0"/>
          </a:p>
        </p:txBody>
      </p:sp>
      <p:sp>
        <p:nvSpPr>
          <p:cNvPr id="7" name="Reason card 2"/>
          <p:cNvSpPr/>
          <p:nvPr/>
        </p:nvSpPr>
        <p:spPr>
          <a:xfrm>
            <a:off x="457200" y="2148840"/>
            <a:ext cx="8229600" cy="731520"/>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8" name="Number badge 2"/>
          <p:cNvSpPr/>
          <p:nvPr/>
        </p:nvSpPr>
        <p:spPr>
          <a:xfrm>
            <a:off x="640080" y="2258568"/>
            <a:ext cx="512064" cy="512064"/>
          </a:xfrm>
          <a:prstGeom prst="ellipse">
            <a:avLst/>
          </a:prstGeom>
          <a:solidFill>
            <a:schemeClr val="accent1"/>
          </a:solidFill>
          <a:ln w="12700">
            <a:solidFill>
              <a:schemeClr val="accent1"/>
            </a:solidFill>
            <a:prstDash val="solid"/>
          </a:ln>
        </p:spPr>
        <p:txBody>
          <a:bodyPr/>
          <a:lstStyle/>
          <a:p>
            <a:endParaRPr lang="en-US"/>
          </a:p>
        </p:txBody>
      </p:sp>
      <p:sp>
        <p:nvSpPr>
          <p:cNvPr id="9" name="Badge text 2"/>
          <p:cNvSpPr txBox="1"/>
          <p:nvPr/>
        </p:nvSpPr>
        <p:spPr>
          <a:xfrm>
            <a:off x="640080" y="2258568"/>
            <a:ext cx="512064" cy="51206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 name="Reason text 2"/>
          <p:cNvSpPr txBox="1"/>
          <p:nvPr/>
        </p:nvSpPr>
        <p:spPr>
          <a:xfrm>
            <a:off x="1371600" y="2194560"/>
            <a:ext cx="7132320" cy="640080"/>
          </a:xfrm>
          <a:prstGeom prst="rect">
            <a:avLst/>
          </a:prstGeom>
          <a:noFill/>
          <a:ln/>
        </p:spPr>
        <p:txBody>
          <a:bodyPr wrap="square" lIns="0" tIns="0" rIns="0" bIns="0" rtlCol="0" anchor="ctr"/>
          <a:lstStyle/>
          <a:p>
            <a:pPr marL="0" indent="0">
              <a:buNone/>
            </a:pPr>
            <a:r>
              <a:rPr lang="en-US" sz="1400" dirty="0">
                <a:solidFill>
                  <a:schemeClr val="tx1"/>
                </a:solidFill>
              </a:rPr>
              <a:t>Income and education may also shape care use.</a:t>
            </a:r>
            <a:endParaRPr lang="en-US" sz="1400" dirty="0"/>
          </a:p>
        </p:txBody>
      </p:sp>
      <p:sp>
        <p:nvSpPr>
          <p:cNvPr id="11" name="Reason card 3"/>
          <p:cNvSpPr/>
          <p:nvPr/>
        </p:nvSpPr>
        <p:spPr>
          <a:xfrm>
            <a:off x="457200" y="3017520"/>
            <a:ext cx="8229600" cy="731520"/>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12" name="Number badge 3"/>
          <p:cNvSpPr/>
          <p:nvPr/>
        </p:nvSpPr>
        <p:spPr>
          <a:xfrm>
            <a:off x="640080" y="3127248"/>
            <a:ext cx="512064" cy="512064"/>
          </a:xfrm>
          <a:prstGeom prst="ellipse">
            <a:avLst/>
          </a:prstGeom>
          <a:solidFill>
            <a:schemeClr val="accent1"/>
          </a:solidFill>
          <a:ln w="12700">
            <a:solidFill>
              <a:schemeClr val="accent1"/>
            </a:solidFill>
            <a:prstDash val="solid"/>
          </a:ln>
        </p:spPr>
        <p:txBody>
          <a:bodyPr/>
          <a:lstStyle/>
          <a:p>
            <a:endParaRPr lang="en-US"/>
          </a:p>
        </p:txBody>
      </p:sp>
      <p:sp>
        <p:nvSpPr>
          <p:cNvPr id="13" name="Badge text 3"/>
          <p:cNvSpPr txBox="1"/>
          <p:nvPr/>
        </p:nvSpPr>
        <p:spPr>
          <a:xfrm>
            <a:off x="640080" y="3127248"/>
            <a:ext cx="512064" cy="51206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Reason text 3"/>
          <p:cNvSpPr txBox="1"/>
          <p:nvPr/>
        </p:nvSpPr>
        <p:spPr>
          <a:xfrm>
            <a:off x="1371600" y="3063240"/>
            <a:ext cx="7132320" cy="640080"/>
          </a:xfrm>
          <a:prstGeom prst="rect">
            <a:avLst/>
          </a:prstGeom>
          <a:noFill/>
          <a:ln/>
        </p:spPr>
        <p:txBody>
          <a:bodyPr wrap="square" lIns="0" tIns="0" rIns="0" bIns="0" rtlCol="0" anchor="ctr"/>
          <a:lstStyle/>
          <a:p>
            <a:pPr marL="0" indent="0">
              <a:buNone/>
            </a:pPr>
            <a:r>
              <a:rPr lang="en-US" sz="1400" dirty="0">
                <a:solidFill>
                  <a:schemeClr val="tx1"/>
                </a:solidFill>
              </a:rPr>
              <a:t>Differences in fertility-related care receipt matter to reproductive-health researchers and advocates.</a:t>
            </a:r>
            <a:endParaRPr lang="en-US" sz="1400" dirty="0"/>
          </a:p>
        </p:txBody>
      </p:sp>
      <p:sp>
        <p:nvSpPr>
          <p:cNvPr id="15" name="Focus card"/>
          <p:cNvSpPr/>
          <p:nvPr/>
        </p:nvSpPr>
        <p:spPr>
          <a:xfrm>
            <a:off x="457200" y="3931920"/>
            <a:ext cx="8229600" cy="640080"/>
          </a:xfrm>
          <a:prstGeom prst="roundRect">
            <a:avLst>
              <a:gd name="adj" fmla="val 17143"/>
            </a:avLst>
          </a:prstGeom>
          <a:solidFill>
            <a:schemeClr val="tx2"/>
          </a:solidFill>
          <a:ln w="12700">
            <a:solidFill>
              <a:schemeClr val="tx2"/>
            </a:solidFill>
            <a:prstDash val="solid"/>
          </a:ln>
        </p:spPr>
        <p:txBody>
          <a:bodyPr/>
          <a:lstStyle/>
          <a:p>
            <a:endParaRPr lang="en-US"/>
          </a:p>
        </p:txBody>
      </p:sp>
      <p:sp>
        <p:nvSpPr>
          <p:cNvPr id="16" name="Focus text"/>
          <p:cNvSpPr txBox="1"/>
          <p:nvPr/>
        </p:nvSpPr>
        <p:spPr>
          <a:xfrm>
            <a:off x="685800" y="3931920"/>
            <a:ext cx="7772400" cy="640080"/>
          </a:xfrm>
          <a:prstGeom prst="rect">
            <a:avLst/>
          </a:prstGeom>
          <a:noFill/>
          <a:ln/>
        </p:spPr>
        <p:txBody>
          <a:bodyPr wrap="square" lIns="0" tIns="0" rIns="0" bIns="0" rtlCol="0" anchor="ctr"/>
          <a:lstStyle/>
          <a:p>
            <a:pPr marL="0" indent="0">
              <a:buNone/>
            </a:pPr>
            <a:r>
              <a:rPr lang="en-US" sz="1400" b="1" dirty="0">
                <a:solidFill>
                  <a:srgbClr val="F5C9A6"/>
                </a:solidFill>
              </a:rPr>
              <a:t>Focus: </a:t>
            </a:r>
            <a:r>
              <a:rPr lang="en-US" sz="1400" b="1" dirty="0">
                <a:solidFill>
                  <a:srgbClr val="FFFFFF"/>
                </a:solidFill>
              </a:rPr>
              <a:t>Whether an insurance association remains after socioeconomic adjustment.</a:t>
            </a:r>
            <a:endParaRPr lang="en-US" sz="14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6068"/>
                </a:solidFil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457200"/>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Data and Measures</a:t>
            </a:r>
            <a:endParaRPr lang="en-US" sz="2800" dirty="0"/>
          </a:p>
        </p:txBody>
      </p:sp>
      <p:sp>
        <p:nvSpPr>
          <p:cNvPr id="3" name="Source line"/>
          <p:cNvSpPr txBox="1"/>
          <p:nvPr/>
        </p:nvSpPr>
        <p:spPr>
          <a:xfrm>
            <a:off x="457200" y="960120"/>
            <a:ext cx="8229600" cy="320040"/>
          </a:xfrm>
          <a:prstGeom prst="rect">
            <a:avLst/>
          </a:prstGeom>
          <a:noFill/>
          <a:ln/>
        </p:spPr>
        <p:txBody>
          <a:bodyPr wrap="square" lIns="0" tIns="0" rIns="0" bIns="0" rtlCol="0" anchor="ctr"/>
          <a:lstStyle/>
          <a:p>
            <a:pPr marL="0" indent="0">
              <a:buNone/>
            </a:pPr>
            <a:r>
              <a:rPr lang="en-US" sz="1400" dirty="0">
                <a:solidFill>
                  <a:schemeClr val="accent5"/>
                </a:solidFill>
              </a:rPr>
              <a:t>Source: CDC/NCHS, NSFG 2022–2023 Female Respondent Public-Use File</a:t>
            </a:r>
            <a:endParaRPr lang="en-US" sz="1400" dirty="0"/>
          </a:p>
        </p:txBody>
      </p:sp>
      <p:sp>
        <p:nvSpPr>
          <p:cNvPr id="4" name="Stat card 1"/>
          <p:cNvSpPr/>
          <p:nvPr/>
        </p:nvSpPr>
        <p:spPr>
          <a:xfrm>
            <a:off x="457200" y="1463040"/>
            <a:ext cx="2468880" cy="1280160"/>
          </a:xfrm>
          <a:prstGeom prst="roundRect">
            <a:avLst>
              <a:gd name="adj" fmla="val 8571"/>
            </a:avLst>
          </a:prstGeom>
          <a:solidFill>
            <a:schemeClr val="tx2"/>
          </a:solidFill>
          <a:ln w="12700">
            <a:solidFill>
              <a:schemeClr val="tx2"/>
            </a:solidFill>
            <a:prstDash val="solid"/>
          </a:ln>
        </p:spPr>
        <p:txBody>
          <a:bodyPr/>
          <a:lstStyle/>
          <a:p>
            <a:endParaRPr lang="en-US"/>
          </a:p>
        </p:txBody>
      </p:sp>
      <p:sp>
        <p:nvSpPr>
          <p:cNvPr id="5" name="Stat number 1"/>
          <p:cNvSpPr txBox="1"/>
          <p:nvPr/>
        </p:nvSpPr>
        <p:spPr>
          <a:xfrm>
            <a:off x="457200" y="1554480"/>
            <a:ext cx="2468880" cy="685800"/>
          </a:xfrm>
          <a:prstGeom prst="rect">
            <a:avLst/>
          </a:prstGeom>
          <a:noFill/>
          <a:ln/>
        </p:spPr>
        <p:txBody>
          <a:bodyPr wrap="square" lIns="0" tIns="0" rIns="0" bIns="0" rtlCol="0" anchor="ctr"/>
          <a:lstStyle/>
          <a:p>
            <a:pPr marL="0" indent="0" algn="ctr">
              <a:buNone/>
            </a:pPr>
            <a:r>
              <a:rPr lang="en-US" sz="2800" b="1" dirty="0">
                <a:solidFill>
                  <a:schemeClr val="bg1"/>
                </a:solidFill>
                <a:latin typeface="Georgia Pro" pitchFamily="34" charset="0"/>
                <a:ea typeface="Georgia Pro" pitchFamily="34" charset="-122"/>
                <a:cs typeface="Georgia Pro" pitchFamily="34" charset="-120"/>
              </a:rPr>
              <a:t>5,586</a:t>
            </a:r>
            <a:endParaRPr lang="en-US" sz="2800" dirty="0"/>
          </a:p>
        </p:txBody>
      </p:sp>
      <p:sp>
        <p:nvSpPr>
          <p:cNvPr id="6" name="Stat label 1"/>
          <p:cNvSpPr txBox="1"/>
          <p:nvPr/>
        </p:nvSpPr>
        <p:spPr>
          <a:xfrm>
            <a:off x="548640" y="2240280"/>
            <a:ext cx="2286000" cy="365760"/>
          </a:xfrm>
          <a:prstGeom prst="rect">
            <a:avLst/>
          </a:prstGeom>
          <a:noFill/>
          <a:ln/>
        </p:spPr>
        <p:txBody>
          <a:bodyPr wrap="square" lIns="0" tIns="0" rIns="0" bIns="0" rtlCol="0" anchor="t"/>
          <a:lstStyle/>
          <a:p>
            <a:pPr marL="0" indent="0" algn="ctr">
              <a:buNone/>
            </a:pPr>
            <a:r>
              <a:rPr lang="en-US" sz="1400" dirty="0">
                <a:solidFill>
                  <a:schemeClr val="bg1"/>
                </a:solidFill>
              </a:rPr>
              <a:t>Original sample: respondents</a:t>
            </a:r>
            <a:endParaRPr lang="en-US" sz="1400" dirty="0"/>
          </a:p>
        </p:txBody>
      </p:sp>
      <p:sp>
        <p:nvSpPr>
          <p:cNvPr id="7" name="Stat card 2"/>
          <p:cNvSpPr/>
          <p:nvPr/>
        </p:nvSpPr>
        <p:spPr>
          <a:xfrm>
            <a:off x="457200" y="2926080"/>
            <a:ext cx="2468880" cy="1280160"/>
          </a:xfrm>
          <a:prstGeom prst="roundRect">
            <a:avLst>
              <a:gd name="adj" fmla="val 8571"/>
            </a:avLst>
          </a:prstGeom>
          <a:solidFill>
            <a:schemeClr val="accent1"/>
          </a:solidFill>
          <a:ln w="12700">
            <a:solidFill>
              <a:schemeClr val="accent1"/>
            </a:solidFill>
            <a:prstDash val="solid"/>
          </a:ln>
        </p:spPr>
        <p:txBody>
          <a:bodyPr/>
          <a:lstStyle/>
          <a:p>
            <a:endParaRPr lang="en-US"/>
          </a:p>
        </p:txBody>
      </p:sp>
      <p:sp>
        <p:nvSpPr>
          <p:cNvPr id="8" name="Stat number 2"/>
          <p:cNvSpPr txBox="1"/>
          <p:nvPr/>
        </p:nvSpPr>
        <p:spPr>
          <a:xfrm>
            <a:off x="457200" y="3017520"/>
            <a:ext cx="2468880" cy="685800"/>
          </a:xfrm>
          <a:prstGeom prst="rect">
            <a:avLst/>
          </a:prstGeom>
          <a:noFill/>
          <a:ln/>
        </p:spPr>
        <p:txBody>
          <a:bodyPr wrap="square" lIns="0" tIns="0" rIns="0" bIns="0" rtlCol="0" anchor="ctr"/>
          <a:lstStyle/>
          <a:p>
            <a:pPr marL="0" indent="0" algn="ctr">
              <a:buNone/>
            </a:pPr>
            <a:r>
              <a:rPr lang="en-US" sz="2800" b="1" dirty="0">
                <a:solidFill>
                  <a:schemeClr val="bg1"/>
                </a:solidFill>
                <a:latin typeface="Georgia Pro" pitchFamily="34" charset="0"/>
                <a:ea typeface="Georgia Pro" pitchFamily="34" charset="-122"/>
                <a:cs typeface="Georgia Pro" pitchFamily="34" charset="-120"/>
              </a:rPr>
              <a:t>5,195</a:t>
            </a:r>
            <a:endParaRPr lang="en-US" sz="2800" dirty="0"/>
          </a:p>
        </p:txBody>
      </p:sp>
      <p:sp>
        <p:nvSpPr>
          <p:cNvPr id="9" name="Stat label 2"/>
          <p:cNvSpPr txBox="1"/>
          <p:nvPr/>
        </p:nvSpPr>
        <p:spPr>
          <a:xfrm>
            <a:off x="548640" y="3703320"/>
            <a:ext cx="2286000" cy="365760"/>
          </a:xfrm>
          <a:prstGeom prst="rect">
            <a:avLst/>
          </a:prstGeom>
          <a:noFill/>
          <a:ln/>
        </p:spPr>
        <p:txBody>
          <a:bodyPr wrap="square" lIns="0" tIns="0" rIns="0" bIns="0" rtlCol="0" anchor="t"/>
          <a:lstStyle/>
          <a:p>
            <a:pPr marL="0" indent="0" algn="ctr">
              <a:buNone/>
            </a:pPr>
            <a:r>
              <a:rPr lang="en-US" sz="1400" dirty="0">
                <a:solidFill>
                  <a:schemeClr val="bg1"/>
                </a:solidFill>
              </a:rPr>
              <a:t>Analysis sample: respondents</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205057097"/>
              </p:ext>
            </p:extLst>
          </p:nvPr>
        </p:nvGraphicFramePr>
        <p:xfrm>
          <a:off x="3200400" y="1463040"/>
          <a:ext cx="5486400" cy="2697480"/>
        </p:xfrm>
        <a:graphic>
          <a:graphicData uri="http://schemas.openxmlformats.org/drawingml/2006/table">
            <a:tbl>
              <a:tblPr/>
              <a:tblGrid>
                <a:gridCol w="15544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411480">
                <a:tc>
                  <a:txBody>
                    <a:bodyPr/>
                    <a:lstStyle/>
                    <a:p>
                      <a:pPr marL="0" indent="0">
                        <a:buNone/>
                      </a:pPr>
                      <a:r>
                        <a:rPr lang="en-US" sz="1400" b="1" dirty="0">
                          <a:solidFill>
                            <a:srgbClr val="FFFFFF"/>
                          </a:solidFill>
                        </a:rPr>
                        <a:t>Role</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buNone/>
                      </a:pPr>
                      <a:r>
                        <a:rPr lang="en-US" sz="1400" b="1" dirty="0">
                          <a:solidFill>
                            <a:srgbClr val="FFFFFF"/>
                          </a:solidFill>
                        </a:rPr>
                        <a:t>Measure</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extLst>
                  <a:ext uri="{0D108BD9-81ED-4DB2-BD59-A6C34878D82A}">
                    <a16:rowId xmlns:a16="http://schemas.microsoft.com/office/drawing/2014/main" val="10000"/>
                  </a:ext>
                </a:extLst>
              </a:tr>
              <a:tr h="594360">
                <a:tc>
                  <a:txBody>
                    <a:bodyPr/>
                    <a:lstStyle/>
                    <a:p>
                      <a:pPr marL="0" indent="0">
                        <a:buNone/>
                      </a:pPr>
                      <a:r>
                        <a:rPr lang="en-US" sz="1400" b="1" dirty="0">
                          <a:solidFill>
                            <a:srgbClr val="C8540F"/>
                          </a:solidFill>
                        </a:rPr>
                        <a:t>Outcome</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Ever received medical help to become pregnant: yes/no</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400" b="1" dirty="0">
                          <a:solidFill>
                            <a:srgbClr val="C8540F"/>
                          </a:solidFill>
                        </a:rPr>
                        <a:t>Main predictor</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Current insurance type*</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2"/>
                  </a:ext>
                </a:extLst>
              </a:tr>
              <a:tr h="594360">
                <a:tc>
                  <a:txBody>
                    <a:bodyPr/>
                    <a:lstStyle/>
                    <a:p>
                      <a:pPr marL="0" indent="0">
                        <a:buNone/>
                      </a:pPr>
                      <a:r>
                        <a:rPr lang="en-US" sz="1400" b="1" dirty="0">
                          <a:solidFill>
                            <a:srgbClr val="C8540F"/>
                          </a:solidFill>
                        </a:rPr>
                        <a:t>Controls</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Age, income relative to poverty threshold, education</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400" b="1" dirty="0">
                          <a:solidFill>
                            <a:srgbClr val="C8540F"/>
                          </a:solidFill>
                        </a:rPr>
                        <a:t>Survey information</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Analysis weights, strata, and clusters</a:t>
                      </a:r>
                      <a:endParaRPr lang="en-US" sz="1400" dirty="0"/>
                    </a:p>
                  </a:txBody>
                  <a:tcPr marL="109728" marR="10972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Coverage groups note"/>
          <p:cNvSpPr txBox="1"/>
          <p:nvPr/>
        </p:nvSpPr>
        <p:spPr>
          <a:xfrm>
            <a:off x="3200400" y="4297680"/>
            <a:ext cx="5486400" cy="457200"/>
          </a:xfrm>
          <a:prstGeom prst="rect">
            <a:avLst/>
          </a:prstGeom>
          <a:noFill/>
          <a:ln/>
        </p:spPr>
        <p:txBody>
          <a:bodyPr wrap="square" lIns="0" tIns="0" rIns="0" bIns="0" rtlCol="0" anchor="t"/>
          <a:lstStyle/>
          <a:p>
            <a:pPr marL="0" indent="0">
              <a:buNone/>
            </a:pPr>
            <a:r>
              <a:rPr lang="en-US" sz="1100" dirty="0">
                <a:solidFill>
                  <a:schemeClr val="accent5"/>
                </a:solidFill>
              </a:rPr>
              <a:t>*Coverage groups: Private/Medi-Gap, Medicaid/CHIP/state, other government, and single-service/IHS/uninsured.</a:t>
            </a:r>
            <a:endParaRPr lang="en-US" sz="11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6068"/>
                </a:solidFil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Sample Overview</a:t>
            </a:r>
            <a:endParaRPr lang="en-US" sz="2800" dirty="0"/>
          </a:p>
        </p:txBody>
      </p:sp>
      <p:sp>
        <p:nvSpPr>
          <p:cNvPr id="3" name="Chart placeholder category_distributions.png"/>
          <p:cNvSpPr/>
          <p:nvPr/>
        </p:nvSpPr>
        <p:spPr>
          <a:xfrm>
            <a:off x="457200" y="1188720"/>
            <a:ext cx="4023360" cy="2011680"/>
          </a:xfrm>
          <a:prstGeom prst="roundRect">
            <a:avLst>
              <a:gd name="adj" fmla="val 4545"/>
            </a:avLst>
          </a:prstGeom>
          <a:solidFill>
            <a:schemeClr val="bg2"/>
          </a:solidFill>
          <a:ln w="19050">
            <a:solidFill>
              <a:schemeClr val="accent1"/>
            </a:solidFill>
            <a:prstDash val="dash"/>
          </a:ln>
        </p:spPr>
        <p:txBody>
          <a:bodyPr/>
          <a:lstStyle/>
          <a:p>
            <a:endParaRPr lang="en-US"/>
          </a:p>
        </p:txBody>
      </p:sp>
      <p:sp>
        <p:nvSpPr>
          <p:cNvPr id="4" name="Placeholder label category_distributions.png"/>
          <p:cNvSpPr txBox="1"/>
          <p:nvPr/>
        </p:nvSpPr>
        <p:spPr>
          <a:xfrm>
            <a:off x="457200" y="1188720"/>
            <a:ext cx="4023360" cy="2011680"/>
          </a:xfrm>
          <a:prstGeom prst="rect">
            <a:avLst/>
          </a:prstGeom>
          <a:noFill/>
          <a:ln/>
        </p:spPr>
        <p:txBody>
          <a:bodyPr wrap="square" lIns="1270" tIns="1270" rIns="1270" bIns="1270" rtlCol="0" anchor="ctr"/>
          <a:lstStyle/>
          <a:p>
            <a:pPr marL="0" indent="0" algn="ctr">
              <a:buNone/>
            </a:pPr>
            <a:r>
              <a:rPr lang="en-US" sz="1400" b="1" dirty="0">
                <a:solidFill>
                  <a:schemeClr val="accent1"/>
                </a:solidFill>
              </a:rPr>
              <a:t>category_distributions.png</a:t>
            </a:r>
            <a:endParaRPr lang="en-US" sz="1400" dirty="0"/>
          </a:p>
          <a:p>
            <a:pPr marL="0" indent="0" algn="ctr">
              <a:buNone/>
            </a:pPr>
            <a:r>
              <a:rPr lang="en-US" sz="1100" dirty="0">
                <a:solidFill>
                  <a:schemeClr val="accent5"/>
                </a:solidFill>
              </a:rPr>
              <a:t>Insurance panel</a:t>
            </a:r>
            <a:endParaRPr lang="en-US" sz="1400" dirty="0"/>
          </a:p>
        </p:txBody>
      </p:sp>
      <p:sp>
        <p:nvSpPr>
          <p:cNvPr id="5" name="Chart placeholder category_distributions.png"/>
          <p:cNvSpPr/>
          <p:nvPr/>
        </p:nvSpPr>
        <p:spPr>
          <a:xfrm>
            <a:off x="4663440" y="1188720"/>
            <a:ext cx="4023360" cy="2011680"/>
          </a:xfrm>
          <a:prstGeom prst="roundRect">
            <a:avLst>
              <a:gd name="adj" fmla="val 4545"/>
            </a:avLst>
          </a:prstGeom>
          <a:solidFill>
            <a:schemeClr val="bg2"/>
          </a:solidFill>
          <a:ln w="19050">
            <a:solidFill>
              <a:schemeClr val="accent1"/>
            </a:solidFill>
            <a:prstDash val="dash"/>
          </a:ln>
        </p:spPr>
        <p:txBody>
          <a:bodyPr/>
          <a:lstStyle/>
          <a:p>
            <a:endParaRPr lang="en-US"/>
          </a:p>
        </p:txBody>
      </p:sp>
      <p:sp>
        <p:nvSpPr>
          <p:cNvPr id="6" name="Placeholder label category_distributions.png"/>
          <p:cNvSpPr txBox="1"/>
          <p:nvPr/>
        </p:nvSpPr>
        <p:spPr>
          <a:xfrm>
            <a:off x="4663440" y="1188720"/>
            <a:ext cx="4023360" cy="2011680"/>
          </a:xfrm>
          <a:prstGeom prst="rect">
            <a:avLst/>
          </a:prstGeom>
          <a:noFill/>
          <a:ln/>
        </p:spPr>
        <p:txBody>
          <a:bodyPr wrap="square" lIns="1270" tIns="1270" rIns="1270" bIns="1270" rtlCol="0" anchor="ctr"/>
          <a:lstStyle/>
          <a:p>
            <a:pPr marL="0" indent="0" algn="ctr">
              <a:buNone/>
            </a:pPr>
            <a:r>
              <a:rPr lang="en-US" sz="1400" b="1" dirty="0">
                <a:solidFill>
                  <a:schemeClr val="accent1"/>
                </a:solidFill>
              </a:rPr>
              <a:t>category_distributions.png</a:t>
            </a:r>
            <a:endParaRPr lang="en-US" sz="1400" dirty="0"/>
          </a:p>
          <a:p>
            <a:pPr marL="0" indent="0" algn="ctr">
              <a:buNone/>
            </a:pPr>
            <a:r>
              <a:rPr lang="en-US" sz="1100" dirty="0">
                <a:solidFill>
                  <a:schemeClr val="accent5"/>
                </a:solidFill>
              </a:rPr>
              <a:t>Yes/no outcome panel</a:t>
            </a:r>
            <a:endParaRPr lang="en-US" sz="1400" dirty="0"/>
          </a:p>
        </p:txBody>
      </p:sp>
      <p:sp>
        <p:nvSpPr>
          <p:cNvPr id="7" name="Stat card 1"/>
          <p:cNvSpPr/>
          <p:nvPr/>
        </p:nvSpPr>
        <p:spPr>
          <a:xfrm>
            <a:off x="457200" y="3383280"/>
            <a:ext cx="1920240" cy="1097280"/>
          </a:xfrm>
          <a:prstGeom prst="roundRect">
            <a:avLst>
              <a:gd name="adj" fmla="val 10000"/>
            </a:avLst>
          </a:prstGeom>
          <a:solidFill>
            <a:schemeClr val="bg2"/>
          </a:solidFill>
          <a:ln w="12700">
            <a:solidFill>
              <a:schemeClr val="bg2"/>
            </a:solidFill>
            <a:prstDash val="solid"/>
          </a:ln>
        </p:spPr>
        <p:txBody>
          <a:bodyPr/>
          <a:lstStyle/>
          <a:p>
            <a:endParaRPr lang="en-US"/>
          </a:p>
        </p:txBody>
      </p:sp>
      <p:sp>
        <p:nvSpPr>
          <p:cNvPr id="8" name="Stat value 1"/>
          <p:cNvSpPr txBox="1"/>
          <p:nvPr/>
        </p:nvSpPr>
        <p:spPr>
          <a:xfrm>
            <a:off x="457200" y="3456432"/>
            <a:ext cx="1920240" cy="594360"/>
          </a:xfrm>
          <a:prstGeom prst="rect">
            <a:avLst/>
          </a:prstGeom>
          <a:noFill/>
          <a:ln/>
        </p:spPr>
        <p:txBody>
          <a:bodyPr wrap="square" lIns="0" tIns="0" rIns="0" bIns="0" rtlCol="0" anchor="ctr"/>
          <a:lstStyle/>
          <a:p>
            <a:pPr marL="0" indent="0" algn="ctr">
              <a:buNone/>
            </a:pPr>
            <a:r>
              <a:rPr lang="en-US" sz="2800" b="1" dirty="0">
                <a:solidFill>
                  <a:schemeClr val="accent1"/>
                </a:solidFill>
                <a:latin typeface="Georgia Pro" pitchFamily="34" charset="0"/>
                <a:ea typeface="Georgia Pro" pitchFamily="34" charset="-122"/>
                <a:cs typeface="Georgia Pro" pitchFamily="34" charset="-120"/>
              </a:rPr>
              <a:t>5,195</a:t>
            </a:r>
            <a:endParaRPr lang="en-US" sz="2800" dirty="0"/>
          </a:p>
        </p:txBody>
      </p:sp>
      <p:sp>
        <p:nvSpPr>
          <p:cNvPr id="9" name="Stat label 1"/>
          <p:cNvSpPr txBox="1"/>
          <p:nvPr/>
        </p:nvSpPr>
        <p:spPr>
          <a:xfrm>
            <a:off x="457200" y="4050792"/>
            <a:ext cx="1920240" cy="320040"/>
          </a:xfrm>
          <a:prstGeom prst="rect">
            <a:avLst/>
          </a:prstGeom>
          <a:noFill/>
          <a:ln/>
        </p:spPr>
        <p:txBody>
          <a:bodyPr wrap="square" lIns="0" tIns="0" rIns="0" bIns="0" rtlCol="0" anchor="ctr"/>
          <a:lstStyle/>
          <a:p>
            <a:pPr marL="0" indent="0" algn="ctr">
              <a:buNone/>
            </a:pPr>
            <a:r>
              <a:rPr lang="en-US" sz="1400" dirty="0">
                <a:solidFill>
                  <a:schemeClr val="tx1"/>
                </a:solidFill>
              </a:rPr>
              <a:t>respondents</a:t>
            </a:r>
            <a:endParaRPr lang="en-US" sz="1400" dirty="0"/>
          </a:p>
        </p:txBody>
      </p:sp>
      <p:sp>
        <p:nvSpPr>
          <p:cNvPr id="10" name="Stat card 2"/>
          <p:cNvSpPr/>
          <p:nvPr/>
        </p:nvSpPr>
        <p:spPr>
          <a:xfrm>
            <a:off x="2542032" y="3383280"/>
            <a:ext cx="1920240" cy="1097280"/>
          </a:xfrm>
          <a:prstGeom prst="roundRect">
            <a:avLst>
              <a:gd name="adj" fmla="val 10000"/>
            </a:avLst>
          </a:prstGeom>
          <a:solidFill>
            <a:schemeClr val="bg2"/>
          </a:solidFill>
          <a:ln w="12700">
            <a:solidFill>
              <a:schemeClr val="bg2"/>
            </a:solidFill>
            <a:prstDash val="solid"/>
          </a:ln>
        </p:spPr>
        <p:txBody>
          <a:bodyPr/>
          <a:lstStyle/>
          <a:p>
            <a:endParaRPr lang="en-US"/>
          </a:p>
        </p:txBody>
      </p:sp>
      <p:sp>
        <p:nvSpPr>
          <p:cNvPr id="11" name="Stat value 2"/>
          <p:cNvSpPr txBox="1"/>
          <p:nvPr/>
        </p:nvSpPr>
        <p:spPr>
          <a:xfrm>
            <a:off x="2542032" y="3456432"/>
            <a:ext cx="1920240" cy="594360"/>
          </a:xfrm>
          <a:prstGeom prst="rect">
            <a:avLst/>
          </a:prstGeom>
          <a:noFill/>
          <a:ln/>
        </p:spPr>
        <p:txBody>
          <a:bodyPr wrap="square" lIns="0" tIns="0" rIns="0" bIns="0" rtlCol="0" anchor="ctr"/>
          <a:lstStyle/>
          <a:p>
            <a:pPr marL="0" indent="0" algn="ctr">
              <a:buNone/>
            </a:pPr>
            <a:r>
              <a:rPr lang="en-US" sz="2800" b="1" dirty="0">
                <a:solidFill>
                  <a:schemeClr val="accent1"/>
                </a:solidFill>
                <a:latin typeface="Georgia Pro" pitchFamily="34" charset="0"/>
                <a:ea typeface="Georgia Pro" pitchFamily="34" charset="-122"/>
                <a:cs typeface="Georgia Pro" pitchFamily="34" charset="-120"/>
              </a:rPr>
              <a:t>60.9%</a:t>
            </a:r>
            <a:endParaRPr lang="en-US" sz="2800" dirty="0"/>
          </a:p>
        </p:txBody>
      </p:sp>
      <p:sp>
        <p:nvSpPr>
          <p:cNvPr id="12" name="Stat label 2"/>
          <p:cNvSpPr txBox="1"/>
          <p:nvPr/>
        </p:nvSpPr>
        <p:spPr>
          <a:xfrm>
            <a:off x="2542032" y="4050792"/>
            <a:ext cx="1920240" cy="320040"/>
          </a:xfrm>
          <a:prstGeom prst="rect">
            <a:avLst/>
          </a:prstGeom>
          <a:noFill/>
          <a:ln/>
        </p:spPr>
        <p:txBody>
          <a:bodyPr wrap="square" lIns="0" tIns="0" rIns="0" bIns="0" rtlCol="0" anchor="ctr"/>
          <a:lstStyle/>
          <a:p>
            <a:pPr marL="0" indent="0" algn="ctr">
              <a:buNone/>
            </a:pPr>
            <a:r>
              <a:rPr lang="en-US" sz="1400" dirty="0">
                <a:solidFill>
                  <a:schemeClr val="tx1"/>
                </a:solidFill>
              </a:rPr>
              <a:t>private/Medi-Gap</a:t>
            </a:r>
            <a:endParaRPr lang="en-US" sz="1400" dirty="0"/>
          </a:p>
        </p:txBody>
      </p:sp>
      <p:sp>
        <p:nvSpPr>
          <p:cNvPr id="13" name="Stat card 3"/>
          <p:cNvSpPr/>
          <p:nvPr/>
        </p:nvSpPr>
        <p:spPr>
          <a:xfrm>
            <a:off x="4626864" y="3383280"/>
            <a:ext cx="1920240" cy="1097280"/>
          </a:xfrm>
          <a:prstGeom prst="roundRect">
            <a:avLst>
              <a:gd name="adj" fmla="val 10000"/>
            </a:avLst>
          </a:prstGeom>
          <a:solidFill>
            <a:schemeClr val="bg2"/>
          </a:solidFill>
          <a:ln w="12700">
            <a:solidFill>
              <a:schemeClr val="bg2"/>
            </a:solidFill>
            <a:prstDash val="solid"/>
          </a:ln>
        </p:spPr>
        <p:txBody>
          <a:bodyPr/>
          <a:lstStyle/>
          <a:p>
            <a:endParaRPr lang="en-US"/>
          </a:p>
        </p:txBody>
      </p:sp>
      <p:sp>
        <p:nvSpPr>
          <p:cNvPr id="14" name="Stat value 3"/>
          <p:cNvSpPr txBox="1"/>
          <p:nvPr/>
        </p:nvSpPr>
        <p:spPr>
          <a:xfrm>
            <a:off x="4626864" y="3456432"/>
            <a:ext cx="1920240" cy="594360"/>
          </a:xfrm>
          <a:prstGeom prst="rect">
            <a:avLst/>
          </a:prstGeom>
          <a:noFill/>
          <a:ln/>
        </p:spPr>
        <p:txBody>
          <a:bodyPr wrap="square" lIns="0" tIns="0" rIns="0" bIns="0" rtlCol="0" anchor="ctr"/>
          <a:lstStyle/>
          <a:p>
            <a:pPr marL="0" indent="0" algn="ctr">
              <a:buNone/>
            </a:pPr>
            <a:r>
              <a:rPr lang="en-US" sz="2800" b="1" dirty="0">
                <a:solidFill>
                  <a:schemeClr val="accent1"/>
                </a:solidFill>
                <a:latin typeface="Georgia Pro" pitchFamily="34" charset="0"/>
                <a:ea typeface="Georgia Pro" pitchFamily="34" charset="-122"/>
                <a:cs typeface="Georgia Pro" pitchFamily="34" charset="-120"/>
              </a:rPr>
              <a:t>21.7%</a:t>
            </a:r>
            <a:endParaRPr lang="en-US" sz="2800" dirty="0"/>
          </a:p>
        </p:txBody>
      </p:sp>
      <p:sp>
        <p:nvSpPr>
          <p:cNvPr id="15" name="Stat label 3"/>
          <p:cNvSpPr txBox="1"/>
          <p:nvPr/>
        </p:nvSpPr>
        <p:spPr>
          <a:xfrm>
            <a:off x="4626864" y="4050792"/>
            <a:ext cx="1920240" cy="320040"/>
          </a:xfrm>
          <a:prstGeom prst="rect">
            <a:avLst/>
          </a:prstGeom>
          <a:noFill/>
          <a:ln/>
        </p:spPr>
        <p:txBody>
          <a:bodyPr wrap="square" lIns="0" tIns="0" rIns="0" bIns="0" rtlCol="0" anchor="ctr"/>
          <a:lstStyle/>
          <a:p>
            <a:pPr marL="0" indent="0" algn="ctr">
              <a:buNone/>
            </a:pPr>
            <a:r>
              <a:rPr lang="en-US" sz="1400" dirty="0">
                <a:solidFill>
                  <a:schemeClr val="tx1"/>
                </a:solidFill>
              </a:rPr>
              <a:t>Medicaid/CHIP/state</a:t>
            </a:r>
            <a:endParaRPr lang="en-US" sz="1400" dirty="0"/>
          </a:p>
        </p:txBody>
      </p:sp>
      <p:sp>
        <p:nvSpPr>
          <p:cNvPr id="16" name="Stat card 4"/>
          <p:cNvSpPr/>
          <p:nvPr/>
        </p:nvSpPr>
        <p:spPr>
          <a:xfrm>
            <a:off x="6711696" y="3383280"/>
            <a:ext cx="1920240" cy="1097280"/>
          </a:xfrm>
          <a:prstGeom prst="roundRect">
            <a:avLst>
              <a:gd name="adj" fmla="val 10000"/>
            </a:avLst>
          </a:prstGeom>
          <a:solidFill>
            <a:schemeClr val="bg2"/>
          </a:solidFill>
          <a:ln w="12700">
            <a:solidFill>
              <a:schemeClr val="bg2"/>
            </a:solidFill>
            <a:prstDash val="solid"/>
          </a:ln>
        </p:spPr>
        <p:txBody>
          <a:bodyPr/>
          <a:lstStyle/>
          <a:p>
            <a:endParaRPr lang="en-US"/>
          </a:p>
        </p:txBody>
      </p:sp>
      <p:sp>
        <p:nvSpPr>
          <p:cNvPr id="17" name="Stat value 4"/>
          <p:cNvSpPr txBox="1"/>
          <p:nvPr/>
        </p:nvSpPr>
        <p:spPr>
          <a:xfrm>
            <a:off x="6711696" y="3456432"/>
            <a:ext cx="1920240" cy="594360"/>
          </a:xfrm>
          <a:prstGeom prst="rect">
            <a:avLst/>
          </a:prstGeom>
          <a:noFill/>
          <a:ln/>
        </p:spPr>
        <p:txBody>
          <a:bodyPr wrap="square" lIns="0" tIns="0" rIns="0" bIns="0" rtlCol="0" anchor="ctr"/>
          <a:lstStyle/>
          <a:p>
            <a:pPr marL="0" indent="0" algn="ctr">
              <a:buNone/>
            </a:pPr>
            <a:r>
              <a:rPr lang="en-US" sz="2800" b="1" dirty="0">
                <a:solidFill>
                  <a:schemeClr val="accent1"/>
                </a:solidFill>
                <a:latin typeface="Georgia Pro" pitchFamily="34" charset="0"/>
                <a:ea typeface="Georgia Pro" pitchFamily="34" charset="-122"/>
                <a:cs typeface="Georgia Pro" pitchFamily="34" charset="-120"/>
              </a:rPr>
              <a:t>9.8%</a:t>
            </a:r>
            <a:endParaRPr lang="en-US" sz="2800" dirty="0"/>
          </a:p>
        </p:txBody>
      </p:sp>
      <p:sp>
        <p:nvSpPr>
          <p:cNvPr id="18" name="Stat label 4"/>
          <p:cNvSpPr txBox="1"/>
          <p:nvPr/>
        </p:nvSpPr>
        <p:spPr>
          <a:xfrm>
            <a:off x="6711696" y="4050792"/>
            <a:ext cx="1920240" cy="320040"/>
          </a:xfrm>
          <a:prstGeom prst="rect">
            <a:avLst/>
          </a:prstGeom>
          <a:noFill/>
          <a:ln/>
        </p:spPr>
        <p:txBody>
          <a:bodyPr wrap="square" lIns="0" tIns="0" rIns="0" bIns="0" rtlCol="0" anchor="ctr"/>
          <a:lstStyle/>
          <a:p>
            <a:pPr marL="0" indent="0" algn="ctr">
              <a:buNone/>
            </a:pPr>
            <a:r>
              <a:rPr lang="en-US" sz="1400" dirty="0">
                <a:solidFill>
                  <a:schemeClr val="tx1"/>
                </a:solidFill>
              </a:rPr>
              <a:t>ever received help</a:t>
            </a:r>
            <a:endParaRPr lang="en-US" sz="1400" dirty="0"/>
          </a:p>
        </p:txBody>
      </p:sp>
      <p:sp>
        <p:nvSpPr>
          <p:cNvPr id="19" name="Footer"/>
          <p:cNvSpPr txBox="1"/>
          <p:nvPr/>
        </p:nvSpPr>
        <p:spPr>
          <a:xfrm>
            <a:off x="457200" y="4681728"/>
            <a:ext cx="7680960" cy="365760"/>
          </a:xfrm>
          <a:prstGeom prst="rect">
            <a:avLst/>
          </a:prstGeom>
          <a:noFill/>
          <a:ln/>
        </p:spPr>
        <p:txBody>
          <a:bodyPr wrap="square" lIns="0" tIns="0" rIns="0" bIns="0" rtlCol="0" anchor="ctr"/>
          <a:lstStyle/>
          <a:p>
            <a:pPr marL="0" indent="0">
              <a:buNone/>
            </a:pPr>
            <a:r>
              <a:rPr lang="en-US" sz="1100" dirty="0">
                <a:solidFill>
                  <a:schemeClr val="accent5"/>
                </a:solidFill>
              </a:rPr>
              <a:t>Percentages use survey weights.</a:t>
            </a:r>
            <a:endParaRPr lang="en-US" sz="11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6068"/>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Help Receipt Differs Across Insurance Groups</a:t>
            </a:r>
            <a:endParaRPr lang="en-US" sz="2800" dirty="0"/>
          </a:p>
        </p:txBody>
      </p:sp>
      <p:sp>
        <p:nvSpPr>
          <p:cNvPr id="3" name="Chart heading"/>
          <p:cNvSpPr txBox="1"/>
          <p:nvPr/>
        </p:nvSpPr>
        <p:spPr>
          <a:xfrm>
            <a:off x="457200" y="1280160"/>
            <a:ext cx="5303520" cy="320040"/>
          </a:xfrm>
          <a:prstGeom prst="rect">
            <a:avLst/>
          </a:prstGeom>
          <a:noFill/>
          <a:ln/>
        </p:spPr>
        <p:txBody>
          <a:bodyPr wrap="square" lIns="0" tIns="0" rIns="0" bIns="0" rtlCol="0" anchor="ctr"/>
          <a:lstStyle/>
          <a:p>
            <a:pPr marL="0" indent="0">
              <a:buNone/>
            </a:pPr>
            <a:r>
              <a:rPr lang="en-US" sz="1400" b="1" dirty="0">
                <a:solidFill>
                  <a:schemeClr val="tx2"/>
                </a:solidFill>
              </a:rPr>
              <a:t>Weighted percentage ever receiving medical help</a:t>
            </a:r>
            <a:endParaRPr lang="en-US" sz="1400" dirty="0"/>
          </a:p>
        </p:txBody>
      </p:sp>
      <p:sp>
        <p:nvSpPr>
          <p:cNvPr id="4" name="Chart placeholder help_received_by_insurance.png"/>
          <p:cNvSpPr/>
          <p:nvPr/>
        </p:nvSpPr>
        <p:spPr>
          <a:xfrm>
            <a:off x="457200" y="1691640"/>
            <a:ext cx="5394960" cy="2514600"/>
          </a:xfrm>
          <a:prstGeom prst="roundRect">
            <a:avLst>
              <a:gd name="adj" fmla="val 3636"/>
            </a:avLst>
          </a:prstGeom>
          <a:solidFill>
            <a:schemeClr val="bg2"/>
          </a:solidFill>
          <a:ln w="19050">
            <a:solidFill>
              <a:schemeClr val="accent1"/>
            </a:solidFill>
            <a:prstDash val="dash"/>
          </a:ln>
        </p:spPr>
        <p:txBody>
          <a:bodyPr/>
          <a:lstStyle/>
          <a:p>
            <a:endParaRPr lang="en-US"/>
          </a:p>
        </p:txBody>
      </p:sp>
      <p:sp>
        <p:nvSpPr>
          <p:cNvPr id="5" name="Placeholder label help_received_by_insurance.png"/>
          <p:cNvSpPr txBox="1"/>
          <p:nvPr/>
        </p:nvSpPr>
        <p:spPr>
          <a:xfrm>
            <a:off x="457200" y="1691640"/>
            <a:ext cx="5394960" cy="2514600"/>
          </a:xfrm>
          <a:prstGeom prst="rect">
            <a:avLst/>
          </a:prstGeom>
          <a:noFill/>
          <a:ln/>
        </p:spPr>
        <p:txBody>
          <a:bodyPr wrap="square" lIns="1270" tIns="1270" rIns="1270" bIns="1270" rtlCol="0" anchor="ctr"/>
          <a:lstStyle/>
          <a:p>
            <a:pPr marL="0" indent="0" algn="ctr">
              <a:buNone/>
            </a:pPr>
            <a:r>
              <a:rPr lang="en-US" sz="1400" b="1" dirty="0">
                <a:solidFill>
                  <a:schemeClr val="accent1"/>
                </a:solidFill>
              </a:rPr>
              <a:t>help_received_by_insurance.png</a:t>
            </a:r>
            <a:endParaRPr lang="en-US" sz="1400" dirty="0"/>
          </a:p>
          <a:p>
            <a:pPr marL="0" indent="0" algn="ctr">
              <a:buNone/>
            </a:pPr>
            <a:r>
              <a:rPr lang="en-US" sz="1100" dirty="0">
                <a:solidFill>
                  <a:schemeClr val="accent5"/>
                </a:solidFill>
              </a:rPr>
              <a:t>Weighted % ever receiving medical help, by insurance group</a:t>
            </a:r>
            <a:endParaRPr lang="en-US" sz="1400" dirty="0"/>
          </a:p>
        </p:txBody>
      </p:sp>
      <p:sp>
        <p:nvSpPr>
          <p:cNvPr id="6" name="Callout card"/>
          <p:cNvSpPr/>
          <p:nvPr/>
        </p:nvSpPr>
        <p:spPr>
          <a:xfrm>
            <a:off x="6035040" y="1280160"/>
            <a:ext cx="2651760" cy="2926080"/>
          </a:xfrm>
          <a:prstGeom prst="roundRect">
            <a:avLst>
              <a:gd name="adj" fmla="val 4138"/>
            </a:avLst>
          </a:prstGeom>
          <a:solidFill>
            <a:schemeClr val="tx2"/>
          </a:solidFill>
          <a:ln w="12700">
            <a:solidFill>
              <a:schemeClr val="tx2"/>
            </a:solidFill>
            <a:prstDash val="solid"/>
          </a:ln>
        </p:spPr>
        <p:txBody>
          <a:bodyPr/>
          <a:lstStyle/>
          <a:p>
            <a:endParaRPr lang="en-US"/>
          </a:p>
        </p:txBody>
      </p:sp>
      <p:sp>
        <p:nvSpPr>
          <p:cNvPr id="7" name="Callout label 1"/>
          <p:cNvSpPr txBox="1"/>
          <p:nvPr/>
        </p:nvSpPr>
        <p:spPr>
          <a:xfrm>
            <a:off x="6035040" y="1417320"/>
            <a:ext cx="2651760" cy="274320"/>
          </a:xfrm>
          <a:prstGeom prst="rect">
            <a:avLst/>
          </a:prstGeom>
          <a:noFill/>
          <a:ln/>
        </p:spPr>
        <p:txBody>
          <a:bodyPr wrap="square" lIns="0" tIns="0" rIns="0" bIns="0" rtlCol="0" anchor="ctr"/>
          <a:lstStyle/>
          <a:p>
            <a:pPr marL="0" indent="0" algn="ctr">
              <a:buNone/>
            </a:pPr>
            <a:r>
              <a:rPr lang="en-US" sz="1400" dirty="0">
                <a:solidFill>
                  <a:schemeClr val="accent3"/>
                </a:solidFill>
              </a:rPr>
              <a:t>Private</a:t>
            </a:r>
            <a:endParaRPr lang="en-US" sz="1400" dirty="0"/>
          </a:p>
        </p:txBody>
      </p:sp>
      <p:sp>
        <p:nvSpPr>
          <p:cNvPr id="8" name="Callout value 1"/>
          <p:cNvSpPr txBox="1"/>
          <p:nvPr/>
        </p:nvSpPr>
        <p:spPr>
          <a:xfrm>
            <a:off x="6035040" y="1691640"/>
            <a:ext cx="2651760" cy="640080"/>
          </a:xfrm>
          <a:prstGeom prst="rect">
            <a:avLst/>
          </a:prstGeom>
          <a:noFill/>
          <a:ln/>
        </p:spPr>
        <p:txBody>
          <a:bodyPr wrap="square" lIns="0" tIns="0" rIns="0" bIns="0" rtlCol="0" anchor="ctr"/>
          <a:lstStyle/>
          <a:p>
            <a:pPr marL="0" indent="0" algn="ctr">
              <a:buNone/>
            </a:pPr>
            <a:r>
              <a:rPr lang="en-US" sz="2800" b="1" dirty="0">
                <a:solidFill>
                  <a:schemeClr val="bg1"/>
                </a:solidFill>
                <a:latin typeface="Georgia Pro" pitchFamily="34" charset="0"/>
                <a:ea typeface="Georgia Pro" pitchFamily="34" charset="-122"/>
                <a:cs typeface="Georgia Pro" pitchFamily="34" charset="-120"/>
              </a:rPr>
              <a:t>12.9%</a:t>
            </a:r>
            <a:endParaRPr lang="en-US" sz="2800" dirty="0"/>
          </a:p>
        </p:txBody>
      </p:sp>
      <p:sp>
        <p:nvSpPr>
          <p:cNvPr id="9" name="Callout label 2"/>
          <p:cNvSpPr txBox="1"/>
          <p:nvPr/>
        </p:nvSpPr>
        <p:spPr>
          <a:xfrm>
            <a:off x="6035040" y="2423160"/>
            <a:ext cx="2651760" cy="274320"/>
          </a:xfrm>
          <a:prstGeom prst="rect">
            <a:avLst/>
          </a:prstGeom>
          <a:noFill/>
          <a:ln/>
        </p:spPr>
        <p:txBody>
          <a:bodyPr wrap="square" lIns="0" tIns="0" rIns="0" bIns="0" rtlCol="0" anchor="ctr"/>
          <a:lstStyle/>
          <a:p>
            <a:pPr marL="0" indent="0" algn="ctr">
              <a:buNone/>
            </a:pPr>
            <a:r>
              <a:rPr lang="en-US" sz="1400" dirty="0">
                <a:solidFill>
                  <a:schemeClr val="accent3"/>
                </a:solidFill>
              </a:rPr>
              <a:t>Medicaid/CHIP/state</a:t>
            </a:r>
            <a:endParaRPr lang="en-US" sz="1400" dirty="0"/>
          </a:p>
        </p:txBody>
      </p:sp>
      <p:sp>
        <p:nvSpPr>
          <p:cNvPr id="10" name="Callout value 2"/>
          <p:cNvSpPr txBox="1"/>
          <p:nvPr/>
        </p:nvSpPr>
        <p:spPr>
          <a:xfrm>
            <a:off x="6035040" y="2697480"/>
            <a:ext cx="2651760" cy="640080"/>
          </a:xfrm>
          <a:prstGeom prst="rect">
            <a:avLst/>
          </a:prstGeom>
          <a:noFill/>
          <a:ln/>
        </p:spPr>
        <p:txBody>
          <a:bodyPr wrap="square" lIns="0" tIns="0" rIns="0" bIns="0" rtlCol="0" anchor="ctr"/>
          <a:lstStyle/>
          <a:p>
            <a:pPr marL="0" indent="0" algn="ctr">
              <a:buNone/>
            </a:pPr>
            <a:r>
              <a:rPr lang="en-US" sz="2800" b="1" dirty="0">
                <a:solidFill>
                  <a:srgbClr val="FFB067"/>
                </a:solidFill>
                <a:latin typeface="Georgia Pro" pitchFamily="34" charset="0"/>
                <a:ea typeface="Georgia Pro" pitchFamily="34" charset="-122"/>
                <a:cs typeface="Georgia Pro" pitchFamily="34" charset="-120"/>
              </a:rPr>
              <a:t>4.3%</a:t>
            </a:r>
            <a:endParaRPr lang="en-US" sz="2800" dirty="0"/>
          </a:p>
        </p:txBody>
      </p:sp>
      <p:sp>
        <p:nvSpPr>
          <p:cNvPr id="11" name="Difference"/>
          <p:cNvSpPr txBox="1"/>
          <p:nvPr/>
        </p:nvSpPr>
        <p:spPr>
          <a:xfrm>
            <a:off x="6217920" y="3474720"/>
            <a:ext cx="2286000" cy="594360"/>
          </a:xfrm>
          <a:prstGeom prst="rect">
            <a:avLst/>
          </a:prstGeom>
          <a:noFill/>
          <a:ln/>
        </p:spPr>
        <p:txBody>
          <a:bodyPr wrap="square" lIns="0" tIns="0" rIns="0" bIns="0" rtlCol="0" anchor="ctr"/>
          <a:lstStyle/>
          <a:p>
            <a:pPr marL="0" indent="0" algn="ctr">
              <a:buNone/>
            </a:pPr>
            <a:r>
              <a:rPr lang="en-US" sz="1400" dirty="0">
                <a:solidFill>
                  <a:srgbClr val="F5C9A6"/>
                </a:solidFill>
              </a:rPr>
              <a:t>Difference: </a:t>
            </a:r>
            <a:r>
              <a:rPr lang="en-US" sz="1400" b="1" dirty="0">
                <a:solidFill>
                  <a:srgbClr val="FFFFFF"/>
                </a:solidFill>
              </a:rPr>
              <a:t>approximately 8.5 percentage points</a:t>
            </a:r>
            <a:endParaRPr lang="en-US" sz="1400" dirty="0"/>
          </a:p>
        </p:txBody>
      </p:sp>
      <p:sp>
        <p:nvSpPr>
          <p:cNvPr id="12" name="Takeaway"/>
          <p:cNvSpPr txBox="1"/>
          <p:nvPr/>
        </p:nvSpPr>
        <p:spPr>
          <a:xfrm>
            <a:off x="457200" y="4297680"/>
            <a:ext cx="8229600" cy="320040"/>
          </a:xfrm>
          <a:prstGeom prst="rect">
            <a:avLst/>
          </a:prstGeom>
          <a:noFill/>
          <a:ln/>
        </p:spPr>
        <p:txBody>
          <a:bodyPr wrap="square" lIns="0" tIns="0" rIns="0" bIns="0" rtlCol="0" anchor="ctr"/>
          <a:lstStyle/>
          <a:p>
            <a:pPr marL="0" indent="0">
              <a:buNone/>
            </a:pPr>
            <a:r>
              <a:rPr lang="en-US" sz="1400" b="1" i="1" dirty="0">
                <a:solidFill>
                  <a:schemeClr val="tx2"/>
                </a:solidFill>
              </a:rPr>
              <a:t>These rates are unadjusted.</a:t>
            </a:r>
            <a:endParaRPr lang="en-US" sz="1400" dirty="0"/>
          </a:p>
        </p:txBody>
      </p:sp>
      <p:sp>
        <p:nvSpPr>
          <p:cNvPr id="13" name="Footer"/>
          <p:cNvSpPr txBox="1"/>
          <p:nvPr/>
        </p:nvSpPr>
        <p:spPr>
          <a:xfrm>
            <a:off x="457200" y="4681728"/>
            <a:ext cx="7680960" cy="365760"/>
          </a:xfrm>
          <a:prstGeom prst="rect">
            <a:avLst/>
          </a:prstGeom>
          <a:noFill/>
          <a:ln/>
        </p:spPr>
        <p:txBody>
          <a:bodyPr wrap="square" lIns="0" tIns="0" rIns="0" bIns="0" rtlCol="0" anchor="ctr"/>
          <a:lstStyle/>
          <a:p>
            <a:pPr marL="0" indent="0">
              <a:buNone/>
            </a:pPr>
            <a:r>
              <a:rPr lang="en-US" sz="1100" dirty="0">
                <a:solidFill>
                  <a:schemeClr val="accent5"/>
                </a:solidFill>
              </a:rPr>
              <a:t>Source: NSFG 2022–2023. Weighted estimates. Analysis n = 5,195.</a:t>
            </a:r>
            <a:endParaRPr lang="en-US" sz="11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6068"/>
                </a:solidFill>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Insurance Groups Have Different Characteristics</a:t>
            </a:r>
            <a:endParaRPr lang="en-US" sz="2800" dirty="0"/>
          </a:p>
        </p:txBody>
      </p:sp>
      <p:sp>
        <p:nvSpPr>
          <p:cNvPr id="3" name="Chart placeholder confounder_comparison.png"/>
          <p:cNvSpPr/>
          <p:nvPr/>
        </p:nvSpPr>
        <p:spPr>
          <a:xfrm>
            <a:off x="457200" y="1280160"/>
            <a:ext cx="5120640" cy="1828800"/>
          </a:xfrm>
          <a:prstGeom prst="roundRect">
            <a:avLst>
              <a:gd name="adj" fmla="val 5000"/>
            </a:avLst>
          </a:prstGeom>
          <a:solidFill>
            <a:schemeClr val="bg2"/>
          </a:solidFill>
          <a:ln w="19050">
            <a:solidFill>
              <a:schemeClr val="accent1"/>
            </a:solidFill>
            <a:prstDash val="dash"/>
          </a:ln>
        </p:spPr>
        <p:txBody>
          <a:bodyPr/>
          <a:lstStyle/>
          <a:p>
            <a:endParaRPr lang="en-US"/>
          </a:p>
        </p:txBody>
      </p:sp>
      <p:sp>
        <p:nvSpPr>
          <p:cNvPr id="4" name="Placeholder label confounder_comparison.png"/>
          <p:cNvSpPr txBox="1"/>
          <p:nvPr/>
        </p:nvSpPr>
        <p:spPr>
          <a:xfrm>
            <a:off x="457200" y="1280160"/>
            <a:ext cx="5120640" cy="1828800"/>
          </a:xfrm>
          <a:prstGeom prst="rect">
            <a:avLst/>
          </a:prstGeom>
          <a:noFill/>
          <a:ln/>
        </p:spPr>
        <p:txBody>
          <a:bodyPr wrap="square" lIns="1270" tIns="1270" rIns="1270" bIns="1270" rtlCol="0" anchor="ctr"/>
          <a:lstStyle/>
          <a:p>
            <a:pPr marL="0" indent="0" algn="ctr">
              <a:buNone/>
            </a:pPr>
            <a:r>
              <a:rPr lang="en-US" sz="1400" b="1" dirty="0">
                <a:solidFill>
                  <a:schemeClr val="accent1"/>
                </a:solidFill>
              </a:rPr>
              <a:t>confounder_comparison.png</a:t>
            </a:r>
            <a:endParaRPr lang="en-US" sz="1400" dirty="0"/>
          </a:p>
          <a:p>
            <a:pPr marL="0" indent="0" algn="ctr">
              <a:buNone/>
            </a:pPr>
            <a:r>
              <a:rPr lang="en-US" sz="1100" dirty="0">
                <a:solidFill>
                  <a:schemeClr val="accent5"/>
                </a:solidFill>
              </a:rPr>
              <a:t>Main visual</a:t>
            </a:r>
            <a:endParaRPr lang="en-US" sz="1400" dirty="0"/>
          </a:p>
        </p:txBody>
      </p:sp>
      <p:sp>
        <p:nvSpPr>
          <p:cNvPr id="5" name="Chart placeholder education_composition.png"/>
          <p:cNvSpPr/>
          <p:nvPr/>
        </p:nvSpPr>
        <p:spPr>
          <a:xfrm>
            <a:off x="5760720" y="1280160"/>
            <a:ext cx="2926080" cy="1828800"/>
          </a:xfrm>
          <a:prstGeom prst="roundRect">
            <a:avLst>
              <a:gd name="adj" fmla="val 5000"/>
            </a:avLst>
          </a:prstGeom>
          <a:solidFill>
            <a:schemeClr val="bg2"/>
          </a:solidFill>
          <a:ln w="19050">
            <a:solidFill>
              <a:schemeClr val="accent1"/>
            </a:solidFill>
            <a:prstDash val="dash"/>
          </a:ln>
        </p:spPr>
        <p:txBody>
          <a:bodyPr/>
          <a:lstStyle/>
          <a:p>
            <a:endParaRPr lang="en-US"/>
          </a:p>
        </p:txBody>
      </p:sp>
      <p:sp>
        <p:nvSpPr>
          <p:cNvPr id="6" name="Placeholder label education_composition.png"/>
          <p:cNvSpPr txBox="1"/>
          <p:nvPr/>
        </p:nvSpPr>
        <p:spPr>
          <a:xfrm>
            <a:off x="5760720" y="1280160"/>
            <a:ext cx="2926080" cy="1828800"/>
          </a:xfrm>
          <a:prstGeom prst="rect">
            <a:avLst/>
          </a:prstGeom>
          <a:noFill/>
          <a:ln/>
        </p:spPr>
        <p:txBody>
          <a:bodyPr wrap="square" lIns="1270" tIns="1270" rIns="1270" bIns="1270" rtlCol="0" anchor="ctr"/>
          <a:lstStyle/>
          <a:p>
            <a:pPr marL="0" indent="0" algn="ctr">
              <a:buNone/>
            </a:pPr>
            <a:r>
              <a:rPr lang="en-US" sz="1400" b="1" dirty="0">
                <a:solidFill>
                  <a:schemeClr val="accent1"/>
                </a:solidFill>
              </a:rPr>
              <a:t>education_composition.png</a:t>
            </a:r>
            <a:endParaRPr lang="en-US" sz="1400" dirty="0"/>
          </a:p>
          <a:p>
            <a:pPr marL="0" indent="0" algn="ctr">
              <a:buNone/>
            </a:pPr>
            <a:r>
              <a:rPr lang="en-US" sz="1100" dirty="0">
                <a:solidFill>
                  <a:schemeClr val="accent5"/>
                </a:solidFill>
              </a:rPr>
              <a:t>Reveal afterward, or crop education panel</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218688"/>
          <a:ext cx="822960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Characteristic</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Private</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Medicaid/CHIP/state</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extLst>
                  <a:ext uri="{0D108BD9-81ED-4DB2-BD59-A6C34878D82A}">
                    <a16:rowId xmlns:a16="http://schemas.microsoft.com/office/drawing/2014/main" val="10000"/>
                  </a:ext>
                </a:extLst>
              </a:tr>
              <a:tr h="256032">
                <a:tc>
                  <a:txBody>
                    <a:bodyPr/>
                    <a:lstStyle/>
                    <a:p>
                      <a:pPr marL="0" indent="0">
                        <a:buNone/>
                      </a:pPr>
                      <a:r>
                        <a:rPr lang="en-US" sz="1100" b="1" dirty="0">
                          <a:solidFill>
                            <a:srgbClr val="3A1F3D"/>
                          </a:solidFill>
                        </a:rPr>
                        <a:t>Mean age</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dirty="0">
                          <a:solidFill>
                            <a:srgbClr val="000000"/>
                          </a:solidFill>
                        </a:rPr>
                        <a:t>34.1</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dirty="0">
                          <a:solidFill>
                            <a:srgbClr val="000000"/>
                          </a:solidFill>
                        </a:rPr>
                        <a:t>30.9</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buNone/>
                      </a:pPr>
                      <a:r>
                        <a:rPr lang="en-US" sz="1100" b="1" dirty="0">
                          <a:solidFill>
                            <a:srgbClr val="3A1F3D"/>
                          </a:solidFill>
                        </a:rPr>
                        <a:t>Mean income as % of poverty threshold</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dirty="0">
                          <a:solidFill>
                            <a:srgbClr val="000000"/>
                          </a:solidFill>
                        </a:rPr>
                        <a:t>407%</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dirty="0">
                          <a:solidFill>
                            <a:srgbClr val="000000"/>
                          </a:solidFill>
                        </a:rPr>
                        <a:t>168%</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2"/>
                  </a:ext>
                </a:extLst>
              </a:tr>
              <a:tr h="256032">
                <a:tc>
                  <a:txBody>
                    <a:bodyPr/>
                    <a:lstStyle/>
                    <a:p>
                      <a:pPr marL="0" indent="0">
                        <a:buNone/>
                      </a:pPr>
                      <a:r>
                        <a:rPr lang="en-US" sz="1100" b="1" dirty="0">
                          <a:solidFill>
                            <a:srgbClr val="3A1F3D"/>
                          </a:solidFill>
                        </a:rPr>
                        <a:t>Bachelor’s degree or higher</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dirty="0">
                          <a:solidFill>
                            <a:srgbClr val="000000"/>
                          </a:solidFill>
                        </a:rPr>
                        <a:t>54.2%</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dirty="0">
                          <a:solidFill>
                            <a:srgbClr val="000000"/>
                          </a:solidFill>
                        </a:rPr>
                        <a:t>11.7%</a:t>
                      </a:r>
                      <a:endParaRPr lang="en-US" sz="1100" dirty="0"/>
                    </a:p>
                  </a:txBody>
                  <a:tcPr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akeaway"/>
          <p:cNvSpPr txBox="1"/>
          <p:nvPr/>
        </p:nvSpPr>
        <p:spPr>
          <a:xfrm>
            <a:off x="457200" y="4389120"/>
            <a:ext cx="8229600" cy="320040"/>
          </a:xfrm>
          <a:prstGeom prst="rect">
            <a:avLst/>
          </a:prstGeom>
          <a:noFill/>
          <a:ln/>
        </p:spPr>
        <p:txBody>
          <a:bodyPr wrap="square" lIns="0" tIns="0" rIns="0" bIns="0" rtlCol="0" anchor="ctr"/>
          <a:lstStyle/>
          <a:p>
            <a:pPr marL="0" indent="0">
              <a:buNone/>
            </a:pPr>
            <a:r>
              <a:rPr lang="en-US" sz="1400" b="1" i="1" dirty="0">
                <a:solidFill>
                  <a:schemeClr val="tx2"/>
                </a:solidFill>
              </a:rPr>
              <a:t>These differences motivate statistical adjustment.</a:t>
            </a:r>
            <a:endParaRPr lang="en-US" sz="1400" dirty="0"/>
          </a:p>
        </p:txBody>
      </p:sp>
      <p:sp>
        <p:nvSpPr>
          <p:cNvPr id="9" name="Footer"/>
          <p:cNvSpPr txBox="1"/>
          <p:nvPr/>
        </p:nvSpPr>
        <p:spPr>
          <a:xfrm>
            <a:off x="457200" y="4681728"/>
            <a:ext cx="7680960" cy="365760"/>
          </a:xfrm>
          <a:prstGeom prst="rect">
            <a:avLst/>
          </a:prstGeom>
          <a:noFill/>
          <a:ln/>
        </p:spPr>
        <p:txBody>
          <a:bodyPr wrap="square" lIns="0" tIns="0" rIns="0" bIns="0" rtlCol="0" anchor="ctr"/>
          <a:lstStyle/>
          <a:p>
            <a:pPr marL="0" indent="0">
              <a:buNone/>
            </a:pPr>
            <a:r>
              <a:rPr lang="en-US" sz="1100" dirty="0">
                <a:solidFill>
                  <a:schemeClr val="accent5"/>
                </a:solidFill>
              </a:rPr>
              <a:t>Source: NSFG 2022–2023. Weighted estimates. Analysis n = 5,195.</a:t>
            </a:r>
            <a:endParaRPr lang="en-US" sz="11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6068"/>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Help Receipt Also Varies with Age, Income, and Education</a:t>
            </a:r>
            <a:endParaRPr lang="en-US" sz="2800" dirty="0"/>
          </a:p>
        </p:txBody>
      </p:sp>
      <p:sp>
        <p:nvSpPr>
          <p:cNvPr id="3" name="Panel card 1"/>
          <p:cNvSpPr/>
          <p:nvPr/>
        </p:nvSpPr>
        <p:spPr>
          <a:xfrm>
            <a:off x="457200" y="1234440"/>
            <a:ext cx="2596896" cy="3200400"/>
          </a:xfrm>
          <a:prstGeom prst="roundRect">
            <a:avLst>
              <a:gd name="adj" fmla="val 4225"/>
            </a:avLst>
          </a:prstGeom>
          <a:solidFill>
            <a:schemeClr val="bg2"/>
          </a:solidFill>
          <a:ln w="12700">
            <a:solidFill>
              <a:schemeClr val="bg2"/>
            </a:solidFill>
            <a:prstDash val="solid"/>
          </a:ln>
        </p:spPr>
        <p:txBody>
          <a:bodyPr/>
          <a:lstStyle/>
          <a:p>
            <a:endParaRPr lang="en-US"/>
          </a:p>
        </p:txBody>
      </p:sp>
      <p:sp>
        <p:nvSpPr>
          <p:cNvPr id="4" name="Panel heading 1"/>
          <p:cNvSpPr txBox="1"/>
          <p:nvPr/>
        </p:nvSpPr>
        <p:spPr>
          <a:xfrm>
            <a:off x="594360" y="1307592"/>
            <a:ext cx="2322576" cy="365760"/>
          </a:xfrm>
          <a:prstGeom prst="rect">
            <a:avLst/>
          </a:prstGeom>
          <a:noFill/>
          <a:ln/>
        </p:spPr>
        <p:txBody>
          <a:bodyPr wrap="square" lIns="0" tIns="0" rIns="0" bIns="0" rtlCol="0" anchor="ctr"/>
          <a:lstStyle/>
          <a:p>
            <a:pPr marL="0" indent="0">
              <a:buNone/>
            </a:pPr>
            <a:r>
              <a:rPr lang="en-US" sz="1400" b="1" dirty="0">
                <a:solidFill>
                  <a:schemeClr val="tx2"/>
                </a:solidFill>
              </a:rPr>
              <a:t>Age</a:t>
            </a:r>
            <a:endParaRPr lang="en-US" sz="1400" dirty="0"/>
          </a:p>
        </p:txBody>
      </p:sp>
      <p:sp>
        <p:nvSpPr>
          <p:cNvPr id="5" name="Chart placeholder help_by_age_group.png"/>
          <p:cNvSpPr/>
          <p:nvPr/>
        </p:nvSpPr>
        <p:spPr>
          <a:xfrm>
            <a:off x="566928" y="1737360"/>
            <a:ext cx="2377440" cy="1645920"/>
          </a:xfrm>
          <a:prstGeom prst="roundRect">
            <a:avLst>
              <a:gd name="adj" fmla="val 5556"/>
            </a:avLst>
          </a:prstGeom>
          <a:solidFill>
            <a:schemeClr val="bg2"/>
          </a:solidFill>
          <a:ln w="19050">
            <a:solidFill>
              <a:schemeClr val="accent1"/>
            </a:solidFill>
            <a:prstDash val="dash"/>
          </a:ln>
        </p:spPr>
        <p:txBody>
          <a:bodyPr/>
          <a:lstStyle/>
          <a:p>
            <a:endParaRPr lang="en-US"/>
          </a:p>
        </p:txBody>
      </p:sp>
      <p:sp>
        <p:nvSpPr>
          <p:cNvPr id="6" name="Placeholder label help_by_age_group.png"/>
          <p:cNvSpPr txBox="1"/>
          <p:nvPr/>
        </p:nvSpPr>
        <p:spPr>
          <a:xfrm>
            <a:off x="566928" y="1737360"/>
            <a:ext cx="2377440" cy="1645920"/>
          </a:xfrm>
          <a:prstGeom prst="rect">
            <a:avLst/>
          </a:prstGeom>
          <a:noFill/>
          <a:ln/>
        </p:spPr>
        <p:txBody>
          <a:bodyPr wrap="square" lIns="1270" tIns="1270" rIns="1270" bIns="1270" rtlCol="0" anchor="ctr"/>
          <a:lstStyle/>
          <a:p>
            <a:pPr marL="0" indent="0" algn="ctr">
              <a:buNone/>
            </a:pPr>
            <a:r>
              <a:rPr lang="en-US" sz="1400" b="1" dirty="0">
                <a:solidFill>
                  <a:schemeClr val="accent1"/>
                </a:solidFill>
              </a:rPr>
              <a:t>help_by_age_group.png</a:t>
            </a:r>
            <a:endParaRPr lang="en-US" sz="1400" dirty="0"/>
          </a:p>
          <a:p>
            <a:pPr marL="0" indent="0" algn="ctr">
              <a:buNone/>
            </a:pPr>
            <a:r>
              <a:rPr lang="en-US" sz="1100" dirty="0">
                <a:solidFill>
                  <a:schemeClr val="accent5"/>
                </a:solidFill>
              </a:rPr>
              <a:t>Chart placeholder</a:t>
            </a:r>
            <a:endParaRPr lang="en-US" sz="1400" dirty="0"/>
          </a:p>
        </p:txBody>
      </p:sp>
      <p:sp>
        <p:nvSpPr>
          <p:cNvPr id="7" name="Panel annotation 1"/>
          <p:cNvSpPr txBox="1"/>
          <p:nvPr/>
        </p:nvSpPr>
        <p:spPr>
          <a:xfrm>
            <a:off x="594360" y="3474720"/>
            <a:ext cx="2322576" cy="868680"/>
          </a:xfrm>
          <a:prstGeom prst="rect">
            <a:avLst/>
          </a:prstGeom>
          <a:noFill/>
          <a:ln/>
        </p:spPr>
        <p:txBody>
          <a:bodyPr wrap="square" lIns="0" tIns="0" rIns="0" bIns="0" rtlCol="0" anchor="t"/>
          <a:lstStyle/>
          <a:p>
            <a:pPr marL="0" indent="0">
              <a:buNone/>
            </a:pPr>
            <a:r>
              <a:rPr lang="en-US" sz="1400" dirty="0">
                <a:solidFill>
                  <a:schemeClr val="tx1"/>
                </a:solidFill>
              </a:rPr>
              <a:t>1.5% at 15–24, compared with 15.5% at 35–44</a:t>
            </a:r>
            <a:endParaRPr lang="en-US" sz="1400" dirty="0"/>
          </a:p>
        </p:txBody>
      </p:sp>
      <p:sp>
        <p:nvSpPr>
          <p:cNvPr id="8" name="Panel card 2"/>
          <p:cNvSpPr/>
          <p:nvPr/>
        </p:nvSpPr>
        <p:spPr>
          <a:xfrm>
            <a:off x="3273552" y="1234440"/>
            <a:ext cx="2596896" cy="3200400"/>
          </a:xfrm>
          <a:prstGeom prst="roundRect">
            <a:avLst>
              <a:gd name="adj" fmla="val 4225"/>
            </a:avLst>
          </a:prstGeom>
          <a:solidFill>
            <a:schemeClr val="bg2"/>
          </a:solidFill>
          <a:ln w="12700">
            <a:solidFill>
              <a:schemeClr val="bg2"/>
            </a:solidFill>
            <a:prstDash val="solid"/>
          </a:ln>
        </p:spPr>
        <p:txBody>
          <a:bodyPr/>
          <a:lstStyle/>
          <a:p>
            <a:endParaRPr lang="en-US"/>
          </a:p>
        </p:txBody>
      </p:sp>
      <p:sp>
        <p:nvSpPr>
          <p:cNvPr id="9" name="Panel heading 2"/>
          <p:cNvSpPr txBox="1"/>
          <p:nvPr/>
        </p:nvSpPr>
        <p:spPr>
          <a:xfrm>
            <a:off x="3410712" y="1307592"/>
            <a:ext cx="2322576" cy="365760"/>
          </a:xfrm>
          <a:prstGeom prst="rect">
            <a:avLst/>
          </a:prstGeom>
          <a:noFill/>
          <a:ln/>
        </p:spPr>
        <p:txBody>
          <a:bodyPr wrap="square" lIns="0" tIns="0" rIns="0" bIns="0" rtlCol="0" anchor="ctr"/>
          <a:lstStyle/>
          <a:p>
            <a:pPr marL="0" indent="0">
              <a:buNone/>
            </a:pPr>
            <a:r>
              <a:rPr lang="en-US" sz="1400" b="1" dirty="0">
                <a:solidFill>
                  <a:schemeClr val="tx2"/>
                </a:solidFill>
              </a:rPr>
              <a:t>Income</a:t>
            </a:r>
            <a:endParaRPr lang="en-US" sz="1400" dirty="0"/>
          </a:p>
        </p:txBody>
      </p:sp>
      <p:sp>
        <p:nvSpPr>
          <p:cNvPr id="10" name="Chart placeholder help_by_income_group.png"/>
          <p:cNvSpPr/>
          <p:nvPr/>
        </p:nvSpPr>
        <p:spPr>
          <a:xfrm>
            <a:off x="3383280" y="1737360"/>
            <a:ext cx="2377440" cy="1645920"/>
          </a:xfrm>
          <a:prstGeom prst="roundRect">
            <a:avLst>
              <a:gd name="adj" fmla="val 5556"/>
            </a:avLst>
          </a:prstGeom>
          <a:solidFill>
            <a:schemeClr val="bg2"/>
          </a:solidFill>
          <a:ln w="19050">
            <a:solidFill>
              <a:schemeClr val="accent1"/>
            </a:solidFill>
            <a:prstDash val="dash"/>
          </a:ln>
        </p:spPr>
        <p:txBody>
          <a:bodyPr/>
          <a:lstStyle/>
          <a:p>
            <a:endParaRPr lang="en-US"/>
          </a:p>
        </p:txBody>
      </p:sp>
      <p:sp>
        <p:nvSpPr>
          <p:cNvPr id="11" name="Placeholder label help_by_income_group.png"/>
          <p:cNvSpPr txBox="1"/>
          <p:nvPr/>
        </p:nvSpPr>
        <p:spPr>
          <a:xfrm>
            <a:off x="3383280" y="1737360"/>
            <a:ext cx="2377440" cy="1645920"/>
          </a:xfrm>
          <a:prstGeom prst="rect">
            <a:avLst/>
          </a:prstGeom>
          <a:noFill/>
          <a:ln/>
        </p:spPr>
        <p:txBody>
          <a:bodyPr wrap="square" lIns="1270" tIns="1270" rIns="1270" bIns="1270" rtlCol="0" anchor="ctr"/>
          <a:lstStyle/>
          <a:p>
            <a:pPr marL="0" indent="0" algn="ctr">
              <a:buNone/>
            </a:pPr>
            <a:r>
              <a:rPr lang="en-US" sz="1400" b="1" dirty="0">
                <a:solidFill>
                  <a:schemeClr val="accent1"/>
                </a:solidFill>
              </a:rPr>
              <a:t>help_by_income_group.png</a:t>
            </a:r>
            <a:endParaRPr lang="en-US" sz="1400" dirty="0"/>
          </a:p>
          <a:p>
            <a:pPr marL="0" indent="0" algn="ctr">
              <a:buNone/>
            </a:pPr>
            <a:r>
              <a:rPr lang="en-US" sz="1100" dirty="0">
                <a:solidFill>
                  <a:schemeClr val="accent5"/>
                </a:solidFill>
              </a:rPr>
              <a:t>Chart placeholder</a:t>
            </a:r>
            <a:endParaRPr lang="en-US" sz="1400" dirty="0"/>
          </a:p>
        </p:txBody>
      </p:sp>
      <p:sp>
        <p:nvSpPr>
          <p:cNvPr id="12" name="Panel annotation 2"/>
          <p:cNvSpPr txBox="1"/>
          <p:nvPr/>
        </p:nvSpPr>
        <p:spPr>
          <a:xfrm>
            <a:off x="3410712" y="3474720"/>
            <a:ext cx="2322576" cy="868680"/>
          </a:xfrm>
          <a:prstGeom prst="rect">
            <a:avLst/>
          </a:prstGeom>
          <a:noFill/>
          <a:ln/>
        </p:spPr>
        <p:txBody>
          <a:bodyPr wrap="square" lIns="0" tIns="0" rIns="0" bIns="0" rtlCol="0" anchor="t"/>
          <a:lstStyle/>
          <a:p>
            <a:pPr marL="0" indent="0">
              <a:buNone/>
            </a:pPr>
            <a:r>
              <a:rPr lang="en-US" sz="1400" dirty="0">
                <a:solidFill>
                  <a:schemeClr val="tx1"/>
                </a:solidFill>
              </a:rPr>
              <a:t>4.5% at ≤100% of poverty, compared with 13.9% above 400%</a:t>
            </a:r>
            <a:endParaRPr lang="en-US" sz="1400" dirty="0"/>
          </a:p>
        </p:txBody>
      </p:sp>
      <p:sp>
        <p:nvSpPr>
          <p:cNvPr id="13" name="Panel card 3"/>
          <p:cNvSpPr/>
          <p:nvPr/>
        </p:nvSpPr>
        <p:spPr>
          <a:xfrm>
            <a:off x="6089904" y="1234440"/>
            <a:ext cx="2596896" cy="3200400"/>
          </a:xfrm>
          <a:prstGeom prst="roundRect">
            <a:avLst>
              <a:gd name="adj" fmla="val 4225"/>
            </a:avLst>
          </a:prstGeom>
          <a:solidFill>
            <a:schemeClr val="bg2"/>
          </a:solidFill>
          <a:ln w="12700">
            <a:solidFill>
              <a:schemeClr val="bg2"/>
            </a:solidFill>
            <a:prstDash val="solid"/>
          </a:ln>
        </p:spPr>
        <p:txBody>
          <a:bodyPr/>
          <a:lstStyle/>
          <a:p>
            <a:endParaRPr lang="en-US"/>
          </a:p>
        </p:txBody>
      </p:sp>
      <p:sp>
        <p:nvSpPr>
          <p:cNvPr id="14" name="Panel heading 3"/>
          <p:cNvSpPr txBox="1"/>
          <p:nvPr/>
        </p:nvSpPr>
        <p:spPr>
          <a:xfrm>
            <a:off x="6227064" y="1307592"/>
            <a:ext cx="2322576" cy="365760"/>
          </a:xfrm>
          <a:prstGeom prst="rect">
            <a:avLst/>
          </a:prstGeom>
          <a:noFill/>
          <a:ln/>
        </p:spPr>
        <p:txBody>
          <a:bodyPr wrap="square" lIns="0" tIns="0" rIns="0" bIns="0" rtlCol="0" anchor="ctr"/>
          <a:lstStyle/>
          <a:p>
            <a:pPr marL="0" indent="0">
              <a:buNone/>
            </a:pPr>
            <a:r>
              <a:rPr lang="en-US" sz="1400" b="1" dirty="0">
                <a:solidFill>
                  <a:schemeClr val="tx2"/>
                </a:solidFill>
              </a:rPr>
              <a:t>Education</a:t>
            </a:r>
            <a:endParaRPr lang="en-US" sz="1400" dirty="0"/>
          </a:p>
        </p:txBody>
      </p:sp>
      <p:sp>
        <p:nvSpPr>
          <p:cNvPr id="15" name="Chart placeholder help_by_education.png"/>
          <p:cNvSpPr/>
          <p:nvPr/>
        </p:nvSpPr>
        <p:spPr>
          <a:xfrm>
            <a:off x="6199632" y="1737360"/>
            <a:ext cx="2377440" cy="1645920"/>
          </a:xfrm>
          <a:prstGeom prst="roundRect">
            <a:avLst>
              <a:gd name="adj" fmla="val 5556"/>
            </a:avLst>
          </a:prstGeom>
          <a:solidFill>
            <a:schemeClr val="bg2"/>
          </a:solidFill>
          <a:ln w="19050">
            <a:solidFill>
              <a:schemeClr val="accent1"/>
            </a:solidFill>
            <a:prstDash val="dash"/>
          </a:ln>
        </p:spPr>
        <p:txBody>
          <a:bodyPr/>
          <a:lstStyle/>
          <a:p>
            <a:endParaRPr lang="en-US"/>
          </a:p>
        </p:txBody>
      </p:sp>
      <p:sp>
        <p:nvSpPr>
          <p:cNvPr id="16" name="Placeholder label help_by_education.png"/>
          <p:cNvSpPr txBox="1"/>
          <p:nvPr/>
        </p:nvSpPr>
        <p:spPr>
          <a:xfrm>
            <a:off x="6199632" y="1737360"/>
            <a:ext cx="2377440" cy="1645920"/>
          </a:xfrm>
          <a:prstGeom prst="rect">
            <a:avLst/>
          </a:prstGeom>
          <a:noFill/>
          <a:ln/>
        </p:spPr>
        <p:txBody>
          <a:bodyPr wrap="square" lIns="1270" tIns="1270" rIns="1270" bIns="1270" rtlCol="0" anchor="ctr"/>
          <a:lstStyle/>
          <a:p>
            <a:pPr marL="0" indent="0" algn="ctr">
              <a:buNone/>
            </a:pPr>
            <a:r>
              <a:rPr lang="en-US" sz="1400" b="1" dirty="0">
                <a:solidFill>
                  <a:schemeClr val="accent1"/>
                </a:solidFill>
              </a:rPr>
              <a:t>help_by_education.png</a:t>
            </a:r>
            <a:endParaRPr lang="en-US" sz="1400" dirty="0"/>
          </a:p>
          <a:p>
            <a:pPr marL="0" indent="0" algn="ctr">
              <a:buNone/>
            </a:pPr>
            <a:r>
              <a:rPr lang="en-US" sz="1100" dirty="0">
                <a:solidFill>
                  <a:schemeClr val="accent5"/>
                </a:solidFill>
              </a:rPr>
              <a:t>Chart placeholder</a:t>
            </a:r>
            <a:endParaRPr lang="en-US" sz="1400" dirty="0"/>
          </a:p>
        </p:txBody>
      </p:sp>
      <p:sp>
        <p:nvSpPr>
          <p:cNvPr id="17" name="Panel annotation 3"/>
          <p:cNvSpPr txBox="1"/>
          <p:nvPr/>
        </p:nvSpPr>
        <p:spPr>
          <a:xfrm>
            <a:off x="6227064" y="3474720"/>
            <a:ext cx="2322576" cy="868680"/>
          </a:xfrm>
          <a:prstGeom prst="rect">
            <a:avLst/>
          </a:prstGeom>
          <a:noFill/>
          <a:ln/>
        </p:spPr>
        <p:txBody>
          <a:bodyPr wrap="square" lIns="0" tIns="0" rIns="0" bIns="0" rtlCol="0" anchor="t"/>
          <a:lstStyle/>
          <a:p>
            <a:pPr marL="0" indent="0">
              <a:buNone/>
            </a:pPr>
            <a:r>
              <a:rPr lang="en-US" sz="1400" dirty="0">
                <a:solidFill>
                  <a:schemeClr val="tx1"/>
                </a:solidFill>
              </a:rPr>
              <a:t>4.3% below high school, compared with 15.1% for bachelor’s or higher</a:t>
            </a:r>
            <a:endParaRPr lang="en-US" sz="1400" dirty="0"/>
          </a:p>
        </p:txBody>
      </p:sp>
      <p:sp>
        <p:nvSpPr>
          <p:cNvPr id="18" name="Footer"/>
          <p:cNvSpPr txBox="1"/>
          <p:nvPr/>
        </p:nvSpPr>
        <p:spPr>
          <a:xfrm>
            <a:off x="457200" y="4681728"/>
            <a:ext cx="7680960" cy="365760"/>
          </a:xfrm>
          <a:prstGeom prst="rect">
            <a:avLst/>
          </a:prstGeom>
          <a:noFill/>
          <a:ln/>
        </p:spPr>
        <p:txBody>
          <a:bodyPr wrap="square" lIns="0" tIns="0" rIns="0" bIns="0" rtlCol="0" anchor="ctr"/>
          <a:lstStyle/>
          <a:p>
            <a:pPr marL="0" indent="0">
              <a:buNone/>
            </a:pPr>
            <a:r>
              <a:rPr lang="en-US" sz="1100" dirty="0">
                <a:solidFill>
                  <a:schemeClr val="accent5"/>
                </a:solidFill>
              </a:rPr>
              <a:t>Source: NSFG 2022–2023. Weighted estimates. Analysis n = 5,195.</a:t>
            </a:r>
            <a:endParaRPr lang="en-US" sz="11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6068"/>
                </a:solidFil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The Insurance Pattern Within Age Groups</a:t>
            </a:r>
            <a:endParaRPr lang="en-US" sz="2800" dirty="0"/>
          </a:p>
        </p:txBody>
      </p:sp>
      <p:sp>
        <p:nvSpPr>
          <p:cNvPr id="3" name="Chart placeholder insurance_age_heatmap.png"/>
          <p:cNvSpPr/>
          <p:nvPr/>
        </p:nvSpPr>
        <p:spPr>
          <a:xfrm>
            <a:off x="457200" y="1325880"/>
            <a:ext cx="4663440" cy="2880360"/>
          </a:xfrm>
          <a:prstGeom prst="roundRect">
            <a:avLst>
              <a:gd name="adj" fmla="val 3175"/>
            </a:avLst>
          </a:prstGeom>
          <a:solidFill>
            <a:schemeClr val="bg2"/>
          </a:solidFill>
          <a:ln w="19050">
            <a:solidFill>
              <a:schemeClr val="accent1"/>
            </a:solidFill>
            <a:prstDash val="dash"/>
          </a:ln>
        </p:spPr>
        <p:txBody>
          <a:bodyPr/>
          <a:lstStyle/>
          <a:p>
            <a:endParaRPr lang="en-US"/>
          </a:p>
        </p:txBody>
      </p:sp>
      <p:sp>
        <p:nvSpPr>
          <p:cNvPr id="4" name="Placeholder label insurance_age_heatmap.png"/>
          <p:cNvSpPr txBox="1"/>
          <p:nvPr/>
        </p:nvSpPr>
        <p:spPr>
          <a:xfrm>
            <a:off x="457200" y="1325880"/>
            <a:ext cx="4663440" cy="2880360"/>
          </a:xfrm>
          <a:prstGeom prst="rect">
            <a:avLst/>
          </a:prstGeom>
          <a:noFill/>
          <a:ln/>
        </p:spPr>
        <p:txBody>
          <a:bodyPr wrap="square" lIns="1270" tIns="1270" rIns="1270" bIns="1270" rtlCol="0" anchor="ctr"/>
          <a:lstStyle/>
          <a:p>
            <a:pPr marL="0" indent="0" algn="ctr">
              <a:buNone/>
            </a:pPr>
            <a:r>
              <a:rPr lang="en-US" sz="1400" b="1" dirty="0">
                <a:solidFill>
                  <a:schemeClr val="accent1"/>
                </a:solidFill>
              </a:rPr>
              <a:t>insurance_age_heatmap.png</a:t>
            </a:r>
            <a:endParaRPr lang="en-US" sz="1400" dirty="0"/>
          </a:p>
          <a:p>
            <a:pPr marL="0" indent="0" algn="ctr">
              <a:buNone/>
            </a:pPr>
            <a:r>
              <a:rPr lang="en-US" sz="1100" dirty="0">
                <a:solidFill>
                  <a:schemeClr val="accent5"/>
                </a:solidFill>
              </a:rPr>
              <a:t>Highlight the private and Medicaid rows</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394960" y="1325880"/>
          <a:ext cx="3291840" cy="914400"/>
        </p:xfrm>
        <a:graphic>
          <a:graphicData uri="http://schemas.openxmlformats.org/drawingml/2006/table">
            <a:tbl>
              <a:tblPr/>
              <a:tblGrid>
                <a:gridCol w="10058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502920">
                <a:tc>
                  <a:txBody>
                    <a:bodyPr/>
                    <a:lstStyle/>
                    <a:p>
                      <a:pPr marL="0" indent="0" algn="ctr">
                        <a:buNone/>
                      </a:pPr>
                      <a:r>
                        <a:rPr lang="en-US" sz="1100" b="1" dirty="0">
                          <a:solidFill>
                            <a:srgbClr val="FFFFFF"/>
                          </a:solidFill>
                        </a:rPr>
                        <a:t>Age group</a:t>
                      </a:r>
                      <a:endParaRPr lang="en-US" sz="11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Private</a:t>
                      </a:r>
                      <a:endParaRPr lang="en-US" sz="11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Medicaid/ CHIP/state</a:t>
                      </a:r>
                      <a:endParaRPr lang="en-US" sz="11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extLst>
                  <a:ext uri="{0D108BD9-81ED-4DB2-BD59-A6C34878D82A}">
                    <a16:rowId xmlns:a16="http://schemas.microsoft.com/office/drawing/2014/main" val="10000"/>
                  </a:ext>
                </a:extLst>
              </a:tr>
              <a:tr h="457200">
                <a:tc>
                  <a:txBody>
                    <a:bodyPr/>
                    <a:lstStyle/>
                    <a:p>
                      <a:pPr marL="0" indent="0">
                        <a:buNone/>
                      </a:pPr>
                      <a:r>
                        <a:rPr lang="en-US" sz="1100" b="1" dirty="0">
                          <a:solidFill>
                            <a:srgbClr val="3A1F3D"/>
                          </a:solidFill>
                        </a:rPr>
                        <a:t>25–34</a:t>
                      </a:r>
                      <a:endParaRPr lang="en-US" sz="11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400" b="1" dirty="0">
                          <a:solidFill>
                            <a:srgbClr val="000000"/>
                          </a:solidFill>
                        </a:rPr>
                        <a:t>11.1%</a:t>
                      </a:r>
                      <a:endParaRPr lang="en-US" sz="14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400" b="1" dirty="0">
                          <a:solidFill>
                            <a:srgbClr val="000000"/>
                          </a:solidFill>
                        </a:rPr>
                        <a:t>2.8%</a:t>
                      </a:r>
                      <a:endParaRPr lang="en-US" sz="14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100" b="1" dirty="0">
                          <a:solidFill>
                            <a:srgbClr val="3A1F3D"/>
                          </a:solidFill>
                        </a:rPr>
                        <a:t>35–44</a:t>
                      </a:r>
                      <a:endParaRPr lang="en-US" sz="11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400" b="1" dirty="0">
                          <a:solidFill>
                            <a:srgbClr val="000000"/>
                          </a:solidFill>
                        </a:rPr>
                        <a:t>18.4%</a:t>
                      </a:r>
                      <a:endParaRPr lang="en-US" sz="14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400" b="1" dirty="0">
                          <a:solidFill>
                            <a:srgbClr val="000000"/>
                          </a:solidFill>
                        </a:rPr>
                        <a:t>6.3%</a:t>
                      </a:r>
                      <a:endParaRPr lang="en-US" sz="14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100" b="1" dirty="0">
                          <a:solidFill>
                            <a:srgbClr val="3A1F3D"/>
                          </a:solidFill>
                        </a:rPr>
                        <a:t>45–50</a:t>
                      </a:r>
                      <a:endParaRPr lang="en-US" sz="11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400" b="1" dirty="0">
                          <a:solidFill>
                            <a:srgbClr val="000000"/>
                          </a:solidFill>
                        </a:rPr>
                        <a:t>18.8%</a:t>
                      </a:r>
                      <a:endParaRPr lang="en-US" sz="14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400" b="1" dirty="0">
                          <a:solidFill>
                            <a:srgbClr val="000000"/>
                          </a:solidFill>
                        </a:rPr>
                        <a:t>8.5%</a:t>
                      </a:r>
                      <a:endParaRPr lang="en-US" sz="1400" dirty="0"/>
                    </a:p>
                  </a:txBody>
                  <a:tcPr marL="73152" marR="73152"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Exception card"/>
          <p:cNvSpPr/>
          <p:nvPr/>
        </p:nvSpPr>
        <p:spPr>
          <a:xfrm>
            <a:off x="5394960" y="3291840"/>
            <a:ext cx="3291840" cy="914400"/>
          </a:xfrm>
          <a:prstGeom prst="roundRect">
            <a:avLst>
              <a:gd name="adj" fmla="val 12000"/>
            </a:avLst>
          </a:prstGeom>
          <a:solidFill>
            <a:schemeClr val="bg2"/>
          </a:solidFill>
          <a:ln w="12700">
            <a:solidFill>
              <a:schemeClr val="bg2"/>
            </a:solidFill>
            <a:prstDash val="solid"/>
          </a:ln>
        </p:spPr>
        <p:txBody>
          <a:bodyPr/>
          <a:lstStyle/>
          <a:p>
            <a:endParaRPr lang="en-US"/>
          </a:p>
        </p:txBody>
      </p:sp>
      <p:sp>
        <p:nvSpPr>
          <p:cNvPr id="7" name="Exception text"/>
          <p:cNvSpPr txBox="1"/>
          <p:nvPr/>
        </p:nvSpPr>
        <p:spPr>
          <a:xfrm>
            <a:off x="5532120" y="3291840"/>
            <a:ext cx="3017520" cy="914400"/>
          </a:xfrm>
          <a:prstGeom prst="rect">
            <a:avLst/>
          </a:prstGeom>
          <a:noFill/>
          <a:ln/>
        </p:spPr>
        <p:txBody>
          <a:bodyPr wrap="square" lIns="0" tIns="0" rIns="0" bIns="0" rtlCol="0" anchor="ctr"/>
          <a:lstStyle/>
          <a:p>
            <a:pPr marL="0" indent="0">
              <a:buNone/>
            </a:pPr>
            <a:r>
              <a:rPr lang="en-US" sz="1400" b="1" dirty="0">
                <a:solidFill>
                  <a:srgbClr val="7B3F6E"/>
                </a:solidFill>
              </a:rPr>
              <a:t>Exception at 15–24: </a:t>
            </a:r>
            <a:r>
              <a:rPr lang="en-US" sz="1400" dirty="0">
                <a:solidFill>
                  <a:srgbClr val="2B2330"/>
                </a:solidFill>
              </a:rPr>
              <a:t>Medicaid respondents have the higher rate. Some cells are small.</a:t>
            </a:r>
            <a:endParaRPr lang="en-US" sz="1400" dirty="0"/>
          </a:p>
        </p:txBody>
      </p:sp>
      <p:sp>
        <p:nvSpPr>
          <p:cNvPr id="8" name="Takeaway"/>
          <p:cNvSpPr txBox="1"/>
          <p:nvPr/>
        </p:nvSpPr>
        <p:spPr>
          <a:xfrm>
            <a:off x="457200" y="4297680"/>
            <a:ext cx="8229600" cy="320040"/>
          </a:xfrm>
          <a:prstGeom prst="rect">
            <a:avLst/>
          </a:prstGeom>
          <a:noFill/>
          <a:ln/>
        </p:spPr>
        <p:txBody>
          <a:bodyPr wrap="square" lIns="0" tIns="0" rIns="0" bIns="0" rtlCol="0" anchor="ctr"/>
          <a:lstStyle/>
          <a:p>
            <a:pPr marL="0" indent="0">
              <a:buNone/>
            </a:pPr>
            <a:r>
              <a:rPr lang="en-US" sz="1400" b="1" i="1" dirty="0">
                <a:solidFill>
                  <a:schemeClr val="tx2"/>
                </a:solidFill>
              </a:rPr>
              <a:t>Private coverage has higher rates within each age group from age 25 onward.</a:t>
            </a:r>
            <a:endParaRPr lang="en-US" sz="1400" dirty="0"/>
          </a:p>
        </p:txBody>
      </p:sp>
      <p:sp>
        <p:nvSpPr>
          <p:cNvPr id="9" name="Footer"/>
          <p:cNvSpPr txBox="1"/>
          <p:nvPr/>
        </p:nvSpPr>
        <p:spPr>
          <a:xfrm>
            <a:off x="457200" y="4681728"/>
            <a:ext cx="7680960" cy="365760"/>
          </a:xfrm>
          <a:prstGeom prst="rect">
            <a:avLst/>
          </a:prstGeom>
          <a:noFill/>
          <a:ln/>
        </p:spPr>
        <p:txBody>
          <a:bodyPr wrap="square" lIns="0" tIns="0" rIns="0" bIns="0" rtlCol="0" anchor="ctr"/>
          <a:lstStyle/>
          <a:p>
            <a:pPr marL="0" indent="0">
              <a:buNone/>
            </a:pPr>
            <a:r>
              <a:rPr lang="en-US" sz="1100" dirty="0">
                <a:solidFill>
                  <a:schemeClr val="accent5"/>
                </a:solidFill>
              </a:rPr>
              <a:t>Source: NSFG 2022–2023. Weighted estimates. Analysis n = 5,195.</a:t>
            </a:r>
            <a:endParaRPr lang="en-US" sz="11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6068"/>
                </a:solidFill>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Statistical Approach</a:t>
            </a:r>
            <a:endParaRPr lang="en-US" sz="2800" dirty="0"/>
          </a:p>
        </p:txBody>
      </p:sp>
      <p:sp>
        <p:nvSpPr>
          <p:cNvPr id="3" name="Method subtitle"/>
          <p:cNvSpPr txBox="1"/>
          <p:nvPr/>
        </p:nvSpPr>
        <p:spPr>
          <a:xfrm>
            <a:off x="457200" y="777240"/>
            <a:ext cx="8229600" cy="365760"/>
          </a:xfrm>
          <a:prstGeom prst="rect">
            <a:avLst/>
          </a:prstGeom>
          <a:noFill/>
          <a:ln/>
        </p:spPr>
        <p:txBody>
          <a:bodyPr wrap="square" lIns="0" tIns="0" rIns="0" bIns="0" rtlCol="0" anchor="ctr"/>
          <a:lstStyle/>
          <a:p>
            <a:pPr marL="0" indent="0">
              <a:buNone/>
            </a:pPr>
            <a:r>
              <a:rPr lang="en-US" sz="1400" b="1" dirty="0">
                <a:solidFill>
                  <a:schemeClr val="accent1"/>
                </a:solidFill>
              </a:rPr>
              <a:t>Survey-weighted logistic regression</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521208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tblGrid>
              <a:tr h="365760">
                <a:tc>
                  <a:txBody>
                    <a:bodyPr/>
                    <a:lstStyle/>
                    <a:p>
                      <a:pPr marL="0" indent="0">
                        <a:buNone/>
                      </a:pPr>
                      <a:r>
                        <a:rPr lang="en-US" sz="1400" b="1" dirty="0">
                          <a:solidFill>
                            <a:srgbClr val="FFFFFF"/>
                          </a:solidFill>
                        </a:rPr>
                        <a:t>Model component</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buNone/>
                      </a:pPr>
                      <a:r>
                        <a:rPr lang="en-US" sz="1400" b="1" dirty="0">
                          <a:solidFill>
                            <a:srgbClr val="FFFFFF"/>
                          </a:solidFill>
                        </a:rPr>
                        <a:t>Specification</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extLst>
                  <a:ext uri="{0D108BD9-81ED-4DB2-BD59-A6C34878D82A}">
                    <a16:rowId xmlns:a16="http://schemas.microsoft.com/office/drawing/2014/main" val="10000"/>
                  </a:ext>
                </a:extLst>
              </a:tr>
              <a:tr h="502920">
                <a:tc>
                  <a:txBody>
                    <a:bodyPr/>
                    <a:lstStyle/>
                    <a:p>
                      <a:pPr marL="0" indent="0">
                        <a:buNone/>
                      </a:pPr>
                      <a:r>
                        <a:rPr lang="en-US" sz="1400" b="1" dirty="0">
                          <a:solidFill>
                            <a:srgbClr val="C8540F"/>
                          </a:solidFill>
                        </a:rPr>
                        <a:t>Outcome</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Ever received medical help: 1 = yes, 0 = no</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400" b="1" dirty="0">
                          <a:solidFill>
                            <a:srgbClr val="C8540F"/>
                          </a:solidFill>
                        </a:rPr>
                        <a:t>Main predictor</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Current insurance category</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400" b="1" dirty="0">
                          <a:solidFill>
                            <a:srgbClr val="C8540F"/>
                          </a:solidFill>
                        </a:rPr>
                        <a:t>Controls</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Age, income, education</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400" b="1" dirty="0">
                          <a:solidFill>
                            <a:srgbClr val="C8540F"/>
                          </a:solidFill>
                        </a:rPr>
                        <a:t>Insurance reference</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Private/Medi-Gap</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400" b="1" dirty="0">
                          <a:solidFill>
                            <a:srgbClr val="C8540F"/>
                          </a:solidFill>
                        </a:rPr>
                        <a:t>Education reference</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buNone/>
                      </a:pPr>
                      <a:r>
                        <a:rPr lang="en-US" sz="1400" dirty="0">
                          <a:solidFill>
                            <a:srgbClr val="2B2330"/>
                          </a:solidFill>
                        </a:rPr>
                        <a:t>Less than high school</a:t>
                      </a:r>
                      <a:endParaRPr lang="en-US" sz="1400" dirty="0"/>
                    </a:p>
                  </a:txBody>
                  <a:tcPr marL="109728" marR="109728" marT="36576" marB="36576"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OR heading"/>
          <p:cNvSpPr txBox="1"/>
          <p:nvPr/>
        </p:nvSpPr>
        <p:spPr>
          <a:xfrm>
            <a:off x="5989320" y="1371600"/>
            <a:ext cx="2697480" cy="365760"/>
          </a:xfrm>
          <a:prstGeom prst="rect">
            <a:avLst/>
          </a:prstGeom>
          <a:noFill/>
          <a:ln/>
        </p:spPr>
        <p:txBody>
          <a:bodyPr wrap="square" lIns="0" tIns="0" rIns="0" bIns="0" rtlCol="0" anchor="ctr"/>
          <a:lstStyle/>
          <a:p>
            <a:pPr marL="0" indent="0">
              <a:buNone/>
            </a:pPr>
            <a:r>
              <a:rPr lang="en-US" sz="1400" b="1" dirty="0">
                <a:solidFill>
                  <a:schemeClr val="tx2"/>
                </a:solidFill>
              </a:rPr>
              <a:t>Odds ratio interpretation</a:t>
            </a:r>
            <a:endParaRPr lang="en-US" sz="1400" dirty="0"/>
          </a:p>
        </p:txBody>
      </p:sp>
      <p:sp>
        <p:nvSpPr>
          <p:cNvPr id="6" name="OR card 1"/>
          <p:cNvSpPr/>
          <p:nvPr/>
        </p:nvSpPr>
        <p:spPr>
          <a:xfrm>
            <a:off x="5989320" y="1828800"/>
            <a:ext cx="2697480" cy="731520"/>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7" name="OR badge 1"/>
          <p:cNvSpPr/>
          <p:nvPr/>
        </p:nvSpPr>
        <p:spPr>
          <a:xfrm>
            <a:off x="6080760" y="1920240"/>
            <a:ext cx="548640" cy="548640"/>
          </a:xfrm>
          <a:prstGeom prst="ellipse">
            <a:avLst/>
          </a:prstGeom>
          <a:solidFill>
            <a:schemeClr val="accent5"/>
          </a:solidFill>
          <a:ln w="12700">
            <a:solidFill>
              <a:schemeClr val="accent5"/>
            </a:solidFill>
            <a:prstDash val="solid"/>
          </a:ln>
        </p:spPr>
        <p:txBody>
          <a:bodyPr/>
          <a:lstStyle/>
          <a:p>
            <a:endParaRPr lang="en-US"/>
          </a:p>
        </p:txBody>
      </p:sp>
      <p:sp>
        <p:nvSpPr>
          <p:cNvPr id="8" name="OR badge text 1"/>
          <p:cNvSpPr txBox="1"/>
          <p:nvPr/>
        </p:nvSpPr>
        <p:spPr>
          <a:xfrm>
            <a:off x="6080760" y="1920240"/>
            <a:ext cx="548640" cy="54864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9" name="OR text 1"/>
          <p:cNvSpPr txBox="1"/>
          <p:nvPr/>
        </p:nvSpPr>
        <p:spPr>
          <a:xfrm>
            <a:off x="6720840" y="1874520"/>
            <a:ext cx="1874520" cy="640080"/>
          </a:xfrm>
          <a:prstGeom prst="rect">
            <a:avLst/>
          </a:prstGeom>
          <a:noFill/>
          <a:ln/>
        </p:spPr>
        <p:txBody>
          <a:bodyPr wrap="square" lIns="0" tIns="0" rIns="0" bIns="0" rtlCol="0" anchor="ctr"/>
          <a:lstStyle/>
          <a:p>
            <a:pPr marL="0" indent="0">
              <a:buNone/>
            </a:pPr>
            <a:r>
              <a:rPr lang="en-US" sz="1400" dirty="0">
                <a:solidFill>
                  <a:schemeClr val="tx1"/>
                </a:solidFill>
              </a:rPr>
              <a:t>Equal odds relative to the reference</a:t>
            </a:r>
            <a:endParaRPr lang="en-US" sz="1400" dirty="0"/>
          </a:p>
        </p:txBody>
      </p:sp>
      <p:sp>
        <p:nvSpPr>
          <p:cNvPr id="10" name="OR card 2"/>
          <p:cNvSpPr/>
          <p:nvPr/>
        </p:nvSpPr>
        <p:spPr>
          <a:xfrm>
            <a:off x="5989320" y="2697480"/>
            <a:ext cx="2697480" cy="731520"/>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4" name="OR badge 2"/>
          <p:cNvSpPr/>
          <p:nvPr/>
        </p:nvSpPr>
        <p:spPr>
          <a:xfrm>
            <a:off x="6080760" y="2788920"/>
            <a:ext cx="548640" cy="548640"/>
          </a:xfrm>
          <a:prstGeom prst="ellipse">
            <a:avLst/>
          </a:prstGeom>
          <a:solidFill>
            <a:schemeClr val="accent2"/>
          </a:solidFill>
          <a:ln w="12700">
            <a:solidFill>
              <a:schemeClr val="accent2"/>
            </a:solidFill>
            <a:prstDash val="solid"/>
          </a:ln>
        </p:spPr>
        <p:txBody>
          <a:bodyPr/>
          <a:lstStyle/>
          <a:p>
            <a:endParaRPr lang="en-US"/>
          </a:p>
        </p:txBody>
      </p:sp>
      <p:sp>
        <p:nvSpPr>
          <p:cNvPr id="12" name="OR badge text 2"/>
          <p:cNvSpPr txBox="1"/>
          <p:nvPr/>
        </p:nvSpPr>
        <p:spPr>
          <a:xfrm>
            <a:off x="6080760" y="2788920"/>
            <a:ext cx="548640" cy="548640"/>
          </a:xfrm>
          <a:prstGeom prst="rect">
            <a:avLst/>
          </a:prstGeom>
          <a:noFill/>
          <a:ln/>
        </p:spPr>
        <p:txBody>
          <a:bodyPr wrap="square" lIns="0" tIns="0" rIns="0" bIns="0" rtlCol="0" anchor="ctr"/>
          <a:lstStyle/>
          <a:p>
            <a:pPr marL="0" indent="0" algn="ctr">
              <a:buNone/>
            </a:pPr>
            <a:r>
              <a:rPr lang="en-US" sz="1400" b="1" dirty="0">
                <a:solidFill>
                  <a:schemeClr val="bg1"/>
                </a:solidFill>
              </a:rPr>
              <a:t>&lt; 1</a:t>
            </a:r>
            <a:endParaRPr lang="en-US" sz="1400" dirty="0"/>
          </a:p>
        </p:txBody>
      </p:sp>
      <p:sp>
        <p:nvSpPr>
          <p:cNvPr id="13" name="OR text 2"/>
          <p:cNvSpPr txBox="1"/>
          <p:nvPr/>
        </p:nvSpPr>
        <p:spPr>
          <a:xfrm>
            <a:off x="6720840" y="2743200"/>
            <a:ext cx="1874520" cy="640080"/>
          </a:xfrm>
          <a:prstGeom prst="rect">
            <a:avLst/>
          </a:prstGeom>
          <a:noFill/>
          <a:ln/>
        </p:spPr>
        <p:txBody>
          <a:bodyPr wrap="square" lIns="0" tIns="0" rIns="0" bIns="0" rtlCol="0" anchor="ctr"/>
          <a:lstStyle/>
          <a:p>
            <a:pPr marL="0" indent="0">
              <a:buNone/>
            </a:pPr>
            <a:r>
              <a:rPr lang="en-US" sz="1400" dirty="0">
                <a:solidFill>
                  <a:schemeClr val="tx1"/>
                </a:solidFill>
              </a:rPr>
              <a:t>Lower odds</a:t>
            </a:r>
            <a:endParaRPr lang="en-US" sz="1400" dirty="0"/>
          </a:p>
        </p:txBody>
      </p:sp>
      <p:sp>
        <p:nvSpPr>
          <p:cNvPr id="14" name="OR card 3"/>
          <p:cNvSpPr/>
          <p:nvPr/>
        </p:nvSpPr>
        <p:spPr>
          <a:xfrm>
            <a:off x="5989320" y="3566160"/>
            <a:ext cx="2697480" cy="731520"/>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15" name="OR badge 3"/>
          <p:cNvSpPr/>
          <p:nvPr/>
        </p:nvSpPr>
        <p:spPr>
          <a:xfrm>
            <a:off x="6080760" y="3657600"/>
            <a:ext cx="548640" cy="548640"/>
          </a:xfrm>
          <a:prstGeom prst="ellipse">
            <a:avLst/>
          </a:prstGeom>
          <a:solidFill>
            <a:schemeClr val="accent1"/>
          </a:solidFill>
          <a:ln w="12700">
            <a:solidFill>
              <a:schemeClr val="accent1"/>
            </a:solidFill>
            <a:prstDash val="solid"/>
          </a:ln>
        </p:spPr>
        <p:txBody>
          <a:bodyPr/>
          <a:lstStyle/>
          <a:p>
            <a:endParaRPr lang="en-US"/>
          </a:p>
        </p:txBody>
      </p:sp>
      <p:sp>
        <p:nvSpPr>
          <p:cNvPr id="16" name="OR badge text 3"/>
          <p:cNvSpPr txBox="1"/>
          <p:nvPr/>
        </p:nvSpPr>
        <p:spPr>
          <a:xfrm>
            <a:off x="6080760" y="3657600"/>
            <a:ext cx="548640" cy="548640"/>
          </a:xfrm>
          <a:prstGeom prst="rect">
            <a:avLst/>
          </a:prstGeom>
          <a:noFill/>
          <a:ln/>
        </p:spPr>
        <p:txBody>
          <a:bodyPr wrap="square" lIns="0" tIns="0" rIns="0" bIns="0" rtlCol="0" anchor="ctr"/>
          <a:lstStyle/>
          <a:p>
            <a:pPr marL="0" indent="0" algn="ctr">
              <a:buNone/>
            </a:pPr>
            <a:r>
              <a:rPr lang="en-US" sz="1400" b="1" dirty="0">
                <a:solidFill>
                  <a:schemeClr val="bg1"/>
                </a:solidFill>
              </a:rPr>
              <a:t>&gt; 1</a:t>
            </a:r>
            <a:endParaRPr lang="en-US" sz="1400" dirty="0"/>
          </a:p>
        </p:txBody>
      </p:sp>
      <p:sp>
        <p:nvSpPr>
          <p:cNvPr id="17" name="OR text 3"/>
          <p:cNvSpPr txBox="1"/>
          <p:nvPr/>
        </p:nvSpPr>
        <p:spPr>
          <a:xfrm>
            <a:off x="6720840" y="3611880"/>
            <a:ext cx="1874520" cy="640080"/>
          </a:xfrm>
          <a:prstGeom prst="rect">
            <a:avLst/>
          </a:prstGeom>
          <a:noFill/>
          <a:ln/>
        </p:spPr>
        <p:txBody>
          <a:bodyPr wrap="square" lIns="0" tIns="0" rIns="0" bIns="0" rtlCol="0" anchor="ctr"/>
          <a:lstStyle/>
          <a:p>
            <a:pPr marL="0" indent="0">
              <a:buNone/>
            </a:pPr>
            <a:r>
              <a:rPr lang="en-US" sz="1400" dirty="0">
                <a:solidFill>
                  <a:schemeClr val="tx1"/>
                </a:solidFill>
              </a:rPr>
              <a:t>Higher odds</a:t>
            </a:r>
            <a:endParaRPr lang="en-US" sz="1400" dirty="0"/>
          </a:p>
        </p:txBody>
      </p:sp>
      <p:sp>
        <p:nvSpPr>
          <p:cNvPr id="18" name="Footer"/>
          <p:cNvSpPr txBox="1"/>
          <p:nvPr/>
        </p:nvSpPr>
        <p:spPr>
          <a:xfrm>
            <a:off x="457200" y="4681728"/>
            <a:ext cx="7680960" cy="365760"/>
          </a:xfrm>
          <a:prstGeom prst="rect">
            <a:avLst/>
          </a:prstGeom>
          <a:noFill/>
          <a:ln/>
        </p:spPr>
        <p:txBody>
          <a:bodyPr wrap="square" lIns="0" tIns="0" rIns="0" bIns="0" rtlCol="0" anchor="ctr"/>
          <a:lstStyle/>
          <a:p>
            <a:pPr marL="0" indent="0">
              <a:buNone/>
            </a:pPr>
            <a:r>
              <a:rPr lang="en-US" sz="1100" dirty="0">
                <a:solidFill>
                  <a:schemeClr val="accent5"/>
                </a:solidFill>
              </a:rPr>
              <a:t>Confidence intervals account for survey strata and clusters.</a:t>
            </a:r>
            <a:endParaRPr lang="en-US" sz="11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6068"/>
                </a:solidFil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Lower Odds Remain After Adjustment</a:t>
            </a:r>
            <a:endParaRPr lang="en-US" sz="2800" dirty="0"/>
          </a:p>
        </p:txBody>
      </p:sp>
      <p:sp>
        <p:nvSpPr>
          <p:cNvPr id="3" name="Chart placeholder adjusted_insurance_odds_ratios.png"/>
          <p:cNvSpPr/>
          <p:nvPr/>
        </p:nvSpPr>
        <p:spPr>
          <a:xfrm>
            <a:off x="457200" y="1188720"/>
            <a:ext cx="4846320" cy="3291840"/>
          </a:xfrm>
          <a:prstGeom prst="roundRect">
            <a:avLst>
              <a:gd name="adj" fmla="val 2778"/>
            </a:avLst>
          </a:prstGeom>
          <a:solidFill>
            <a:schemeClr val="bg2"/>
          </a:solidFill>
          <a:ln w="19050">
            <a:solidFill>
              <a:schemeClr val="accent1"/>
            </a:solidFill>
            <a:prstDash val="dash"/>
          </a:ln>
        </p:spPr>
        <p:txBody>
          <a:bodyPr/>
          <a:lstStyle/>
          <a:p>
            <a:endParaRPr lang="en-US"/>
          </a:p>
        </p:txBody>
      </p:sp>
      <p:sp>
        <p:nvSpPr>
          <p:cNvPr id="4" name="Placeholder label adjusted_insurance_odds_ratios.png"/>
          <p:cNvSpPr txBox="1"/>
          <p:nvPr/>
        </p:nvSpPr>
        <p:spPr>
          <a:xfrm>
            <a:off x="457200" y="1188720"/>
            <a:ext cx="4846320" cy="3291840"/>
          </a:xfrm>
          <a:prstGeom prst="rect">
            <a:avLst/>
          </a:prstGeom>
          <a:noFill/>
          <a:ln/>
        </p:spPr>
        <p:txBody>
          <a:bodyPr wrap="square" lIns="1270" tIns="1270" rIns="1270" bIns="1270" rtlCol="0" anchor="ctr"/>
          <a:lstStyle/>
          <a:p>
            <a:pPr marL="0" indent="0" algn="ctr">
              <a:buNone/>
            </a:pPr>
            <a:r>
              <a:rPr lang="en-US" sz="1400" b="1" dirty="0">
                <a:solidFill>
                  <a:schemeClr val="accent1"/>
                </a:solidFill>
              </a:rPr>
              <a:t>adjusted_insurance_odds_ratios.png</a:t>
            </a:r>
            <a:endParaRPr lang="en-US" sz="1400" dirty="0"/>
          </a:p>
          <a:p>
            <a:pPr marL="0" indent="0" algn="ctr">
              <a:buNone/>
            </a:pPr>
            <a:r>
              <a:rPr lang="en-US" sz="1100" dirty="0">
                <a:solidFill>
                  <a:schemeClr val="accent5"/>
                </a:solidFill>
              </a:rPr>
              <a:t>Adjusted odds ratios with 95% CIs</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577840" y="1188720"/>
          <a:ext cx="310896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320040">
                <a:tc>
                  <a:txBody>
                    <a:bodyPr/>
                    <a:lstStyle/>
                    <a:p>
                      <a:pPr marL="0" indent="0" algn="l">
                        <a:buNone/>
                      </a:pPr>
                      <a:r>
                        <a:rPr lang="en-US" sz="1100" b="1" dirty="0">
                          <a:solidFill>
                            <a:srgbClr val="FFFFFF"/>
                          </a:solidFill>
                        </a:rPr>
                        <a:t>Vs. private</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Adj. OR</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95% CI</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extLst>
                  <a:ext uri="{0D108BD9-81ED-4DB2-BD59-A6C34878D82A}">
                    <a16:rowId xmlns:a16="http://schemas.microsoft.com/office/drawing/2014/main" val="10000"/>
                  </a:ext>
                </a:extLst>
              </a:tr>
              <a:tr h="411480">
                <a:tc>
                  <a:txBody>
                    <a:bodyPr/>
                    <a:lstStyle/>
                    <a:p>
                      <a:pPr marL="0" indent="0">
                        <a:buNone/>
                      </a:pPr>
                      <a:r>
                        <a:rPr lang="en-US" sz="1100" b="1" dirty="0">
                          <a:solidFill>
                            <a:srgbClr val="3A1F3D"/>
                          </a:solidFill>
                        </a:rPr>
                        <a:t>Medicaid/CHIP/state</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b="1" dirty="0">
                          <a:solidFill>
                            <a:srgbClr val="2B2330"/>
                          </a:solidFill>
                        </a:rPr>
                        <a:t>0.54</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b="1" dirty="0">
                          <a:solidFill>
                            <a:srgbClr val="2B2330"/>
                          </a:solidFill>
                        </a:rPr>
                        <a:t>0.36–0.81</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100" b="1" dirty="0">
                          <a:solidFill>
                            <a:srgbClr val="3A1F3D"/>
                          </a:solidFill>
                        </a:rPr>
                        <a:t>Other government</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b="1" dirty="0">
                          <a:solidFill>
                            <a:srgbClr val="2B2330"/>
                          </a:solidFill>
                        </a:rPr>
                        <a:t>0.86</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b="1" dirty="0">
                          <a:solidFill>
                            <a:srgbClr val="2B2330"/>
                          </a:solidFill>
                        </a:rPr>
                        <a:t>0.46–1.60</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100" b="1" dirty="0">
                          <a:solidFill>
                            <a:srgbClr val="3A1F3D"/>
                          </a:solidFill>
                        </a:rPr>
                        <a:t>Single-service/IHS/uninsured</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b="1" dirty="0">
                          <a:solidFill>
                            <a:srgbClr val="2B2330"/>
                          </a:solidFill>
                        </a:rPr>
                        <a:t>0.56</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b="1" dirty="0">
                          <a:solidFill>
                            <a:srgbClr val="2B2330"/>
                          </a:solidFill>
                        </a:rPr>
                        <a:t>0.32–0.97</a:t>
                      </a:r>
                      <a:endParaRPr lang="en-US" sz="1100" dirty="0"/>
                    </a:p>
                  </a:txBody>
                  <a:tcPr marL="54864" marR="54864" marT="27432" marB="27432"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Comparison heading"/>
          <p:cNvSpPr txBox="1"/>
          <p:nvPr/>
        </p:nvSpPr>
        <p:spPr>
          <a:xfrm>
            <a:off x="5577840" y="3017520"/>
            <a:ext cx="3108960" cy="274320"/>
          </a:xfrm>
          <a:prstGeom prst="rect">
            <a:avLst/>
          </a:prstGeom>
          <a:noFill/>
          <a:ln/>
        </p:spPr>
        <p:txBody>
          <a:bodyPr wrap="square" lIns="0" tIns="0" rIns="0" bIns="0" rtlCol="0" anchor="ctr"/>
          <a:lstStyle/>
          <a:p>
            <a:pPr marL="0" indent="0">
              <a:buNone/>
            </a:pPr>
            <a:r>
              <a:rPr lang="en-US" sz="1100" b="1" dirty="0">
                <a:solidFill>
                  <a:schemeClr val="tx2"/>
                </a:solidFill>
              </a:rPr>
              <a:t>Before vs. after controls</a:t>
            </a:r>
            <a:endParaRPr lang="en-US" sz="11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577840" y="3310128"/>
          <a:ext cx="31089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tblGrid>
              <a:tr h="274320">
                <a:tc>
                  <a:txBody>
                    <a:bodyPr/>
                    <a:lstStyle/>
                    <a:p>
                      <a:pPr marL="0" indent="0" algn="l">
                        <a:buNone/>
                      </a:pPr>
                      <a:r>
                        <a:rPr lang="en-US" sz="1100" b="1" dirty="0">
                          <a:solidFill>
                            <a:srgbClr val="FFFFFF"/>
                          </a:solidFill>
                        </a:rPr>
                        <a:t>Coverage</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Before</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tc>
                  <a:txBody>
                    <a:bodyPr/>
                    <a:lstStyle/>
                    <a:p>
                      <a:pPr marL="0" indent="0" algn="ctr">
                        <a:buNone/>
                      </a:pPr>
                      <a:r>
                        <a:rPr lang="en-US" sz="1100" b="1" dirty="0">
                          <a:solidFill>
                            <a:srgbClr val="FFFFFF"/>
                          </a:solidFill>
                        </a:rPr>
                        <a:t>After</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3A1F3D"/>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3A1F3D"/>
                          </a:solidFill>
                        </a:rPr>
                        <a:t>Medicaid/CHIP/state</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b="1" dirty="0">
                          <a:solidFill>
                            <a:srgbClr val="2B2330"/>
                          </a:solidFill>
                        </a:rPr>
                        <a:t>0.31</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b="1" dirty="0">
                          <a:solidFill>
                            <a:srgbClr val="7B3F6E"/>
                          </a:solidFill>
                        </a:rPr>
                        <a:t>0.54</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3A1F3D"/>
                          </a:solidFill>
                        </a:rPr>
                        <a:t>Other government</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b="1" dirty="0">
                          <a:solidFill>
                            <a:srgbClr val="2B2330"/>
                          </a:solidFill>
                        </a:rPr>
                        <a:t>0.58</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b="1" dirty="0">
                          <a:solidFill>
                            <a:srgbClr val="7B3F6E"/>
                          </a:solidFill>
                        </a:rPr>
                        <a:t>0.86</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100" b="1" dirty="0">
                          <a:solidFill>
                            <a:srgbClr val="3A1F3D"/>
                          </a:solidFill>
                        </a:rPr>
                        <a:t>Single-service/IHS/uninsured</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solidFill>
                      <a:srgbClr val="FBEFE6"/>
                    </a:solidFill>
                  </a:tcPr>
                </a:tc>
                <a:tc>
                  <a:txBody>
                    <a:bodyPr/>
                    <a:lstStyle/>
                    <a:p>
                      <a:pPr marL="0" indent="0" algn="ctr">
                        <a:buNone/>
                      </a:pPr>
                      <a:r>
                        <a:rPr lang="en-US" sz="1100" b="1" dirty="0">
                          <a:solidFill>
                            <a:srgbClr val="2B2330"/>
                          </a:solidFill>
                        </a:rPr>
                        <a:t>0.37</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tc>
                  <a:txBody>
                    <a:bodyPr/>
                    <a:lstStyle/>
                    <a:p>
                      <a:pPr marL="0" indent="0" algn="ctr">
                        <a:buNone/>
                      </a:pPr>
                      <a:r>
                        <a:rPr lang="en-US" sz="1100" b="1" dirty="0">
                          <a:solidFill>
                            <a:srgbClr val="7B3F6E"/>
                          </a:solidFill>
                        </a:rPr>
                        <a:t>0.56</a:t>
                      </a:r>
                      <a:endParaRPr lang="en-US" sz="1100" dirty="0"/>
                    </a:p>
                  </a:txBody>
                  <a:tcPr marL="54864" marR="54864" marT="18288" marB="18288" anchor="ctr">
                    <a:lnL w="9525" cap="flat" cmpd="sng" algn="ctr">
                      <a:solidFill>
                        <a:srgbClr val="EBD8CB"/>
                      </a:solidFill>
                      <a:prstDash val="solid"/>
                      <a:round/>
                      <a:headEnd type="none" w="med" len="med"/>
                      <a:tailEnd type="none" w="med" len="med"/>
                    </a:lnL>
                    <a:lnR w="9525" cap="flat" cmpd="sng" algn="ctr">
                      <a:solidFill>
                        <a:srgbClr val="EBD8CB"/>
                      </a:solidFill>
                      <a:prstDash val="solid"/>
                      <a:round/>
                      <a:headEnd type="none" w="med" len="med"/>
                      <a:tailEnd type="none" w="med" len="med"/>
                    </a:lnR>
                    <a:lnT w="9525" cap="flat" cmpd="sng" algn="ctr">
                      <a:solidFill>
                        <a:srgbClr val="EBD8CB"/>
                      </a:solidFill>
                      <a:prstDash val="solid"/>
                      <a:round/>
                      <a:headEnd type="none" w="med" len="med"/>
                      <a:tailEnd type="none" w="med" len="med"/>
                    </a:lnT>
                    <a:lnB w="9525" cap="flat" cmpd="sng" algn="ctr">
                      <a:solidFill>
                        <a:srgbClr val="EBD8C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8" name="Footer"/>
          <p:cNvSpPr txBox="1"/>
          <p:nvPr/>
        </p:nvSpPr>
        <p:spPr>
          <a:xfrm>
            <a:off x="457200" y="4681728"/>
            <a:ext cx="7680960" cy="365760"/>
          </a:xfrm>
          <a:prstGeom prst="rect">
            <a:avLst/>
          </a:prstGeom>
          <a:noFill/>
          <a:ln/>
        </p:spPr>
        <p:txBody>
          <a:bodyPr wrap="square" lIns="0" tIns="0" rIns="0" bIns="0" rtlCol="0" anchor="ctr"/>
          <a:lstStyle/>
          <a:p>
            <a:pPr marL="0" indent="0">
              <a:buNone/>
            </a:pPr>
            <a:r>
              <a:rPr lang="en-US" sz="1100" dirty="0">
                <a:solidFill>
                  <a:schemeClr val="accent5"/>
                </a:solidFill>
              </a:rPr>
              <a:t>Source: NSFG 2022–2023. Weighted estimates. Analysis n = 5,195. Confidence intervals account for survey strata and clusters.</a:t>
            </a:r>
            <a:endParaRPr lang="en-US" sz="11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6068"/>
                </a:solidFil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868680"/>
          </a:xfrm>
          <a:prstGeom prst="rect">
            <a:avLst/>
          </a:prstGeom>
          <a:noFill/>
          <a:ln/>
        </p:spPr>
        <p:txBody>
          <a:bodyPr wrap="square" lIns="0" tIns="0" rIns="0" bIns="0" rtlCol="0" anchor="t"/>
          <a:lstStyle/>
          <a:p>
            <a:pPr marL="0" indent="0" algn="l">
              <a:buNone/>
            </a:pPr>
            <a:r>
              <a:rPr lang="en-US" sz="2800" b="1" dirty="0">
                <a:solidFill>
                  <a:schemeClr val="tx2"/>
                </a:solidFill>
              </a:rPr>
              <a:t>Prior Research and Study Limitations</a:t>
            </a:r>
            <a:endParaRPr lang="en-US" sz="2800" dirty="0"/>
          </a:p>
        </p:txBody>
      </p:sp>
      <p:sp>
        <p:nvSpPr>
          <p:cNvPr id="3" name="Prior research card"/>
          <p:cNvSpPr/>
          <p:nvPr/>
        </p:nvSpPr>
        <p:spPr>
          <a:xfrm>
            <a:off x="457200" y="1188720"/>
            <a:ext cx="4023360" cy="2743200"/>
          </a:xfrm>
          <a:prstGeom prst="roundRect">
            <a:avLst>
              <a:gd name="adj" fmla="val 4000"/>
            </a:avLst>
          </a:prstGeom>
          <a:solidFill>
            <a:schemeClr val="bg2"/>
          </a:solidFill>
          <a:ln w="12700">
            <a:solidFill>
              <a:schemeClr val="bg2"/>
            </a:solidFill>
            <a:prstDash val="solid"/>
          </a:ln>
        </p:spPr>
        <p:txBody>
          <a:bodyPr/>
          <a:lstStyle/>
          <a:p>
            <a:endParaRPr lang="en-US"/>
          </a:p>
        </p:txBody>
      </p:sp>
      <p:sp>
        <p:nvSpPr>
          <p:cNvPr id="4" name="Prior research heading"/>
          <p:cNvSpPr txBox="1"/>
          <p:nvPr/>
        </p:nvSpPr>
        <p:spPr>
          <a:xfrm>
            <a:off x="640080" y="1280160"/>
            <a:ext cx="3657600" cy="548640"/>
          </a:xfrm>
          <a:prstGeom prst="rect">
            <a:avLst/>
          </a:prstGeom>
          <a:noFill/>
          <a:ln/>
        </p:spPr>
        <p:txBody>
          <a:bodyPr wrap="square" lIns="0" tIns="0" rIns="0" bIns="0" rtlCol="0" anchor="ctr"/>
          <a:lstStyle/>
          <a:p>
            <a:pPr marL="0" indent="0">
              <a:buNone/>
            </a:pPr>
            <a:r>
              <a:rPr lang="en-US" sz="1400" b="1" dirty="0">
                <a:solidFill>
                  <a:srgbClr val="C8540F"/>
                </a:solidFill>
              </a:rPr>
              <a:t>Comparison with Eliason et al. (2023)</a:t>
            </a:r>
            <a:endParaRPr lang="en-US" sz="1400" dirty="0"/>
          </a:p>
        </p:txBody>
      </p:sp>
      <p:sp>
        <p:nvSpPr>
          <p:cNvPr id="5" name="Prior research bullets"/>
          <p:cNvSpPr txBox="1"/>
          <p:nvPr/>
        </p:nvSpPr>
        <p:spPr>
          <a:xfrm>
            <a:off x="640080" y="1874520"/>
            <a:ext cx="36576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Earlier NSFG data: 2002–2019</a:t>
            </a:r>
            <a:endParaRPr lang="en-US" sz="1400" dirty="0"/>
          </a:p>
          <a:p>
            <a:pPr marL="342900" indent="-342900">
              <a:spcAft>
                <a:spcPts val="800"/>
              </a:spcAft>
              <a:buSzPct val="100000"/>
              <a:buChar char="•"/>
            </a:pPr>
            <a:r>
              <a:rPr lang="en-US" sz="1400" dirty="0">
                <a:solidFill>
                  <a:schemeClr val="tx1"/>
                </a:solidFill>
              </a:rPr>
              <a:t>Main outcome: past-year fertility-service use</a:t>
            </a:r>
            <a:endParaRPr lang="en-US" sz="1400" dirty="0"/>
          </a:p>
          <a:p>
            <a:pPr marL="342900" indent="-342900">
              <a:spcAft>
                <a:spcPts val="800"/>
              </a:spcAft>
              <a:buSzPct val="100000"/>
              <a:buChar char="•"/>
            </a:pPr>
            <a:r>
              <a:rPr lang="en-US" sz="1400" dirty="0">
                <a:solidFill>
                  <a:schemeClr val="tx1"/>
                </a:solidFill>
              </a:rPr>
              <a:t>Main population: respondents currently trying to conceive</a:t>
            </a:r>
            <a:endParaRPr lang="en-US" sz="1400" dirty="0"/>
          </a:p>
          <a:p>
            <a:pPr marL="342900" indent="-342900">
              <a:spcAft>
                <a:spcPts val="800"/>
              </a:spcAft>
              <a:buSzPct val="100000"/>
              <a:buChar char="•"/>
            </a:pPr>
            <a:r>
              <a:rPr lang="en-US" sz="1400" dirty="0">
                <a:solidFill>
                  <a:schemeClr val="tx1"/>
                </a:solidFill>
              </a:rPr>
              <a:t>Similar direction of the Medicaid–private disparity</a:t>
            </a:r>
            <a:endParaRPr lang="en-US" sz="1400" dirty="0"/>
          </a:p>
        </p:txBody>
      </p:sp>
      <p:sp>
        <p:nvSpPr>
          <p:cNvPr id="6" name="Limitations card"/>
          <p:cNvSpPr/>
          <p:nvPr/>
        </p:nvSpPr>
        <p:spPr>
          <a:xfrm>
            <a:off x="4663440" y="1188720"/>
            <a:ext cx="4023360" cy="2743200"/>
          </a:xfrm>
          <a:prstGeom prst="roundRect">
            <a:avLst>
              <a:gd name="adj" fmla="val 4000"/>
            </a:avLst>
          </a:prstGeom>
          <a:solidFill>
            <a:schemeClr val="bg2"/>
          </a:solidFill>
          <a:ln w="12700">
            <a:solidFill>
              <a:schemeClr val="bg2"/>
            </a:solidFill>
            <a:prstDash val="solid"/>
          </a:ln>
        </p:spPr>
        <p:txBody>
          <a:bodyPr/>
          <a:lstStyle/>
          <a:p>
            <a:endParaRPr lang="en-US"/>
          </a:p>
        </p:txBody>
      </p:sp>
      <p:sp>
        <p:nvSpPr>
          <p:cNvPr id="7" name="Limitations heading"/>
          <p:cNvSpPr txBox="1"/>
          <p:nvPr/>
        </p:nvSpPr>
        <p:spPr>
          <a:xfrm>
            <a:off x="4846320" y="1280160"/>
            <a:ext cx="3657600" cy="548640"/>
          </a:xfrm>
          <a:prstGeom prst="rect">
            <a:avLst/>
          </a:prstGeom>
          <a:noFill/>
          <a:ln/>
        </p:spPr>
        <p:txBody>
          <a:bodyPr wrap="square" lIns="0" tIns="0" rIns="0" bIns="0" rtlCol="0" anchor="ctr"/>
          <a:lstStyle/>
          <a:p>
            <a:pPr marL="0" indent="0">
              <a:buNone/>
            </a:pPr>
            <a:r>
              <a:rPr lang="en-US" sz="1400" b="1" dirty="0">
                <a:solidFill>
                  <a:srgbClr val="7B3F6E"/>
                </a:solidFill>
              </a:rPr>
              <a:t>Key limitations</a:t>
            </a:r>
            <a:endParaRPr lang="en-US" sz="1400" dirty="0"/>
          </a:p>
        </p:txBody>
      </p:sp>
      <p:sp>
        <p:nvSpPr>
          <p:cNvPr id="8" name="Limitations bullets"/>
          <p:cNvSpPr txBox="1"/>
          <p:nvPr/>
        </p:nvSpPr>
        <p:spPr>
          <a:xfrm>
            <a:off x="4846320" y="1874520"/>
            <a:ext cx="36576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Current coverage may differ from coverage when care occurred.</a:t>
            </a:r>
            <a:endParaRPr lang="en-US" sz="1400" dirty="0"/>
          </a:p>
          <a:p>
            <a:pPr marL="342900" indent="-342900">
              <a:spcAft>
                <a:spcPts val="800"/>
              </a:spcAft>
              <a:buSzPct val="100000"/>
              <a:buChar char="•"/>
            </a:pPr>
            <a:r>
              <a:rPr lang="en-US" sz="1400" dirty="0">
                <a:solidFill>
                  <a:schemeClr val="tx1"/>
                </a:solidFill>
              </a:rPr>
              <a:t>Respondents have different fertility needs and intentions.</a:t>
            </a:r>
            <a:endParaRPr lang="en-US" sz="1400" dirty="0"/>
          </a:p>
          <a:p>
            <a:pPr marL="342900" indent="-342900">
              <a:spcAft>
                <a:spcPts val="800"/>
              </a:spcAft>
              <a:buSzPct val="100000"/>
              <a:buChar char="•"/>
            </a:pPr>
            <a:r>
              <a:rPr lang="en-US" sz="1400" dirty="0">
                <a:solidFill>
                  <a:schemeClr val="tx1"/>
                </a:solidFill>
              </a:rPr>
              <a:t>Observational data leave alternative explanations.</a:t>
            </a:r>
            <a:endParaRPr lang="en-US" sz="1400" dirty="0"/>
          </a:p>
        </p:txBody>
      </p:sp>
      <p:sp>
        <p:nvSpPr>
          <p:cNvPr id="9" name="Citation"/>
          <p:cNvSpPr txBox="1"/>
          <p:nvPr/>
        </p:nvSpPr>
        <p:spPr>
          <a:xfrm>
            <a:off x="457200" y="4114800"/>
            <a:ext cx="7680960" cy="274320"/>
          </a:xfrm>
          <a:prstGeom prst="rect">
            <a:avLst/>
          </a:prstGeom>
          <a:noFill/>
          <a:ln/>
        </p:spPr>
        <p:txBody>
          <a:bodyPr wrap="square" lIns="0" tIns="0" rIns="0" bIns="0" rtlCol="0" anchor="ctr"/>
          <a:lstStyle/>
          <a:p>
            <a:pPr marL="0" indent="0">
              <a:buNone/>
            </a:pPr>
            <a:r>
              <a:rPr lang="en-US" sz="1100" dirty="0">
                <a:solidFill>
                  <a:schemeClr val="accent5"/>
                </a:solidFill>
              </a:rPr>
              <a:t>Eliason, Thoma, &amp; Steenland (2023), Women’s Health Issues, 33(4), 367–373. DOI: 10.1016/j.whi.2023.03.003.</a:t>
            </a:r>
            <a:endParaRPr lang="en-US" sz="11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6B6068"/>
                </a:solidFil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8046720" cy="914400"/>
          </a:xfrm>
          <a:prstGeom prst="rect">
            <a:avLst/>
          </a:prstGeom>
          <a:noFill/>
          <a:ln/>
        </p:spPr>
        <p:txBody>
          <a:bodyPr wrap="square" lIns="0" tIns="0" rIns="0" bIns="0" rtlCol="0" anchor="t"/>
          <a:lstStyle/>
          <a:p>
            <a:pPr marL="0" indent="0" algn="l">
              <a:buNone/>
            </a:pPr>
            <a:r>
              <a:rPr lang="en-US" sz="2800" b="1" dirty="0">
                <a:solidFill>
                  <a:schemeClr val="bg1"/>
                </a:solidFill>
              </a:rPr>
              <a:t>Insurance Differences Remain After Selected Controls</a:t>
            </a:r>
            <a:endParaRPr lang="en-US" sz="2800" dirty="0"/>
          </a:p>
        </p:txBody>
      </p:sp>
      <p:sp>
        <p:nvSpPr>
          <p:cNvPr id="3" name="Conclusion badge 1"/>
          <p:cNvSpPr/>
          <p:nvPr/>
        </p:nvSpPr>
        <p:spPr>
          <a:xfrm>
            <a:off x="548640" y="1490472"/>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4" name="Conclusion badge text 1"/>
          <p:cNvSpPr txBox="1"/>
          <p:nvPr/>
        </p:nvSpPr>
        <p:spPr>
          <a:xfrm>
            <a:off x="548640" y="1490472"/>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5" name="Conclusion text 1"/>
          <p:cNvSpPr txBox="1"/>
          <p:nvPr/>
        </p:nvSpPr>
        <p:spPr>
          <a:xfrm>
            <a:off x="1188720" y="1417320"/>
            <a:ext cx="7406640" cy="603504"/>
          </a:xfrm>
          <a:prstGeom prst="rect">
            <a:avLst/>
          </a:prstGeom>
          <a:noFill/>
          <a:ln/>
        </p:spPr>
        <p:txBody>
          <a:bodyPr wrap="square" lIns="0" tIns="0" rIns="0" bIns="0" rtlCol="0" anchor="ctr"/>
          <a:lstStyle/>
          <a:p>
            <a:pPr marL="0" indent="0">
              <a:buNone/>
            </a:pPr>
            <a:r>
              <a:rPr lang="en-US" sz="1400" dirty="0">
                <a:solidFill>
                  <a:schemeClr val="bg1"/>
                </a:solidFill>
              </a:rPr>
              <a:t>Private coverage has the highest unadjusted help-receipt rate.</a:t>
            </a:r>
            <a:endParaRPr lang="en-US" sz="1400" dirty="0"/>
          </a:p>
        </p:txBody>
      </p:sp>
      <p:sp>
        <p:nvSpPr>
          <p:cNvPr id="6" name="Conclusion badge 2"/>
          <p:cNvSpPr/>
          <p:nvPr/>
        </p:nvSpPr>
        <p:spPr>
          <a:xfrm>
            <a:off x="548640" y="2267712"/>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7" name="Conclusion badge text 2"/>
          <p:cNvSpPr txBox="1"/>
          <p:nvPr/>
        </p:nvSpPr>
        <p:spPr>
          <a:xfrm>
            <a:off x="548640" y="2267712"/>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8" name="Conclusion text 2"/>
          <p:cNvSpPr txBox="1"/>
          <p:nvPr/>
        </p:nvSpPr>
        <p:spPr>
          <a:xfrm>
            <a:off x="1188720" y="2194560"/>
            <a:ext cx="7406640" cy="603504"/>
          </a:xfrm>
          <a:prstGeom prst="rect">
            <a:avLst/>
          </a:prstGeom>
          <a:noFill/>
          <a:ln/>
        </p:spPr>
        <p:txBody>
          <a:bodyPr wrap="square" lIns="0" tIns="0" rIns="0" bIns="0" rtlCol="0" anchor="ctr"/>
          <a:lstStyle/>
          <a:p>
            <a:pPr marL="0" indent="0">
              <a:buNone/>
            </a:pPr>
            <a:r>
              <a:rPr lang="en-US" sz="1400" dirty="0">
                <a:solidFill>
                  <a:schemeClr val="bg1"/>
                </a:solidFill>
              </a:rPr>
              <a:t>Medicaid/CHIP/state and single-service/IHS/uninsured coverage retain lower adjusted odds.</a:t>
            </a:r>
            <a:endParaRPr lang="en-US" sz="1400" dirty="0"/>
          </a:p>
        </p:txBody>
      </p:sp>
      <p:sp>
        <p:nvSpPr>
          <p:cNvPr id="9" name="Conclusion badge 3"/>
          <p:cNvSpPr/>
          <p:nvPr/>
        </p:nvSpPr>
        <p:spPr>
          <a:xfrm>
            <a:off x="548640" y="3044952"/>
            <a:ext cx="457200" cy="457200"/>
          </a:xfrm>
          <a:prstGeom prst="ellipse">
            <a:avLst/>
          </a:prstGeom>
          <a:solidFill>
            <a:schemeClr val="accent2"/>
          </a:solidFill>
          <a:ln w="12700">
            <a:solidFill>
              <a:schemeClr val="accent2"/>
            </a:solidFill>
            <a:prstDash val="solid"/>
          </a:ln>
        </p:spPr>
        <p:txBody>
          <a:bodyPr/>
          <a:lstStyle/>
          <a:p>
            <a:endParaRPr lang="en-US"/>
          </a:p>
        </p:txBody>
      </p:sp>
      <p:sp>
        <p:nvSpPr>
          <p:cNvPr id="10" name="Conclusion badge text 3"/>
          <p:cNvSpPr txBox="1"/>
          <p:nvPr/>
        </p:nvSpPr>
        <p:spPr>
          <a:xfrm>
            <a:off x="548640" y="3044952"/>
            <a:ext cx="457200" cy="45720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1" name="Conclusion text 3"/>
          <p:cNvSpPr txBox="1"/>
          <p:nvPr/>
        </p:nvSpPr>
        <p:spPr>
          <a:xfrm>
            <a:off x="1188720" y="2971800"/>
            <a:ext cx="7406640" cy="603504"/>
          </a:xfrm>
          <a:prstGeom prst="rect">
            <a:avLst/>
          </a:prstGeom>
          <a:noFill/>
          <a:ln/>
        </p:spPr>
        <p:txBody>
          <a:bodyPr wrap="square" lIns="0" tIns="0" rIns="0" bIns="0" rtlCol="0" anchor="ctr"/>
          <a:lstStyle/>
          <a:p>
            <a:pPr marL="0" indent="0">
              <a:buNone/>
            </a:pPr>
            <a:r>
              <a:rPr lang="en-US" sz="1400" dirty="0">
                <a:solidFill>
                  <a:schemeClr val="bg1"/>
                </a:solidFill>
              </a:rPr>
              <a:t>Further research should examine coverage at the time of care and differences in fertility need.</a:t>
            </a:r>
            <a:endParaRPr lang="en-US" sz="1400" dirty="0"/>
          </a:p>
        </p:txBody>
      </p:sp>
      <p:sp>
        <p:nvSpPr>
          <p:cNvPr id="12" name="Final statement card"/>
          <p:cNvSpPr/>
          <p:nvPr/>
        </p:nvSpPr>
        <p:spPr>
          <a:xfrm>
            <a:off x="548640" y="3886200"/>
            <a:ext cx="8046720" cy="731520"/>
          </a:xfrm>
          <a:prstGeom prst="roundRect">
            <a:avLst>
              <a:gd name="adj" fmla="val 15000"/>
            </a:avLst>
          </a:prstGeom>
          <a:solidFill>
            <a:schemeClr val="accent1"/>
          </a:solidFill>
          <a:ln w="12700">
            <a:solidFill>
              <a:schemeClr val="accent1"/>
            </a:solidFill>
            <a:prstDash val="solid"/>
          </a:ln>
        </p:spPr>
        <p:txBody>
          <a:bodyPr/>
          <a:lstStyle/>
          <a:p>
            <a:endParaRPr lang="en-US"/>
          </a:p>
        </p:txBody>
      </p:sp>
      <p:sp>
        <p:nvSpPr>
          <p:cNvPr id="13" name="Final statement"/>
          <p:cNvSpPr txBox="1"/>
          <p:nvPr/>
        </p:nvSpPr>
        <p:spPr>
          <a:xfrm>
            <a:off x="777240" y="3886200"/>
            <a:ext cx="7589520" cy="731520"/>
          </a:xfrm>
          <a:prstGeom prst="rect">
            <a:avLst/>
          </a:prstGeom>
          <a:noFill/>
          <a:ln/>
        </p:spPr>
        <p:txBody>
          <a:bodyPr wrap="square" lIns="0" tIns="0" rIns="0" bIns="0" rtlCol="0" anchor="ctr"/>
          <a:lstStyle/>
          <a:p>
            <a:pPr marL="0" indent="0">
              <a:buNone/>
            </a:pPr>
            <a:r>
              <a:rPr lang="en-US" sz="1400" b="1" i="1" dirty="0">
                <a:solidFill>
                  <a:schemeClr val="bg1"/>
                </a:solidFill>
              </a:rPr>
              <a:t>The findings describe associations in reported lifetime care receipt.</a:t>
            </a:r>
            <a:endParaRPr lang="en-US" sz="1400" dirty="0"/>
          </a:p>
        </p:txBody>
      </p:sp>
    </p:spTree>
  </p:cSld>
  <p:clrMapOvr>
    <a:masterClrMapping/>
  </p:clrMapOvr>
</p:sld>
</file>

<file path=ppt/theme/theme1.xml><?xml version="1.0" encoding="utf-8"?>
<a:theme xmlns:a="http://schemas.openxmlformats.org/drawingml/2006/main" name="NSFG Insurance">
  <a:themeElements>
    <a:clrScheme name="NSFG Insurance">
      <a:dk1>
        <a:srgbClr val="2B2330"/>
      </a:dk1>
      <a:lt1>
        <a:srgbClr val="FFFFFF"/>
      </a:lt1>
      <a:dk2>
        <a:srgbClr val="3A1F3D"/>
      </a:dk2>
      <a:lt2>
        <a:srgbClr val="FBEFE6"/>
      </a:lt2>
      <a:accent1>
        <a:srgbClr val="C8540F"/>
      </a:accent1>
      <a:accent2>
        <a:srgbClr val="7B3F6E"/>
      </a:accent2>
      <a:accent3>
        <a:srgbClr val="F5C9A6"/>
      </a:accent3>
      <a:accent4>
        <a:srgbClr val="FFB067"/>
      </a:accent4>
      <a:accent5>
        <a:srgbClr val="6B6068"/>
      </a:accent5>
      <a:accent6>
        <a:srgbClr val="C9BFC5"/>
      </a:accent6>
      <a:hlink>
        <a:srgbClr val="C8540F"/>
      </a:hlink>
      <a:folHlink>
        <a:srgbClr val="6B6068"/>
      </a:folHlink>
    </a:clrScheme>
    <a:fontScheme name="NSFG Insurance">
      <a:majorFont>
        <a:latin typeface="Georgia P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2696</Words>
  <Application>Microsoft Macintosh PowerPoint</Application>
  <PresentationFormat>On-screen Show (16:9)</PresentationFormat>
  <Paragraphs>214</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Georgia Pro</vt:lpstr>
      <vt:lpstr>NSFG Insurance</vt:lpstr>
      <vt:lpstr>Insurance Coverage and Fertility-Related Medical Help</vt:lpstr>
      <vt:lpstr>Research Question</vt:lpstr>
      <vt:lpstr>Why This Question Matters</vt:lpstr>
      <vt:lpstr>Data and Measures</vt:lpstr>
      <vt:lpstr>Sample Overview</vt:lpstr>
      <vt:lpstr>Help Receipt Differs Across Insurance Groups</vt:lpstr>
      <vt:lpstr>Insurance Groups Have Different Characteristics</vt:lpstr>
      <vt:lpstr>Help Receipt Also Varies with Age, Income, and Education</vt:lpstr>
      <vt:lpstr>The Insurance Pattern Within Age Groups</vt:lpstr>
      <vt:lpstr>Statistical Approach</vt:lpstr>
      <vt:lpstr>Lower Odds Remain After Adjustment</vt:lpstr>
      <vt:lpstr>Prior Research and Study Limitations</vt:lpstr>
      <vt:lpstr>Insurance Differences Remain After Selected Controls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Insurance Coverage and Fertility-Related Medical Help</dc:title>
  <dc:subject>PptxGenJS Presentation</dc:subject>
  <dc:creator>Gracie Nguyen</dc:creator>
  <cp:lastModifiedBy>Nguyen, Gracie</cp:lastModifiedBy>
  <cp:revision>2</cp:revision>
  <dcterms:created xsi:type="dcterms:W3CDTF">2026-10-05T15:12:18Z</dcterms:created>
  <dcterms:modified xsi:type="dcterms:W3CDTF">2026-10-05T15:16:36Z</dcterms:modified>
</cp:coreProperties>
</file>