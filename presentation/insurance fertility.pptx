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8" r:id="rId5"/>
    <p:sldId id="259" r:id="rId6"/>
    <p:sldId id="262" r:id="rId7"/>
    <p:sldId id="269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464C965-4DB0-34D4-9242-4E14FBC25A53}">
          <p14:sldIdLst>
            <p14:sldId id="256"/>
            <p14:sldId id="261"/>
            <p14:sldId id="257"/>
            <p14:sldId id="258"/>
            <p14:sldId id="259"/>
          </p14:sldIdLst>
        </p14:section>
        <p14:section name="Descriptive results" id="{7B967780-94A7-DC7F-6EFD-2404547D278E}">
          <p14:sldIdLst>
            <p14:sldId id="262"/>
            <p14:sldId id="269"/>
            <p14:sldId id="264"/>
          </p14:sldIdLst>
        </p14:section>
        <p14:section name="Model" id="{F9C23DFC-2959-A404-4703-B2DCCE79D230}">
          <p14:sldIdLst>
            <p14:sldId id="265"/>
            <p14:sldId id="266"/>
          </p14:sldIdLst>
        </p14:section>
        <p14:section name="Wrap-up" id="{5D229B48-D2C3-70E1-91AD-FFBDA1B5BF8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37"/>
    <p:restoredTop sz="68131"/>
  </p:normalViewPr>
  <p:slideViewPr>
    <p:cSldViewPr snapToGrid="0" snapToObjects="1">
      <p:cViewPr varScale="1">
        <p:scale>
          <a:sx n="95" d="100"/>
          <a:sy n="95" d="100"/>
        </p:scale>
        <p:origin x="2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506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81DA-1819-EE97-45DC-AEE94E61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BF436-01CB-CF27-0F5A-F437B55A3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B60E9-D1B6-9BF6-CD5D-05E3ED79E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1D4B0-583A-07E2-F8BE-11A9A6583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35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3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Insurance Coverage and Fertility-Related Medical Help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Evidence from the 2022 - 2023 National Survey of Family Growth</a:t>
            </a:r>
            <a:endParaRPr lang="en-US" sz="1400" dirty="0"/>
          </a:p>
        </p:txBody>
      </p:sp>
      <p:sp>
        <p:nvSpPr>
          <p:cNvPr id="4" name="Author"/>
          <p:cNvSpPr txBox="1"/>
          <p:nvPr/>
        </p:nvSpPr>
        <p:spPr>
          <a:xfrm>
            <a:off x="548640" y="3154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Gracie Nguyen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 400 Individual Mini-Project · Dickinson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Help Receipt Differs Across Insurance Groups</a:t>
            </a:r>
            <a:endParaRPr lang="en-US" sz="2800" dirty="0"/>
          </a:p>
        </p:txBody>
      </p:sp>
      <p:sp>
        <p:nvSpPr>
          <p:cNvPr id="3" name="Chart heading"/>
          <p:cNvSpPr txBox="1"/>
          <p:nvPr/>
        </p:nvSpPr>
        <p:spPr>
          <a:xfrm>
            <a:off x="457200" y="11927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Weighted percentage ever receiving medical help</a:t>
            </a:r>
            <a:endParaRPr lang="en-US" sz="1400" dirty="0"/>
          </a:p>
        </p:txBody>
      </p:sp>
      <p:sp>
        <p:nvSpPr>
          <p:cNvPr id="6" name="Callout card"/>
          <p:cNvSpPr/>
          <p:nvPr/>
        </p:nvSpPr>
        <p:spPr>
          <a:xfrm>
            <a:off x="6035040" y="1512796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llout label 1"/>
          <p:cNvSpPr txBox="1"/>
          <p:nvPr/>
        </p:nvSpPr>
        <p:spPr>
          <a:xfrm>
            <a:off x="6035040" y="16499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Private</a:t>
            </a:r>
            <a:endParaRPr lang="en-US" sz="1400" dirty="0"/>
          </a:p>
        </p:txBody>
      </p:sp>
      <p:sp>
        <p:nvSpPr>
          <p:cNvPr id="8" name="Callout value 1"/>
          <p:cNvSpPr txBox="1"/>
          <p:nvPr/>
        </p:nvSpPr>
        <p:spPr>
          <a:xfrm>
            <a:off x="6035040" y="19242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12.9%</a:t>
            </a:r>
            <a:endParaRPr lang="en-US" sz="2800" dirty="0"/>
          </a:p>
        </p:txBody>
      </p:sp>
      <p:sp>
        <p:nvSpPr>
          <p:cNvPr id="9" name="Callout label 2"/>
          <p:cNvSpPr txBox="1"/>
          <p:nvPr/>
        </p:nvSpPr>
        <p:spPr>
          <a:xfrm>
            <a:off x="603504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Medicaid/CHIP/state</a:t>
            </a:r>
            <a:endParaRPr lang="en-US" sz="1400" dirty="0"/>
          </a:p>
        </p:txBody>
      </p:sp>
      <p:sp>
        <p:nvSpPr>
          <p:cNvPr id="10" name="Callout value 2"/>
          <p:cNvSpPr txBox="1"/>
          <p:nvPr/>
        </p:nvSpPr>
        <p:spPr>
          <a:xfrm>
            <a:off x="6035040" y="3017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067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4.3%</a:t>
            </a:r>
            <a:endParaRPr lang="en-US" sz="2800" dirty="0"/>
          </a:p>
        </p:txBody>
      </p:sp>
      <p:sp>
        <p:nvSpPr>
          <p:cNvPr id="11" name="Difference"/>
          <p:cNvSpPr txBox="1"/>
          <p:nvPr/>
        </p:nvSpPr>
        <p:spPr>
          <a:xfrm>
            <a:off x="6217920" y="370735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C9A6"/>
                </a:solidFill>
              </a:rPr>
              <a:t>Difference: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~8.5 percentage 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5" name="Picture 14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223A0E60-FD70-A0F4-EB07-FC3126A3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7330"/>
            <a:ext cx="5303520" cy="26180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Research Question</a:t>
            </a:r>
            <a:endParaRPr lang="en-US" sz="2800" dirty="0"/>
          </a:p>
        </p:txBody>
      </p:sp>
      <p:sp>
        <p:nvSpPr>
          <p:cNvPr id="3" name="Research question card"/>
          <p:cNvSpPr/>
          <p:nvPr/>
        </p:nvSpPr>
        <p:spPr>
          <a:xfrm>
            <a:off x="457200" y="1691640"/>
            <a:ext cx="8229600" cy="2276678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search question"/>
          <p:cNvSpPr txBox="1"/>
          <p:nvPr/>
        </p:nvSpPr>
        <p:spPr>
          <a:xfrm>
            <a:off x="640080" y="1810600"/>
            <a:ext cx="7863840" cy="2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Is current insurance type associated with ever receiving medical help to become pregnant,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after accounting for age, income, and education?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212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Why This Question Matters</a:t>
            </a:r>
            <a:endParaRPr lang="en-US" sz="2800" dirty="0"/>
          </a:p>
        </p:txBody>
      </p:sp>
      <p:sp>
        <p:nvSpPr>
          <p:cNvPr id="3" name="Reason card 1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umber badge 1"/>
          <p:cNvSpPr/>
          <p:nvPr/>
        </p:nvSpPr>
        <p:spPr>
          <a:xfrm>
            <a:off x="640080" y="13898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adge text 1"/>
          <p:cNvSpPr txBox="1"/>
          <p:nvPr/>
        </p:nvSpPr>
        <p:spPr>
          <a:xfrm>
            <a:off x="64008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eason text 1"/>
          <p:cNvSpPr txBox="1"/>
          <p:nvPr/>
        </p:nvSpPr>
        <p:spPr>
          <a:xfrm>
            <a:off x="1371600" y="1325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Insurance coverage may influence the affordability of medical care.</a:t>
            </a:r>
            <a:endParaRPr lang="en-US" sz="1400" dirty="0"/>
          </a:p>
        </p:txBody>
      </p:sp>
      <p:sp>
        <p:nvSpPr>
          <p:cNvPr id="7" name="Reason card 2"/>
          <p:cNvSpPr/>
          <p:nvPr/>
        </p:nvSpPr>
        <p:spPr>
          <a:xfrm>
            <a:off x="457200" y="214884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umber badge 2"/>
          <p:cNvSpPr/>
          <p:nvPr/>
        </p:nvSpPr>
        <p:spPr>
          <a:xfrm>
            <a:off x="640080" y="225856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 text 2"/>
          <p:cNvSpPr txBox="1"/>
          <p:nvPr/>
        </p:nvSpPr>
        <p:spPr>
          <a:xfrm>
            <a:off x="640080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Reason text 2"/>
          <p:cNvSpPr txBox="1"/>
          <p:nvPr/>
        </p:nvSpPr>
        <p:spPr>
          <a:xfrm>
            <a:off x="1371600" y="21945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Income and education may also shape care use.</a:t>
            </a:r>
            <a:endParaRPr lang="en-US" sz="1400" dirty="0"/>
          </a:p>
        </p:txBody>
      </p:sp>
      <p:sp>
        <p:nvSpPr>
          <p:cNvPr id="11" name="Reason card 3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umber badge 3"/>
          <p:cNvSpPr/>
          <p:nvPr/>
        </p:nvSpPr>
        <p:spPr>
          <a:xfrm>
            <a:off x="640080" y="31272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adge text 3"/>
          <p:cNvSpPr txBox="1"/>
          <p:nvPr/>
        </p:nvSpPr>
        <p:spPr>
          <a:xfrm>
            <a:off x="640080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Reason text 3"/>
          <p:cNvSpPr txBox="1"/>
          <p:nvPr/>
        </p:nvSpPr>
        <p:spPr>
          <a:xfrm>
            <a:off x="137160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Differences in fertility-related care receipt matter to reproductive-health researchers and advocates.</a:t>
            </a:r>
            <a:endParaRPr lang="en-US" sz="1400" dirty="0"/>
          </a:p>
        </p:txBody>
      </p:sp>
      <p:sp>
        <p:nvSpPr>
          <p:cNvPr id="15" name="Focus card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Focus text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9A6"/>
                </a:solidFill>
              </a:rPr>
              <a:t>Focus: </a:t>
            </a:r>
            <a:r>
              <a:rPr lang="en-US" sz="1400" b="1" dirty="0">
                <a:solidFill>
                  <a:srgbClr val="FFFFFF"/>
                </a:solidFill>
              </a:rPr>
              <a:t>Whether an insurance association remains after socioeconomic adjustment.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and Measures</a:t>
            </a:r>
            <a:endParaRPr lang="en-US" sz="2800" dirty="0"/>
          </a:p>
        </p:txBody>
      </p:sp>
      <p:sp>
        <p:nvSpPr>
          <p:cNvPr id="3" name="Source line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Source: CDC/NCHS, NSFG 2022-2023 Female Respondent Public-Use File</a:t>
            </a:r>
            <a:endParaRPr lang="en-US" sz="1400" dirty="0"/>
          </a:p>
        </p:txBody>
      </p:sp>
      <p:sp>
        <p:nvSpPr>
          <p:cNvPr id="4" name="Stat card 1"/>
          <p:cNvSpPr/>
          <p:nvPr/>
        </p:nvSpPr>
        <p:spPr>
          <a:xfrm>
            <a:off x="457200" y="147828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 number 1"/>
          <p:cNvSpPr txBox="1"/>
          <p:nvPr/>
        </p:nvSpPr>
        <p:spPr>
          <a:xfrm>
            <a:off x="457200" y="1569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5,586</a:t>
            </a:r>
            <a:endParaRPr lang="en-US" sz="2800" dirty="0"/>
          </a:p>
        </p:txBody>
      </p:sp>
      <p:sp>
        <p:nvSpPr>
          <p:cNvPr id="6" name="Stat label 1"/>
          <p:cNvSpPr txBox="1"/>
          <p:nvPr/>
        </p:nvSpPr>
        <p:spPr>
          <a:xfrm>
            <a:off x="548640" y="2255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Original sample: respondents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457200" y="294132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 number 2"/>
          <p:cNvSpPr txBox="1"/>
          <p:nvPr/>
        </p:nvSpPr>
        <p:spPr>
          <a:xfrm>
            <a:off x="457200" y="3032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5,195</a:t>
            </a:r>
            <a:endParaRPr lang="en-US" sz="2800" dirty="0"/>
          </a:p>
        </p:txBody>
      </p:sp>
      <p:sp>
        <p:nvSpPr>
          <p:cNvPr id="9" name="Stat label 2"/>
          <p:cNvSpPr txBox="1"/>
          <p:nvPr/>
        </p:nvSpPr>
        <p:spPr>
          <a:xfrm>
            <a:off x="548640" y="3718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Analysis sample: respondents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09885"/>
              </p:ext>
            </p:extLst>
          </p:nvPr>
        </p:nvGraphicFramePr>
        <p:xfrm>
          <a:off x="3200400" y="1463040"/>
          <a:ext cx="5486400" cy="2697480"/>
        </p:xfrm>
        <a:graphic>
          <a:graphicData uri="http://schemas.openxmlformats.org/drawingml/2006/table">
            <a:tbl>
              <a:tblPr/>
              <a:tblGrid>
                <a:gridCol w="168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1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Ever received medical help to become pregnant: yes/no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Main predictor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Current insurance type*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Controls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Age, income relative to poverty threshold, education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Survey information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Analysis weights, strata, and clusters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Coverage groups note"/>
          <p:cNvSpPr txBox="1"/>
          <p:nvPr/>
        </p:nvSpPr>
        <p:spPr>
          <a:xfrm>
            <a:off x="320040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*Coverage groups: Private/Medi-Gap, Medicaid/CHIP/state, other government, and single-service/IHS/uninsured.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Could Differences in Age, Income, and Education Help Explain the Gap?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732272"/>
              </p:ext>
            </p:extLst>
          </p:nvPr>
        </p:nvGraphicFramePr>
        <p:xfrm>
          <a:off x="457200" y="3479292"/>
          <a:ext cx="8229600" cy="102412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Private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Medicaid/CHIP/state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Mean age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34.1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30.9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Mean income as % of poverty threshold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407%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168%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Bachelor’s degree or higher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54.2%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11.7%</a:t>
                      </a:r>
                      <a:endParaRPr lang="en-US" sz="11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akeaway"/>
          <p:cNvSpPr txBox="1"/>
          <p:nvPr/>
        </p:nvSpPr>
        <p:spPr>
          <a:xfrm>
            <a:off x="457200" y="45491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These differences motivate statistical adjustment.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" name="Picture 10" descr="A comparison of a bar chart&#10;&#10;AI-generated content may be incorrect.">
            <a:extLst>
              <a:ext uri="{FF2B5EF4-FFF2-40B4-BE49-F238E27FC236}">
                <a16:creationId xmlns:a16="http://schemas.microsoft.com/office/drawing/2014/main" id="{8309AC1A-33C4-5A90-045F-E9A55954A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48" y="1243584"/>
            <a:ext cx="4781815" cy="2075688"/>
          </a:xfrm>
          <a:prstGeom prst="rect">
            <a:avLst/>
          </a:prstGeom>
        </p:spPr>
      </p:pic>
      <p:pic>
        <p:nvPicPr>
          <p:cNvPr id="13" name="Picture 12" descr="A graph of blue squares&#10;&#10;AI-generated content may be incorrect.">
            <a:extLst>
              <a:ext uri="{FF2B5EF4-FFF2-40B4-BE49-F238E27FC236}">
                <a16:creationId xmlns:a16="http://schemas.microsoft.com/office/drawing/2014/main" id="{7D4B351D-23DF-DD06-FE1C-9B2694B2B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228" y="1348740"/>
            <a:ext cx="3445245" cy="17079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FA19-818E-FDE1-9B18-895E2E0B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C63845-2B4E-798A-A928-F52B22B6DCC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4100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Help Receipt Also Varies with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Age, Income, and Education</a:t>
            </a:r>
            <a:endParaRPr lang="en-US" sz="2800" dirty="0"/>
          </a:p>
        </p:txBody>
      </p:sp>
      <p:sp>
        <p:nvSpPr>
          <p:cNvPr id="3" name="Panel card 1">
            <a:extLst>
              <a:ext uri="{FF2B5EF4-FFF2-40B4-BE49-F238E27FC236}">
                <a16:creationId xmlns:a16="http://schemas.microsoft.com/office/drawing/2014/main" id="{874883CF-BEBE-96E4-0D1A-38C7A22446B8}"/>
              </a:ext>
            </a:extLst>
          </p:cNvPr>
          <p:cNvSpPr/>
          <p:nvPr/>
        </p:nvSpPr>
        <p:spPr>
          <a:xfrm>
            <a:off x="177944" y="1606270"/>
            <a:ext cx="2804128" cy="2584422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nel heading 1">
            <a:extLst>
              <a:ext uri="{FF2B5EF4-FFF2-40B4-BE49-F238E27FC236}">
                <a16:creationId xmlns:a16="http://schemas.microsoft.com/office/drawing/2014/main" id="{0F7084C4-75F4-99AA-990B-9C182396A295}"/>
              </a:ext>
            </a:extLst>
          </p:cNvPr>
          <p:cNvSpPr txBox="1"/>
          <p:nvPr/>
        </p:nvSpPr>
        <p:spPr>
          <a:xfrm>
            <a:off x="447552" y="1669774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Age</a:t>
            </a:r>
            <a:endParaRPr lang="en-US" sz="1400" dirty="0"/>
          </a:p>
        </p:txBody>
      </p:sp>
      <p:sp>
        <p:nvSpPr>
          <p:cNvPr id="7" name="Panel annotation 1">
            <a:extLst>
              <a:ext uri="{FF2B5EF4-FFF2-40B4-BE49-F238E27FC236}">
                <a16:creationId xmlns:a16="http://schemas.microsoft.com/office/drawing/2014/main" id="{2D6F9400-141D-8DC9-31FA-A9D54C382C08}"/>
              </a:ext>
            </a:extLst>
          </p:cNvPr>
          <p:cNvSpPr txBox="1"/>
          <p:nvPr/>
        </p:nvSpPr>
        <p:spPr>
          <a:xfrm>
            <a:off x="418720" y="3683989"/>
            <a:ext cx="2322576" cy="50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1.5% at 15 - 24,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compared with 15.5% at 35 - 44</a:t>
            </a:r>
            <a:endParaRPr lang="en-US" sz="1400" dirty="0"/>
          </a:p>
        </p:txBody>
      </p:sp>
      <p:sp>
        <p:nvSpPr>
          <p:cNvPr id="8" name="Panel card 2">
            <a:extLst>
              <a:ext uri="{FF2B5EF4-FFF2-40B4-BE49-F238E27FC236}">
                <a16:creationId xmlns:a16="http://schemas.microsoft.com/office/drawing/2014/main" id="{30AD1AEC-E0D9-0099-FB64-AC8853DA7EEC}"/>
              </a:ext>
            </a:extLst>
          </p:cNvPr>
          <p:cNvSpPr/>
          <p:nvPr/>
        </p:nvSpPr>
        <p:spPr>
          <a:xfrm>
            <a:off x="3174196" y="1603873"/>
            <a:ext cx="2804128" cy="2584422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anel heading 2">
            <a:extLst>
              <a:ext uri="{FF2B5EF4-FFF2-40B4-BE49-F238E27FC236}">
                <a16:creationId xmlns:a16="http://schemas.microsoft.com/office/drawing/2014/main" id="{64EB0511-B993-DC81-0C0A-05145EE730AB}"/>
              </a:ext>
            </a:extLst>
          </p:cNvPr>
          <p:cNvSpPr txBox="1"/>
          <p:nvPr/>
        </p:nvSpPr>
        <p:spPr>
          <a:xfrm>
            <a:off x="3542042" y="16525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Income</a:t>
            </a:r>
            <a:endParaRPr lang="en-US" sz="1400" dirty="0"/>
          </a:p>
        </p:txBody>
      </p:sp>
      <p:sp>
        <p:nvSpPr>
          <p:cNvPr id="12" name="Panel annotation 2">
            <a:extLst>
              <a:ext uri="{FF2B5EF4-FFF2-40B4-BE49-F238E27FC236}">
                <a16:creationId xmlns:a16="http://schemas.microsoft.com/office/drawing/2014/main" id="{87F0816A-2CEE-251C-7B81-6DD9C81F3A00}"/>
              </a:ext>
            </a:extLst>
          </p:cNvPr>
          <p:cNvSpPr txBox="1"/>
          <p:nvPr/>
        </p:nvSpPr>
        <p:spPr>
          <a:xfrm>
            <a:off x="3240420" y="3683990"/>
            <a:ext cx="2624198" cy="50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4.5% at ≤100% of poverty, compared with 13.9% above 400%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526386D-4BCD-DFAA-8F80-83CBBCEAB5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0" name="Picture 19" descr="A graph of a bar graph&#10;&#10;AI-generated content may be incorrect.">
            <a:extLst>
              <a:ext uri="{FF2B5EF4-FFF2-40B4-BE49-F238E27FC236}">
                <a16:creationId xmlns:a16="http://schemas.microsoft.com/office/drawing/2014/main" id="{B8045F61-3E5B-2712-A65D-65E4DEF00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08" y="2063613"/>
            <a:ext cx="2624199" cy="1439607"/>
          </a:xfrm>
          <a:prstGeom prst="rect">
            <a:avLst/>
          </a:prstGeom>
        </p:spPr>
      </p:pic>
      <p:pic>
        <p:nvPicPr>
          <p:cNvPr id="24" name="Picture 23" descr="A graph of blue rectangles&#10;&#10;AI-generated content may be incorrect.">
            <a:extLst>
              <a:ext uri="{FF2B5EF4-FFF2-40B4-BE49-F238E27FC236}">
                <a16:creationId xmlns:a16="http://schemas.microsoft.com/office/drawing/2014/main" id="{037C94B4-0F4F-3C4D-1A04-5AB00FEBE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420" y="2054973"/>
            <a:ext cx="2624199" cy="1439608"/>
          </a:xfrm>
          <a:prstGeom prst="rect">
            <a:avLst/>
          </a:prstGeom>
        </p:spPr>
      </p:pic>
      <p:sp>
        <p:nvSpPr>
          <p:cNvPr id="19" name="Panel card 3">
            <a:extLst>
              <a:ext uri="{FF2B5EF4-FFF2-40B4-BE49-F238E27FC236}">
                <a16:creationId xmlns:a16="http://schemas.microsoft.com/office/drawing/2014/main" id="{33461023-3BD4-DB93-1B40-8A5AB7643DB9}"/>
              </a:ext>
            </a:extLst>
          </p:cNvPr>
          <p:cNvSpPr/>
          <p:nvPr/>
        </p:nvSpPr>
        <p:spPr>
          <a:xfrm>
            <a:off x="6170448" y="1603873"/>
            <a:ext cx="2804128" cy="2584422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anel heading 3">
            <a:extLst>
              <a:ext uri="{FF2B5EF4-FFF2-40B4-BE49-F238E27FC236}">
                <a16:creationId xmlns:a16="http://schemas.microsoft.com/office/drawing/2014/main" id="{F129CB31-016A-C650-E0B2-425B1C4C83A6}"/>
              </a:ext>
            </a:extLst>
          </p:cNvPr>
          <p:cNvSpPr txBox="1"/>
          <p:nvPr/>
        </p:nvSpPr>
        <p:spPr>
          <a:xfrm>
            <a:off x="6720964" y="1669774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Education</a:t>
            </a:r>
            <a:endParaRPr lang="en-US" sz="1400" dirty="0"/>
          </a:p>
        </p:txBody>
      </p:sp>
      <p:sp>
        <p:nvSpPr>
          <p:cNvPr id="23" name="Panel annotation 3">
            <a:extLst>
              <a:ext uri="{FF2B5EF4-FFF2-40B4-BE49-F238E27FC236}">
                <a16:creationId xmlns:a16="http://schemas.microsoft.com/office/drawing/2014/main" id="{6748EC2F-03CB-532C-9A0F-87C8BF9F4829}"/>
              </a:ext>
            </a:extLst>
          </p:cNvPr>
          <p:cNvSpPr txBox="1"/>
          <p:nvPr/>
        </p:nvSpPr>
        <p:spPr>
          <a:xfrm>
            <a:off x="6281471" y="3689917"/>
            <a:ext cx="2693105" cy="41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4.3% below high school, compared with 15.1% for bachelor’s or higher</a:t>
            </a:r>
            <a:endParaRPr lang="en-US" sz="1400" dirty="0"/>
          </a:p>
        </p:txBody>
      </p:sp>
      <p:pic>
        <p:nvPicPr>
          <p:cNvPr id="26" name="Picture 25" descr="A graph of a bar graph&#10;&#10;AI-generated content may be incorrect.">
            <a:extLst>
              <a:ext uri="{FF2B5EF4-FFF2-40B4-BE49-F238E27FC236}">
                <a16:creationId xmlns:a16="http://schemas.microsoft.com/office/drawing/2014/main" id="{DE36A22E-F3FB-8488-9CBB-9B8A8894E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8349" y="2060900"/>
            <a:ext cx="2620087" cy="143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607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Insurance Pattern Within Age Groups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75674"/>
              </p:ext>
            </p:extLst>
          </p:nvPr>
        </p:nvGraphicFramePr>
        <p:xfrm>
          <a:off x="5394960" y="1325880"/>
          <a:ext cx="3291840" cy="1874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 group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Private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Medicaid/ CHIP/state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25 - 34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11.1%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2.8%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35 - 44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18.4%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6.3%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45 - 50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18.8%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8.5%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Exception card"/>
          <p:cNvSpPr/>
          <p:nvPr/>
        </p:nvSpPr>
        <p:spPr>
          <a:xfrm>
            <a:off x="5394960" y="3291840"/>
            <a:ext cx="32918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xception text"/>
          <p:cNvSpPr txBox="1"/>
          <p:nvPr/>
        </p:nvSpPr>
        <p:spPr>
          <a:xfrm>
            <a:off x="553212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6E"/>
                </a:solidFill>
              </a:rPr>
              <a:t>Exception at 15 - 24: </a:t>
            </a:r>
            <a:r>
              <a:rPr lang="en-US" sz="1400" dirty="0">
                <a:solidFill>
                  <a:srgbClr val="2B2330"/>
                </a:solidFill>
              </a:rPr>
              <a:t>Medicaid respondents have the higher rate. Some cells are small.</a:t>
            </a:r>
            <a:endParaRPr lang="en-US" sz="1400" dirty="0"/>
          </a:p>
        </p:txBody>
      </p:sp>
      <p:sp>
        <p:nvSpPr>
          <p:cNvPr id="8" name="Takeaway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Private coverage has higher rates within each age group from age 25 onward.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1" name="Picture 10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66F0CC79-D5C2-7A3C-165C-02F0835DE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40" y="1361440"/>
            <a:ext cx="5044760" cy="279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886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Statistical Approach</a:t>
            </a:r>
            <a:endParaRPr lang="en-US" sz="2800" dirty="0"/>
          </a:p>
        </p:txBody>
      </p:sp>
      <p:sp>
        <p:nvSpPr>
          <p:cNvPr id="3" name="Method subtitle"/>
          <p:cNvSpPr txBox="1"/>
          <p:nvPr/>
        </p:nvSpPr>
        <p:spPr>
          <a:xfrm>
            <a:off x="457200" y="777240"/>
            <a:ext cx="28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Survey-weighted logistic regression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882308"/>
              </p:ext>
            </p:extLst>
          </p:nvPr>
        </p:nvGraphicFramePr>
        <p:xfrm>
          <a:off x="457200" y="1325880"/>
          <a:ext cx="5212080" cy="2697480"/>
        </p:xfrm>
        <a:graphic>
          <a:graphicData uri="http://schemas.openxmlformats.org/drawingml/2006/table">
            <a:tbl>
              <a:tblPr/>
              <a:tblGrid>
                <a:gridCol w="192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0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 component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Ever received medical help: 1 = yes, 0 = no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Main predictor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Current insurance category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Controls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Age, income, education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Insurance reference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Private/Medi-Gap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40F"/>
                          </a:solidFill>
                        </a:rPr>
                        <a:t>Education reference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330"/>
                          </a:solidFill>
                        </a:rPr>
                        <a:t>Less than high school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R heading"/>
          <p:cNvSpPr txBox="1"/>
          <p:nvPr/>
        </p:nvSpPr>
        <p:spPr>
          <a:xfrm>
            <a:off x="5989320" y="777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Odds ratio interpretation</a:t>
            </a:r>
            <a:endParaRPr lang="en-US" sz="1400" dirty="0"/>
          </a:p>
        </p:txBody>
      </p:sp>
      <p:sp>
        <p:nvSpPr>
          <p:cNvPr id="6" name="OR card 1"/>
          <p:cNvSpPr/>
          <p:nvPr/>
        </p:nvSpPr>
        <p:spPr>
          <a:xfrm>
            <a:off x="5989320" y="1234440"/>
            <a:ext cx="2697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R badge 1"/>
          <p:cNvSpPr/>
          <p:nvPr/>
        </p:nvSpPr>
        <p:spPr>
          <a:xfrm>
            <a:off x="6080760" y="13258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R badge text 1"/>
          <p:cNvSpPr txBox="1"/>
          <p:nvPr/>
        </p:nvSpPr>
        <p:spPr>
          <a:xfrm>
            <a:off x="6080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OR text 1"/>
          <p:cNvSpPr txBox="1"/>
          <p:nvPr/>
        </p:nvSpPr>
        <p:spPr>
          <a:xfrm>
            <a:off x="672084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Equal odds relative to the reference</a:t>
            </a:r>
            <a:endParaRPr lang="en-US" sz="1400" dirty="0"/>
          </a:p>
        </p:txBody>
      </p:sp>
      <p:sp>
        <p:nvSpPr>
          <p:cNvPr id="10" name="OR card 2"/>
          <p:cNvSpPr/>
          <p:nvPr/>
        </p:nvSpPr>
        <p:spPr>
          <a:xfrm>
            <a:off x="5989320" y="2103120"/>
            <a:ext cx="2697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R badge 2"/>
          <p:cNvSpPr/>
          <p:nvPr/>
        </p:nvSpPr>
        <p:spPr>
          <a:xfrm>
            <a:off x="6080760" y="2194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R badge text 2"/>
          <p:cNvSpPr txBox="1"/>
          <p:nvPr/>
        </p:nvSpPr>
        <p:spPr>
          <a:xfrm>
            <a:off x="60807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&lt; 1</a:t>
            </a:r>
            <a:endParaRPr lang="en-US" sz="1400" dirty="0"/>
          </a:p>
        </p:txBody>
      </p:sp>
      <p:sp>
        <p:nvSpPr>
          <p:cNvPr id="13" name="OR text 2"/>
          <p:cNvSpPr txBox="1"/>
          <p:nvPr/>
        </p:nvSpPr>
        <p:spPr>
          <a:xfrm>
            <a:off x="672084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Lower odds</a:t>
            </a:r>
            <a:endParaRPr lang="en-US" sz="1400" dirty="0"/>
          </a:p>
        </p:txBody>
      </p:sp>
      <p:sp>
        <p:nvSpPr>
          <p:cNvPr id="14" name="OR card 3"/>
          <p:cNvSpPr/>
          <p:nvPr/>
        </p:nvSpPr>
        <p:spPr>
          <a:xfrm>
            <a:off x="5989320" y="2971800"/>
            <a:ext cx="2697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R badge 3"/>
          <p:cNvSpPr/>
          <p:nvPr/>
        </p:nvSpPr>
        <p:spPr>
          <a:xfrm>
            <a:off x="608076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R badge text 3"/>
          <p:cNvSpPr txBox="1"/>
          <p:nvPr/>
        </p:nvSpPr>
        <p:spPr>
          <a:xfrm>
            <a:off x="60807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</a:t>
            </a:r>
            <a:endParaRPr lang="en-US" sz="1400" dirty="0"/>
          </a:p>
        </p:txBody>
      </p:sp>
      <p:sp>
        <p:nvSpPr>
          <p:cNvPr id="17" name="OR text 3"/>
          <p:cNvSpPr txBox="1"/>
          <p:nvPr/>
        </p:nvSpPr>
        <p:spPr>
          <a:xfrm>
            <a:off x="6720840" y="3017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Higher odds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FC5980-8A55-7013-F59D-FE65EFC39064}"/>
              </a:ext>
            </a:extLst>
          </p:cNvPr>
          <p:cNvSpPr txBox="1"/>
          <p:nvPr/>
        </p:nvSpPr>
        <p:spPr>
          <a:xfrm>
            <a:off x="5989321" y="3833515"/>
            <a:ext cx="2697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</a:rPr>
              <a:t>For example,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value below one indicates that a respondent is less likely to report receiving help, conditional on the model’s other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3427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Differences Remain After Accounting </a:t>
            </a:r>
            <a:br>
              <a:rPr lang="en-US" dirty="0"/>
            </a:br>
            <a:r>
              <a:rPr lang="en-US" dirty="0"/>
              <a:t>for Age, Income, and Education</a:t>
            </a:r>
            <a:br>
              <a:rPr lang="en-US" b="0" dirty="0"/>
            </a:b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37273"/>
              </p:ext>
            </p:extLst>
          </p:nvPr>
        </p:nvGraphicFramePr>
        <p:xfrm>
          <a:off x="5577840" y="1405467"/>
          <a:ext cx="3108960" cy="15483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Vs. private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Adj. OR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Medicaid/CHIP/state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0.36 - 0.81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Other government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0.46 - 1.60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Single-service/IHS/uninsured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0.32 - 0.97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mparison heading"/>
          <p:cNvSpPr txBox="1"/>
          <p:nvPr/>
        </p:nvSpPr>
        <p:spPr>
          <a:xfrm>
            <a:off x="55778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Before vs. after controls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310128"/>
          <a:ext cx="3108960" cy="123139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Medicaid/CHIP/state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0.31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B3F6E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Other government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0.58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B3F6E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1F3D"/>
                          </a:solidFill>
                        </a:rPr>
                        <a:t>Single-service/IHS/uninsured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2330"/>
                          </a:solidFill>
                        </a:rPr>
                        <a:t>0.37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B3F6E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5BFC900-B069-743F-71C7-42D3ECF74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5655"/>
            <a:ext cx="4815840" cy="18747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06121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Prior Research and Study Limitations</a:t>
            </a:r>
            <a:endParaRPr lang="en-US" sz="2800" dirty="0"/>
          </a:p>
        </p:txBody>
      </p:sp>
      <p:sp>
        <p:nvSpPr>
          <p:cNvPr id="3" name="Prior research card"/>
          <p:cNvSpPr/>
          <p:nvPr/>
        </p:nvSpPr>
        <p:spPr>
          <a:xfrm>
            <a:off x="457200" y="1620521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rior research heading"/>
          <p:cNvSpPr txBox="1"/>
          <p:nvPr/>
        </p:nvSpPr>
        <p:spPr>
          <a:xfrm>
            <a:off x="640080" y="1711961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40F"/>
                </a:solidFill>
              </a:rPr>
              <a:t>Comparison with Eliason et al. (2023)</a:t>
            </a:r>
            <a:endParaRPr lang="en-US" sz="1400" dirty="0"/>
          </a:p>
        </p:txBody>
      </p:sp>
      <p:sp>
        <p:nvSpPr>
          <p:cNvPr id="5" name="Prior research bullets"/>
          <p:cNvSpPr txBox="1"/>
          <p:nvPr/>
        </p:nvSpPr>
        <p:spPr>
          <a:xfrm>
            <a:off x="640080" y="2306321"/>
            <a:ext cx="3657600" cy="168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Earlier NSFG data: 2002–2019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 outcome: past-year fertility-service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 population: respondents currently trying to conceive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Similar direction of the Medicaid - private disparity</a:t>
            </a:r>
            <a:endParaRPr lang="en-US" sz="1400" dirty="0"/>
          </a:p>
        </p:txBody>
      </p:sp>
      <p:sp>
        <p:nvSpPr>
          <p:cNvPr id="6" name="Limitations card"/>
          <p:cNvSpPr/>
          <p:nvPr/>
        </p:nvSpPr>
        <p:spPr>
          <a:xfrm>
            <a:off x="4663440" y="1620521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imitations heading"/>
          <p:cNvSpPr txBox="1"/>
          <p:nvPr/>
        </p:nvSpPr>
        <p:spPr>
          <a:xfrm>
            <a:off x="4846320" y="1711961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6E"/>
                </a:solidFill>
              </a:rPr>
              <a:t>Key limitations</a:t>
            </a:r>
            <a:endParaRPr lang="en-US" sz="1400" dirty="0"/>
          </a:p>
        </p:txBody>
      </p:sp>
      <p:sp>
        <p:nvSpPr>
          <p:cNvPr id="8" name="Limitations bullets"/>
          <p:cNvSpPr txBox="1"/>
          <p:nvPr/>
        </p:nvSpPr>
        <p:spPr>
          <a:xfrm>
            <a:off x="4846320" y="2306321"/>
            <a:ext cx="3657600" cy="168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coverage may differ from coverage when care occurred.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Respondents have different fertility needs and intentions.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Observational data leave alternative explanations.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38041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606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Insurance Differences Remain After Selected Controls</a:t>
            </a:r>
            <a:endParaRPr lang="en-US" sz="2800" dirty="0"/>
          </a:p>
        </p:txBody>
      </p:sp>
      <p:sp>
        <p:nvSpPr>
          <p:cNvPr id="3" name="Conclusion badge 1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nclusion badge text 1"/>
          <p:cNvSpPr txBox="1"/>
          <p:nvPr/>
        </p:nvSpPr>
        <p:spPr>
          <a:xfrm>
            <a:off x="5486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onclusion text 1"/>
          <p:cNvSpPr txBox="1"/>
          <p:nvPr/>
        </p:nvSpPr>
        <p:spPr>
          <a:xfrm>
            <a:off x="1188720" y="141732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Private coverage has the highest unadjusted help-receipt rate.</a:t>
            </a:r>
            <a:endParaRPr lang="en-US" sz="1400" dirty="0"/>
          </a:p>
        </p:txBody>
      </p:sp>
      <p:sp>
        <p:nvSpPr>
          <p:cNvPr id="6" name="Conclusion badge 2"/>
          <p:cNvSpPr/>
          <p:nvPr/>
        </p:nvSpPr>
        <p:spPr>
          <a:xfrm>
            <a:off x="548640" y="22677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clusion badge text 2"/>
          <p:cNvSpPr txBox="1"/>
          <p:nvPr/>
        </p:nvSpPr>
        <p:spPr>
          <a:xfrm>
            <a:off x="5486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onclusion text 2"/>
          <p:cNvSpPr txBox="1"/>
          <p:nvPr/>
        </p:nvSpPr>
        <p:spPr>
          <a:xfrm>
            <a:off x="1188720" y="219456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Medicaid/CHIP/state and single-service/IHS/uninsured coverage retain lower adjusted odds.</a:t>
            </a:r>
            <a:endParaRPr lang="en-US" sz="1400" dirty="0"/>
          </a:p>
        </p:txBody>
      </p:sp>
      <p:sp>
        <p:nvSpPr>
          <p:cNvPr id="9" name="Conclusion badge 3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clusion badge text 3"/>
          <p:cNvSpPr txBox="1"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onclusion text 3"/>
          <p:cNvSpPr txBox="1"/>
          <p:nvPr/>
        </p:nvSpPr>
        <p:spPr>
          <a:xfrm>
            <a:off x="1188720" y="297180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Further research should examine coverage at the time of care and differences in fertility need.</a:t>
            </a:r>
            <a:endParaRPr lang="en-US" sz="1400" dirty="0"/>
          </a:p>
        </p:txBody>
      </p:sp>
      <p:sp>
        <p:nvSpPr>
          <p:cNvPr id="12" name="Final statement card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inal statement"/>
          <p:cNvSpPr txBox="1"/>
          <p:nvPr/>
        </p:nvSpPr>
        <p:spPr>
          <a:xfrm>
            <a:off x="777240" y="38862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The findings describe associations in reported lifetime care receipt.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SFG Insurance">
  <a:themeElements>
    <a:clrScheme name="NSFG Insurance">
      <a:dk1>
        <a:srgbClr val="2B2330"/>
      </a:dk1>
      <a:lt1>
        <a:srgbClr val="FFFFFF"/>
      </a:lt1>
      <a:dk2>
        <a:srgbClr val="3A1F3D"/>
      </a:dk2>
      <a:lt2>
        <a:srgbClr val="FBEFE6"/>
      </a:lt2>
      <a:accent1>
        <a:srgbClr val="C8540F"/>
      </a:accent1>
      <a:accent2>
        <a:srgbClr val="7B3F6E"/>
      </a:accent2>
      <a:accent3>
        <a:srgbClr val="F5C9A6"/>
      </a:accent3>
      <a:accent4>
        <a:srgbClr val="FFB067"/>
      </a:accent4>
      <a:accent5>
        <a:srgbClr val="6B6068"/>
      </a:accent5>
      <a:accent6>
        <a:srgbClr val="C9BFC5"/>
      </a:accent6>
      <a:hlink>
        <a:srgbClr val="C8540F"/>
      </a:hlink>
      <a:folHlink>
        <a:srgbClr val="6B6068"/>
      </a:folHlink>
    </a:clrScheme>
    <a:fontScheme name="NSFG Insurance">
      <a:majorFont>
        <a:latin typeface="Georgia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703</Words>
  <Application>Microsoft Macintosh PowerPoint</Application>
  <PresentationFormat>On-screen Show (16:9)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 Pro</vt:lpstr>
      <vt:lpstr>NSFG Insurance</vt:lpstr>
      <vt:lpstr>Insurance Coverage and Fertility-Related Medical Help</vt:lpstr>
      <vt:lpstr>Help Receipt Differs Across Insurance Groups</vt:lpstr>
      <vt:lpstr>Research Question</vt:lpstr>
      <vt:lpstr>Why This Question Matters</vt:lpstr>
      <vt:lpstr>Data and Measures</vt:lpstr>
      <vt:lpstr>Could Differences in Age, Income, and Education Help Explain the Gap? </vt:lpstr>
      <vt:lpstr>Help Receipt Also Varies with  Age, Income, and Education</vt:lpstr>
      <vt:lpstr>The Insurance Pattern Within Age Groups</vt:lpstr>
      <vt:lpstr>Statistical Approach</vt:lpstr>
      <vt:lpstr>Differences Remain After Accounting  for Age, Income, and Education </vt:lpstr>
      <vt:lpstr>Prior Research and Study Limitations</vt:lpstr>
      <vt:lpstr>Insurance Differences Remain After Selected Controls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Coverage and Fertility-Related Medical Help</dc:title>
  <dc:subject>PptxGenJS Presentation</dc:subject>
  <dc:creator>Gracie Nguyen</dc:creator>
  <cp:lastModifiedBy>Nguyen, Gracie</cp:lastModifiedBy>
  <cp:revision>5</cp:revision>
  <dcterms:created xsi:type="dcterms:W3CDTF">2026-10-05T15:12:18Z</dcterms:created>
  <dcterms:modified xsi:type="dcterms:W3CDTF">2026-10-15T20:56:50Z</dcterms:modified>
</cp:coreProperties>
</file>